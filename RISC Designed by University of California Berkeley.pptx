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82" r:id="rId2"/>
  </p:sldMasterIdLst>
  <p:notesMasterIdLst>
    <p:notesMasterId r:id="rId60"/>
  </p:notesMasterIdLst>
  <p:handoutMasterIdLst>
    <p:handoutMasterId r:id="rId61"/>
  </p:handoutMasterIdLst>
  <p:sldIdLst>
    <p:sldId id="322" r:id="rId3"/>
    <p:sldId id="479" r:id="rId4"/>
    <p:sldId id="480" r:id="rId5"/>
    <p:sldId id="557" r:id="rId6"/>
    <p:sldId id="481" r:id="rId7"/>
    <p:sldId id="482" r:id="rId8"/>
    <p:sldId id="628" r:id="rId9"/>
    <p:sldId id="400" r:id="rId10"/>
    <p:sldId id="629" r:id="rId11"/>
    <p:sldId id="558" r:id="rId12"/>
    <p:sldId id="563" r:id="rId13"/>
    <p:sldId id="564" r:id="rId14"/>
    <p:sldId id="659" r:id="rId15"/>
    <p:sldId id="634" r:id="rId16"/>
    <p:sldId id="651" r:id="rId17"/>
    <p:sldId id="652" r:id="rId18"/>
    <p:sldId id="653" r:id="rId19"/>
    <p:sldId id="656" r:id="rId20"/>
    <p:sldId id="654" r:id="rId21"/>
    <p:sldId id="655" r:id="rId22"/>
    <p:sldId id="657" r:id="rId23"/>
    <p:sldId id="565" r:id="rId24"/>
    <p:sldId id="566" r:id="rId25"/>
    <p:sldId id="568" r:id="rId26"/>
    <p:sldId id="569" r:id="rId27"/>
    <p:sldId id="570" r:id="rId28"/>
    <p:sldId id="571" r:id="rId29"/>
    <p:sldId id="572" r:id="rId30"/>
    <p:sldId id="610" r:id="rId31"/>
    <p:sldId id="611" r:id="rId32"/>
    <p:sldId id="612" r:id="rId33"/>
    <p:sldId id="613" r:id="rId34"/>
    <p:sldId id="614" r:id="rId35"/>
    <p:sldId id="615" r:id="rId36"/>
    <p:sldId id="616" r:id="rId37"/>
    <p:sldId id="617" r:id="rId38"/>
    <p:sldId id="618" r:id="rId39"/>
    <p:sldId id="619" r:id="rId40"/>
    <p:sldId id="620" r:id="rId41"/>
    <p:sldId id="621" r:id="rId42"/>
    <p:sldId id="622" r:id="rId43"/>
    <p:sldId id="623" r:id="rId44"/>
    <p:sldId id="624" r:id="rId45"/>
    <p:sldId id="625" r:id="rId46"/>
    <p:sldId id="649" r:id="rId47"/>
    <p:sldId id="638" r:id="rId48"/>
    <p:sldId id="639" r:id="rId49"/>
    <p:sldId id="640" r:id="rId50"/>
    <p:sldId id="641" r:id="rId51"/>
    <p:sldId id="642" r:id="rId52"/>
    <p:sldId id="643" r:id="rId53"/>
    <p:sldId id="644" r:id="rId54"/>
    <p:sldId id="645" r:id="rId55"/>
    <p:sldId id="646" r:id="rId56"/>
    <p:sldId id="647" r:id="rId57"/>
    <p:sldId id="648" r:id="rId58"/>
    <p:sldId id="627" r:id="rId59"/>
  </p:sldIdLst>
  <p:sldSz cx="9144000" cy="6858000" type="letter"/>
  <p:notesSz cx="7315200" cy="96012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hlink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hlink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hlink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hlink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1600" kern="1200">
        <a:solidFill>
          <a:schemeClr val="hlink"/>
        </a:solidFill>
        <a:latin typeface="Arial" charset="0"/>
        <a:ea typeface="+mn-ea"/>
        <a:cs typeface="+mn-cs"/>
      </a:defRPr>
    </a:lvl5pPr>
    <a:lvl6pPr marL="2286000" algn="l" defTabSz="457200" rtl="0" eaLnBrk="1" latinLnBrk="0" hangingPunct="1">
      <a:defRPr sz="1600" kern="1200">
        <a:solidFill>
          <a:schemeClr val="hlink"/>
        </a:solidFill>
        <a:latin typeface="Arial" charset="0"/>
        <a:ea typeface="+mn-ea"/>
        <a:cs typeface="+mn-cs"/>
      </a:defRPr>
    </a:lvl6pPr>
    <a:lvl7pPr marL="2743200" algn="l" defTabSz="457200" rtl="0" eaLnBrk="1" latinLnBrk="0" hangingPunct="1">
      <a:defRPr sz="1600" kern="1200">
        <a:solidFill>
          <a:schemeClr val="hlink"/>
        </a:solidFill>
        <a:latin typeface="Arial" charset="0"/>
        <a:ea typeface="+mn-ea"/>
        <a:cs typeface="+mn-cs"/>
      </a:defRPr>
    </a:lvl7pPr>
    <a:lvl8pPr marL="3200400" algn="l" defTabSz="457200" rtl="0" eaLnBrk="1" latinLnBrk="0" hangingPunct="1">
      <a:defRPr sz="1600" kern="1200">
        <a:solidFill>
          <a:schemeClr val="hlink"/>
        </a:solidFill>
        <a:latin typeface="Arial" charset="0"/>
        <a:ea typeface="+mn-ea"/>
        <a:cs typeface="+mn-cs"/>
      </a:defRPr>
    </a:lvl8pPr>
    <a:lvl9pPr marL="3657600" algn="l" defTabSz="457200" rtl="0" eaLnBrk="1" latinLnBrk="0" hangingPunct="1">
      <a:defRPr sz="1600" kern="1200">
        <a:solidFill>
          <a:schemeClr val="hlink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997"/>
    <a:srgbClr val="FFB862"/>
    <a:srgbClr val="55FC02"/>
    <a:srgbClr val="FBBA03"/>
    <a:srgbClr val="0332B7"/>
    <a:srgbClr val="000000"/>
    <a:srgbClr val="114FFB"/>
    <a:srgbClr val="7B00E4"/>
    <a:srgbClr val="EFFB03"/>
    <a:srgbClr val="F90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 autoAdjust="0"/>
    <p:restoredTop sz="80102" autoAdjust="0"/>
  </p:normalViewPr>
  <p:slideViewPr>
    <p:cSldViewPr>
      <p:cViewPr varScale="1">
        <p:scale>
          <a:sx n="91" d="100"/>
          <a:sy n="91" d="100"/>
        </p:scale>
        <p:origin x="218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4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576"/>
    </p:cViewPr>
  </p:sorterViewPr>
  <p:notesViewPr>
    <p:cSldViewPr>
      <p:cViewPr varScale="1">
        <p:scale>
          <a:sx n="110" d="100"/>
          <a:sy n="110" d="100"/>
        </p:scale>
        <p:origin x="-4016" y="-12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5.xml"/><Relationship Id="rId2" Type="http://schemas.openxmlformats.org/officeDocument/2006/relationships/slide" Target="slides/slide7.xml"/><Relationship Id="rId1" Type="http://schemas.openxmlformats.org/officeDocument/2006/relationships/slide" Target="slides/slide1.xml"/><Relationship Id="rId4" Type="http://schemas.openxmlformats.org/officeDocument/2006/relationships/slide" Target="slides/slide4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23813" y="23813"/>
            <a:ext cx="31765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t" anchorCtr="0" compatLnSpc="1">
            <a:prstTxWarp prst="textNoShape">
              <a:avLst/>
            </a:prstTxWarp>
          </a:bodyPr>
          <a:lstStyle>
            <a:lvl1pPr defTabSz="863600">
              <a:spcBef>
                <a:spcPct val="0"/>
              </a:spcBef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62425" y="23813"/>
            <a:ext cx="31765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t" anchorCtr="0" compatLnSpc="1">
            <a:prstTxWarp prst="textNoShape">
              <a:avLst/>
            </a:prstTxWarp>
          </a:bodyPr>
          <a:lstStyle>
            <a:lvl1pPr algn="r" defTabSz="863600">
              <a:spcBef>
                <a:spcPct val="0"/>
              </a:spcBef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23813" y="9150350"/>
            <a:ext cx="31765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b" anchorCtr="0" compatLnSpc="1">
            <a:prstTxWarp prst="textNoShape">
              <a:avLst/>
            </a:prstTxWarp>
          </a:bodyPr>
          <a:lstStyle>
            <a:lvl1pPr defTabSz="863600">
              <a:spcBef>
                <a:spcPct val="0"/>
              </a:spcBef>
              <a:defRPr sz="1000" i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62425" y="9150350"/>
            <a:ext cx="31765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b" anchorCtr="0" compatLnSpc="1">
            <a:prstTxWarp prst="textNoShape">
              <a:avLst/>
            </a:prstTxWarp>
          </a:bodyPr>
          <a:lstStyle>
            <a:lvl1pPr algn="r" defTabSz="863600">
              <a:spcBef>
                <a:spcPct val="0"/>
              </a:spcBef>
              <a:defRPr sz="10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FF668F6-92AF-F14F-959F-F8E6BDC559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23813" y="23813"/>
            <a:ext cx="31765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t" anchorCtr="0" compatLnSpc="1">
            <a:prstTxWarp prst="textNoShape">
              <a:avLst/>
            </a:prstTxWarp>
          </a:bodyPr>
          <a:lstStyle>
            <a:lvl1pPr defTabSz="863600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62425" y="23813"/>
            <a:ext cx="31765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t" anchorCtr="0" compatLnSpc="1">
            <a:prstTxWarp prst="textNoShape">
              <a:avLst/>
            </a:prstTxWarp>
          </a:bodyPr>
          <a:lstStyle>
            <a:lvl1pPr algn="r" defTabSz="863600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23813" y="9150350"/>
            <a:ext cx="31765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b" anchorCtr="0" compatLnSpc="1">
            <a:prstTxWarp prst="textNoShape">
              <a:avLst/>
            </a:prstTxWarp>
          </a:bodyPr>
          <a:lstStyle>
            <a:lvl1pPr defTabSz="863600">
              <a:spcBef>
                <a:spcPct val="0"/>
              </a:spcBef>
              <a:defRPr sz="1000" i="1" smtClean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C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62425" y="9150350"/>
            <a:ext cx="3176588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003" tIns="0" rIns="18003" bIns="0" numCol="1" anchor="b" anchorCtr="0" compatLnSpc="1">
            <a:prstTxWarp prst="textNoShape">
              <a:avLst/>
            </a:prstTxWarp>
          </a:bodyPr>
          <a:lstStyle>
            <a:lvl1pPr algn="r" defTabSz="863600">
              <a:spcBef>
                <a:spcPct val="0"/>
              </a:spcBef>
              <a:defRPr sz="1000" i="1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903442F8-CACF-AA42-83D4-E0A09A06F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254375" y="9148763"/>
            <a:ext cx="80803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3016" tIns="46508" rIns="93016" bIns="46508">
            <a:prstTxWarp prst="textNoShape">
              <a:avLst/>
            </a:prstTxWarp>
            <a:spAutoFit/>
          </a:bodyPr>
          <a:lstStyle/>
          <a:p>
            <a:pPr algn="ctr" defTabSz="919163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300">
                <a:solidFill>
                  <a:schemeClr val="tx1"/>
                </a:solidFill>
              </a:rPr>
              <a:t>Page </a:t>
            </a:r>
            <a:fld id="{ACFFB53C-1439-6C41-A2C3-1FF6E096BBD2}" type="slidenum">
              <a:rPr lang="en-US" sz="1300">
                <a:solidFill>
                  <a:schemeClr val="tx1"/>
                </a:solidFill>
              </a:rPr>
              <a:pPr algn="ctr" defTabSz="919163">
                <a:lnSpc>
                  <a:spcPct val="90000"/>
                </a:lnSpc>
                <a:spcBef>
                  <a:spcPct val="0"/>
                </a:spcBef>
                <a:defRPr/>
              </a:pPr>
              <a:t>‹#›</a:t>
            </a:fld>
            <a:endParaRPr lang="en-US" sz="1300">
              <a:solidFill>
                <a:schemeClr val="tx1"/>
              </a:solidFill>
            </a:endParaRP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27175" y="923925"/>
            <a:ext cx="4260850" cy="3195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6" name="Rectangle 8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517" tIns="48008" rIns="97517" bIns="480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3D73EE-8BA6-7349-8C9F-027DCE0F9371}" type="slidenum">
              <a:rPr lang="en-US"/>
              <a:pPr/>
              <a:t>14</a:t>
            </a:fld>
            <a:endParaRPr lang="en-US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45059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BF57C-5CBD-1D4F-8663-FA22A384C37E}" type="slidenum">
              <a:rPr lang="en-US"/>
              <a:pPr/>
              <a:t>15</a:t>
            </a:fld>
            <a:endParaRPr lang="en-US"/>
          </a:p>
        </p:txBody>
      </p:sp>
      <p:sp>
        <p:nvSpPr>
          <p:cNvPr id="45060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68413" y="728663"/>
            <a:ext cx="4779962" cy="3584575"/>
          </a:xfrm>
          <a:solidFill>
            <a:srgbClr val="FFFFFF"/>
          </a:solidFill>
          <a:ln/>
        </p:spPr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4538"/>
            <a:ext cx="5360988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87" tIns="47644" rIns="95287" bIns="47644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812813-92A6-924C-B8E8-564D09C6146A}" type="slidenum">
              <a:rPr lang="en-US"/>
              <a:pPr/>
              <a:t>16</a:t>
            </a:fld>
            <a:endParaRPr lang="en-US"/>
          </a:p>
        </p:txBody>
      </p:sp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C1934C-78CC-F247-83D1-15900A0B1093}" type="slidenum">
              <a:rPr lang="en-US"/>
              <a:pPr/>
              <a:t>17</a:t>
            </a:fld>
            <a:endParaRPr lang="en-US"/>
          </a:p>
        </p:txBody>
      </p:sp>
      <p:sp>
        <p:nvSpPr>
          <p:cNvPr id="491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120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89D07C-AE4A-D34F-AEB4-F10ED47B0D6A}" type="slidenum">
              <a:rPr lang="en-US"/>
              <a:pPr/>
              <a:t>18</a:t>
            </a:fld>
            <a:endParaRPr lang="en-US"/>
          </a:p>
        </p:txBody>
      </p:sp>
      <p:sp>
        <p:nvSpPr>
          <p:cNvPr id="512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2188" cy="3602037"/>
          </a:xfrm>
          <a:ln cap="flat"/>
        </p:spPr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9850" y="4560888"/>
            <a:ext cx="4560888" cy="4321175"/>
          </a:xfrm>
          <a:noFill/>
          <a:ln/>
        </p:spPr>
        <p:txBody>
          <a:bodyPr lIns="97274" tIns="47783" rIns="97274" bIns="47783"/>
          <a:lstStyle/>
          <a:p>
            <a:r>
              <a:rPr lang="en-US" dirty="0"/>
              <a:t>This slide is for the 3-min class administrative matters.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Make sure we update Handout #1 so it is consistent with this slide.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9850" y="4560888"/>
            <a:ext cx="4560888" cy="4321175"/>
          </a:xfrm>
          <a:noFill/>
          <a:ln/>
        </p:spPr>
        <p:txBody>
          <a:bodyPr lIns="97274" tIns="47783" rIns="97274" bIns="47783"/>
          <a:lstStyle/>
          <a:p>
            <a:r>
              <a:rPr lang="en-US" dirty="0"/>
              <a:t>This is the 1st slide of the “Course Structure and Course Philosophy” section of the lecture.</a:t>
            </a:r>
          </a:p>
          <a:p>
            <a:endParaRPr lang="en-US" dirty="0"/>
          </a:p>
          <a:p>
            <a:r>
              <a:rPr lang="en-US" dirty="0"/>
              <a:t>Need to emphasis that for exams, our goal is the test your knowledge. It is not our goal to test how well your perform under time pressure.</a:t>
            </a:r>
          </a:p>
        </p:txBody>
      </p:sp>
      <p:sp>
        <p:nvSpPr>
          <p:cNvPr id="4915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2188" cy="3602037"/>
          </a:xfrm>
          <a:ln cap="flat"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3D73EE-8BA6-7349-8C9F-027DCE0F9371}" type="slidenum">
              <a:rPr lang="en-US"/>
              <a:pPr/>
              <a:t>21</a:t>
            </a:fld>
            <a:endParaRPr lang="en-US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570CD9-B453-4640-9189-5FDFDF953687}" type="slidenum">
              <a:rPr lang="en-US"/>
              <a:pPr/>
              <a:t>23</a:t>
            </a:fld>
            <a:endParaRPr lang="en-US"/>
          </a:p>
        </p:txBody>
      </p:sp>
      <p:sp>
        <p:nvSpPr>
          <p:cNvPr id="116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8D1A63-7C28-C54B-B425-47E7646F10C1}" type="slidenum">
              <a:rPr lang="en-US"/>
              <a:pPr/>
              <a:t>24</a:t>
            </a:fld>
            <a:endParaRPr lang="en-US"/>
          </a:p>
        </p:txBody>
      </p:sp>
      <p:sp>
        <p:nvSpPr>
          <p:cNvPr id="116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3D73EE-8BA6-7349-8C9F-027DCE0F9371}" type="slidenum">
              <a:rPr lang="en-US"/>
              <a:pPr/>
              <a:t>29</a:t>
            </a:fld>
            <a:endParaRPr lang="en-US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7FA6EA-5CEF-2C4A-AFD4-2E3A6B472C54}" type="slidenum">
              <a:rPr lang="en-US"/>
              <a:pPr/>
              <a:t>30</a:t>
            </a:fld>
            <a:endParaRPr 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939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62BE90A-DCDB-BD4C-A713-221064A3CF5B}" type="slidenum">
              <a:rPr lang="en-US"/>
              <a:pPr/>
              <a:t>31</a:t>
            </a:fld>
            <a:endParaRPr lang="en-US"/>
          </a:p>
        </p:txBody>
      </p:sp>
      <p:sp>
        <p:nvSpPr>
          <p:cNvPr id="593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6144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0C61A7-4F03-2E47-9D86-1CB1C2F4A733}" type="slidenum">
              <a:rPr lang="en-US"/>
              <a:pPr/>
              <a:t>32</a:t>
            </a:fld>
            <a:endParaRPr 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6349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B4904A-6C21-3547-89E8-073903379907}" type="slidenum">
              <a:rPr lang="en-US"/>
              <a:pPr/>
              <a:t>33</a:t>
            </a:fld>
            <a:endParaRPr lang="en-US"/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4878BA-2592-7F4B-B867-3C03C7F864C0}" type="slidenum">
              <a:rPr lang="en-US"/>
              <a:pPr/>
              <a:t>34</a:t>
            </a:fld>
            <a:endParaRPr lang="en-US"/>
          </a:p>
        </p:txBody>
      </p:sp>
      <p:sp>
        <p:nvSpPr>
          <p:cNvPr id="655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6963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2359A-489C-8546-BA7C-E524D3A91212}" type="slidenum">
              <a:rPr lang="en-US"/>
              <a:pPr/>
              <a:t>35</a:t>
            </a:fld>
            <a:endParaRPr lang="en-US"/>
          </a:p>
        </p:txBody>
      </p:sp>
      <p:sp>
        <p:nvSpPr>
          <p:cNvPr id="696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16118B-AA68-9B48-8CBC-86C446988AC2}" type="slidenum">
              <a:rPr lang="en-US"/>
              <a:pPr/>
              <a:t>36</a:t>
            </a:fld>
            <a:endParaRPr lang="en-US"/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373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7DD97D-E4E9-214C-A344-FC84DC0D76D2}" type="slidenum">
              <a:rPr lang="en-US"/>
              <a:pPr/>
              <a:t>37</a:t>
            </a:fld>
            <a:endParaRPr lang="en-US"/>
          </a:p>
        </p:txBody>
      </p:sp>
      <p:sp>
        <p:nvSpPr>
          <p:cNvPr id="737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16118B-AA68-9B48-8CBC-86C446988AC2}" type="slidenum">
              <a:rPr lang="en-US"/>
              <a:pPr/>
              <a:t>38</a:t>
            </a:fld>
            <a:endParaRPr lang="en-US"/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16118B-AA68-9B48-8CBC-86C446988AC2}" type="slidenum">
              <a:rPr lang="en-US"/>
              <a:pPr/>
              <a:t>39</a:t>
            </a:fld>
            <a:endParaRPr lang="en-US"/>
          </a:p>
        </p:txBody>
      </p:sp>
      <p:sp>
        <p:nvSpPr>
          <p:cNvPr id="716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8397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459353-21C9-6843-990C-458527726701}" type="slidenum">
              <a:rPr lang="en-US"/>
              <a:pPr/>
              <a:t>41</a:t>
            </a:fld>
            <a:endParaRPr lang="en-US"/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86019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EBECD2-9B3B-D14F-8B56-2188D600CF79}" type="slidenum">
              <a:rPr lang="en-US"/>
              <a:pPr/>
              <a:t>42</a:t>
            </a:fld>
            <a:endParaRPr lang="en-US"/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8806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53197E-AB1B-D644-9995-449023876E9C}" type="slidenum">
              <a:rPr lang="en-US"/>
              <a:pPr/>
              <a:t>43</a:t>
            </a:fld>
            <a:endParaRPr lang="en-US"/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90115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1C21C26-E779-E441-A642-D6CD4D4FFFDD}" type="slidenum">
              <a:rPr lang="en-US"/>
              <a:pPr/>
              <a:t>44</a:t>
            </a:fld>
            <a:endParaRPr lang="en-US"/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3D73EE-8BA6-7349-8C9F-027DCE0F9371}" type="slidenum">
              <a:rPr lang="en-US"/>
              <a:pPr/>
              <a:t>45</a:t>
            </a:fld>
            <a:endParaRPr lang="en-US"/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EE6158-00C0-214B-B3E4-48DD243E06A0}" type="slidenum">
              <a:rPr lang="en-US"/>
              <a:pPr/>
              <a:t>46</a:t>
            </a:fld>
            <a:endParaRPr lang="en-US"/>
          </a:p>
        </p:txBody>
      </p:sp>
      <p:sp>
        <p:nvSpPr>
          <p:cNvPr id="13271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27175" y="923925"/>
            <a:ext cx="4260850" cy="31956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5D685A-1F5E-5D47-ADAF-934656078634}" type="slidenum">
              <a:rPr lang="en-US"/>
              <a:pPr/>
              <a:t>47</a:t>
            </a:fld>
            <a:endParaRPr lang="en-US"/>
          </a:p>
        </p:txBody>
      </p:sp>
      <p:sp>
        <p:nvSpPr>
          <p:cNvPr id="132915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27175" y="923925"/>
            <a:ext cx="4260850" cy="31956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81923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8C2269-1BD9-0E48-9E76-064404E7FA60}" type="slidenum">
              <a:rPr lang="en-US"/>
              <a:pPr/>
              <a:t>48</a:t>
            </a:fld>
            <a:endParaRPr lang="en-US"/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88067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53197E-AB1B-D644-9995-449023876E9C}" type="slidenum">
              <a:rPr lang="en-US"/>
              <a:pPr/>
              <a:t>49</a:t>
            </a:fld>
            <a:endParaRPr lang="en-US"/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62A83A-6CA3-D141-B0FF-A3B03786A649}" type="slidenum">
              <a:rPr lang="en-US"/>
              <a:pPr/>
              <a:t>50</a:t>
            </a:fld>
            <a:endParaRPr lang="en-US"/>
          </a:p>
        </p:txBody>
      </p:sp>
      <p:sp>
        <p:nvSpPr>
          <p:cNvPr id="13312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27175" y="923925"/>
            <a:ext cx="4260850" cy="31956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029B98-052F-AE4C-8FFD-F597B859B085}" type="slidenum">
              <a:rPr lang="en-US"/>
              <a:pPr/>
              <a:t>51</a:t>
            </a:fld>
            <a:endParaRPr lang="en-US"/>
          </a:p>
        </p:txBody>
      </p:sp>
      <p:sp>
        <p:nvSpPr>
          <p:cNvPr id="1248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8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925FEC-EEA1-1441-BEE2-11E74F91C3BD}" type="slidenum">
              <a:rPr lang="en-US"/>
              <a:pPr/>
              <a:t>53</a:t>
            </a:fld>
            <a:endParaRPr lang="en-US"/>
          </a:p>
        </p:txBody>
      </p:sp>
      <p:sp>
        <p:nvSpPr>
          <p:cNvPr id="133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373E82-11B8-DA4F-8030-6C18037FD3F9}" type="slidenum">
              <a:rPr lang="en-US"/>
              <a:pPr/>
              <a:t>54</a:t>
            </a:fld>
            <a:endParaRPr lang="en-US"/>
          </a:p>
        </p:txBody>
      </p:sp>
      <p:sp>
        <p:nvSpPr>
          <p:cNvPr id="133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70808E-E218-1848-B76C-C8EC01E204AC}" type="slidenum">
              <a:rPr lang="en-US"/>
              <a:pPr/>
              <a:t>55</a:t>
            </a:fld>
            <a:endParaRPr lang="en-US"/>
          </a:p>
        </p:txBody>
      </p:sp>
      <p:sp>
        <p:nvSpPr>
          <p:cNvPr id="133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0A2E20-D4B9-3F46-89E0-73A8A691D12C}" type="slidenum">
              <a:rPr lang="en-US"/>
              <a:pPr/>
              <a:t>56</a:t>
            </a:fld>
            <a:endParaRPr lang="en-US"/>
          </a:p>
        </p:txBody>
      </p:sp>
      <p:sp>
        <p:nvSpPr>
          <p:cNvPr id="133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4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104451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95597A-EAC5-6A4D-AF56-0069F7A5A512}" type="slidenum">
              <a:rPr lang="en-US"/>
              <a:pPr/>
              <a:t>57</a:t>
            </a:fld>
            <a:endParaRPr lang="en-US"/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6249C3F-1F0D-0245-BD8E-6D134CBB21A2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8C89C21-81C6-1849-AF7F-456E69B3BB35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3DFB28-5B5B-074C-B4E8-618C4BF2D1F1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7607546-6874-DF43-9D9F-828C2061223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0868A1-DE77-A845-97F5-165FD4D75CF2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DC2A54D-D38A-6449-A27D-1BD4A1440DD2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E79977-8762-624D-9D2F-4FE156E28C29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C4F458F-5213-914F-94F8-6B10C77F9790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4C4F620-2FEB-0043-9943-F8C545420FE9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553200"/>
            <a:ext cx="1905000" cy="2794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78600"/>
            <a:ext cx="2895600" cy="2794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A5CA2DB-8A6E-354A-84FE-C390361DC987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30200"/>
            <a:ext cx="192405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30200"/>
            <a:ext cx="561975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8750E79-2683-6848-A4D7-CDA40719EAAA}" type="slidenum">
              <a:rPr lang="en-US"/>
              <a:pPr>
                <a:defRPr/>
              </a:pPr>
              <a:t>‹#›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200"/>
            <a:ext cx="7292975" cy="736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193800"/>
            <a:ext cx="3765550" cy="492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6450" y="1193800"/>
            <a:ext cx="3765550" cy="492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65900"/>
            <a:ext cx="1905000" cy="29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 b="1">
                <a:solidFill>
                  <a:schemeClr val="accent2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F543C2CE-5AF7-8143-8A0A-0153F98C0316}" type="slidenum">
              <a:rPr lang="en-US"/>
              <a:pPr>
                <a:defRPr/>
              </a:pPr>
              <a:t>‹#›</a:t>
            </a:fld>
            <a:endParaRPr lang="en-US">
              <a:solidFill>
                <a:srgbClr val="FBBA03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30200"/>
            <a:ext cx="72929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93800"/>
            <a:ext cx="7683500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1" name="Picture 11" descr="front"/>
          <p:cNvPicPr>
            <a:picLocks noChangeAspect="1" noChangeArrowheads="1"/>
          </p:cNvPicPr>
          <p:nvPr/>
        </p:nvPicPr>
        <p:blipFill>
          <a:blip r:embed="rId14"/>
          <a:srcRect b="22223"/>
          <a:stretch>
            <a:fillRect/>
          </a:stretch>
        </p:blipFill>
        <p:spPr bwMode="auto">
          <a:xfrm>
            <a:off x="8404225" y="0"/>
            <a:ext cx="739775" cy="62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 userDrawn="1"/>
        </p:nvSpPr>
        <p:spPr>
          <a:xfrm>
            <a:off x="838200" y="6519446"/>
            <a:ext cx="10974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1/17/2012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667000" y="6519446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CS152, Spring</a:t>
            </a:r>
            <a:r>
              <a:rPr lang="en-US" baseline="0" dirty="0"/>
              <a:t> 2012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94" r:id="rId12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332B7"/>
          </a:solidFill>
          <a:latin typeface="Arial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>
          <a:solidFill>
            <a:schemeClr val="tx1"/>
          </a:solidFill>
          <a:latin typeface="+mn-lt"/>
          <a:ea typeface="ＭＳ Ｐゴシック" charset="-128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1400">
          <a:solidFill>
            <a:schemeClr val="tx1"/>
          </a:solidFill>
          <a:latin typeface="+mn-lt"/>
          <a:ea typeface="ＭＳ Ｐゴシック" charset="-128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14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F3828-6825-D14F-A1E4-6AC47EF8F40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5.jpe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yasir.javed@abasyn.edu.p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youtube.com/renzymeducation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6050" y="1898650"/>
            <a:ext cx="8834438" cy="1666875"/>
          </a:xfrm>
        </p:spPr>
        <p:txBody>
          <a:bodyPr/>
          <a:lstStyle/>
          <a:p>
            <a:pPr algn="ctr">
              <a:lnSpc>
                <a:spcPct val="120000"/>
              </a:lnSpc>
            </a:pPr>
            <a:r>
              <a:rPr lang="en-US" dirty="0"/>
              <a:t>Advanced Computer Architecture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Lecture 1 – Introduction, </a:t>
            </a:r>
            <a:br>
              <a:rPr lang="en-US" dirty="0"/>
            </a:br>
            <a:r>
              <a:rPr lang="en-US" dirty="0"/>
              <a:t>A simple RISC processor</a:t>
            </a:r>
            <a:br>
              <a:rPr lang="en-US" dirty="0"/>
            </a:b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71575" y="4289425"/>
            <a:ext cx="6900863" cy="1295400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en-US" dirty="0" err="1"/>
              <a:t>Yasir</a:t>
            </a:r>
            <a:r>
              <a:rPr lang="en-US" dirty="0"/>
              <a:t> </a:t>
            </a:r>
            <a:r>
              <a:rPr lang="en-US" dirty="0" err="1"/>
              <a:t>Javed</a:t>
            </a:r>
            <a:endParaRPr lang="en-US" dirty="0"/>
          </a:p>
          <a:p>
            <a:pPr>
              <a:lnSpc>
                <a:spcPct val="70000"/>
              </a:lnSpc>
            </a:pPr>
            <a:r>
              <a:rPr lang="en-US" sz="2000" dirty="0" err="1"/>
              <a:t>Abasyn</a:t>
            </a:r>
            <a:r>
              <a:rPr lang="en-US" sz="2000" dirty="0"/>
              <a:t> University Islamabad Campus</a:t>
            </a:r>
          </a:p>
          <a:p>
            <a:pPr>
              <a:lnSpc>
                <a:spcPct val="70000"/>
              </a:lnSpc>
            </a:pPr>
            <a:endParaRPr lang="en-US" sz="2000" dirty="0"/>
          </a:p>
          <a:p>
            <a:pPr>
              <a:lnSpc>
                <a:spcPct val="70000"/>
              </a:lnSpc>
            </a:pPr>
            <a:r>
              <a:rPr lang="en-US" sz="2000" dirty="0"/>
              <a:t>Most of course slides from CS152 and CS252 UC Berkeley</a:t>
            </a:r>
          </a:p>
          <a:p>
            <a:pPr>
              <a:lnSpc>
                <a:spcPct val="70000"/>
              </a:lnSpc>
            </a:pPr>
            <a:endParaRPr lang="en-US" sz="2000" dirty="0"/>
          </a:p>
          <a:p>
            <a:pPr>
              <a:lnSpc>
                <a:spcPct val="70000"/>
              </a:lnSpc>
            </a:pPr>
            <a:endParaRPr lang="en-US" sz="2000" dirty="0"/>
          </a:p>
          <a:p>
            <a:pPr>
              <a:lnSpc>
                <a:spcPct val="70000"/>
              </a:lnSpc>
            </a:pPr>
            <a:endParaRPr lang="en-US" sz="20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Computer Architecture?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6816F-F3DD-0C4D-B74E-2AFC1DC0216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82691" name="AutoShape 3"/>
          <p:cNvSpPr>
            <a:spLocks noChangeArrowheads="1"/>
          </p:cNvSpPr>
          <p:nvPr/>
        </p:nvSpPr>
        <p:spPr bwMode="auto">
          <a:xfrm>
            <a:off x="2078038" y="1076325"/>
            <a:ext cx="4722812" cy="469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882692" name="AutoShape 4"/>
          <p:cNvSpPr>
            <a:spLocks noChangeArrowheads="1"/>
          </p:cNvSpPr>
          <p:nvPr/>
        </p:nvSpPr>
        <p:spPr bwMode="auto">
          <a:xfrm>
            <a:off x="2057400" y="4419600"/>
            <a:ext cx="4722813" cy="457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Physics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72000" y="1546225"/>
            <a:ext cx="3048000" cy="2873375"/>
            <a:chOff x="3072" y="1104"/>
            <a:chExt cx="2208" cy="2688"/>
          </a:xfrm>
        </p:grpSpPr>
        <p:sp>
          <p:nvSpPr>
            <p:cNvPr id="21515" name="Line 6"/>
            <p:cNvSpPr>
              <a:spLocks noChangeShapeType="1"/>
            </p:cNvSpPr>
            <p:nvPr/>
          </p:nvSpPr>
          <p:spPr bwMode="auto">
            <a:xfrm>
              <a:off x="3072" y="1104"/>
              <a:ext cx="0" cy="268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lIns="91165" tIns="45583" rIns="91165" bIns="45583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  <p:sp>
          <p:nvSpPr>
            <p:cNvPr id="21516" name="Text Box 7"/>
            <p:cNvSpPr txBox="1">
              <a:spLocks noChangeArrowheads="1"/>
            </p:cNvSpPr>
            <p:nvPr/>
          </p:nvSpPr>
          <p:spPr bwMode="auto">
            <a:xfrm>
              <a:off x="3120" y="2187"/>
              <a:ext cx="2160" cy="7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1165" tIns="45583" rIns="91165" bIns="45583">
              <a:prstTxWarp prst="textNoShape">
                <a:avLst/>
              </a:prstTxWarp>
              <a:spAutoFit/>
            </a:bodyPr>
            <a:lstStyle/>
            <a:p>
              <a:pPr defTabSz="820738">
                <a:spcBef>
                  <a:spcPct val="0"/>
                </a:spcBef>
              </a:pPr>
              <a:r>
                <a:rPr lang="en-US" sz="2200">
                  <a:solidFill>
                    <a:schemeClr val="tx1"/>
                  </a:solidFill>
                </a:rPr>
                <a:t>Gap too large to bridge in one step</a:t>
              </a:r>
            </a:p>
          </p:txBody>
        </p:sp>
      </p:grpSp>
      <p:sp>
        <p:nvSpPr>
          <p:cNvPr id="882697" name="Text Box 9"/>
          <p:cNvSpPr txBox="1">
            <a:spLocks noChangeArrowheads="1"/>
          </p:cNvSpPr>
          <p:nvPr/>
        </p:nvSpPr>
        <p:spPr bwMode="auto">
          <a:xfrm>
            <a:off x="457200" y="5029200"/>
            <a:ext cx="81915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 anchor="ctr">
            <a:prstTxWarp prst="textNoShape">
              <a:avLst/>
            </a:prstTxWarp>
          </a:bodyPr>
          <a:lstStyle/>
          <a:p>
            <a:pPr eaLnBrk="1" hangingPunct="1"/>
            <a:r>
              <a:rPr lang="en-US" sz="2400">
                <a:solidFill>
                  <a:schemeClr val="tx1"/>
                </a:solidFill>
              </a:rPr>
              <a:t>In its broadest definition, computer architecture is the </a:t>
            </a:r>
            <a:r>
              <a:rPr lang="en-US" sz="2400" i="1">
                <a:solidFill>
                  <a:srgbClr val="FF0000"/>
                </a:solidFill>
              </a:rPr>
              <a:t>design of the</a:t>
            </a:r>
            <a:r>
              <a:rPr lang="en-US" sz="2400">
                <a:solidFill>
                  <a:schemeClr val="tx1"/>
                </a:solidFill>
              </a:rPr>
              <a:t> </a:t>
            </a:r>
            <a:r>
              <a:rPr lang="en-US" sz="2400" i="1">
                <a:solidFill>
                  <a:srgbClr val="FF0000"/>
                </a:solidFill>
              </a:rPr>
              <a:t>abstraction layers</a:t>
            </a:r>
            <a:r>
              <a:rPr lang="en-US" sz="2400">
                <a:solidFill>
                  <a:schemeClr val="tx1"/>
                </a:solidFill>
              </a:rPr>
              <a:t> that allow us to implement information processing applications efficiently using available manufacturing technologies.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667000" y="1981200"/>
            <a:ext cx="5659438" cy="2209800"/>
            <a:chOff x="2667000" y="1981200"/>
            <a:chExt cx="5659438" cy="2209800"/>
          </a:xfrm>
        </p:grpSpPr>
        <p:sp>
          <p:nvSpPr>
            <p:cNvPr id="882696" name="Text Box 8"/>
            <p:cNvSpPr txBox="1">
              <a:spLocks noChangeArrowheads="1"/>
            </p:cNvSpPr>
            <p:nvPr/>
          </p:nvSpPr>
          <p:spPr bwMode="auto">
            <a:xfrm>
              <a:off x="4724400" y="3429000"/>
              <a:ext cx="3602038" cy="7620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1165" tIns="45583" rIns="91165" bIns="45583">
              <a:prstTxWarp prst="textNoShape">
                <a:avLst/>
              </a:prstTxWarp>
              <a:spAutoFit/>
            </a:bodyPr>
            <a:lstStyle/>
            <a:p>
              <a:pPr defTabSz="820738">
                <a:spcBef>
                  <a:spcPct val="0"/>
                </a:spcBef>
              </a:pPr>
              <a:r>
                <a:rPr lang="en-US" sz="2200" i="1">
                  <a:solidFill>
                    <a:schemeClr val="tx1"/>
                  </a:solidFill>
                </a:rPr>
                <a:t>(but there are exceptions, e.g. magnetic compass)</a:t>
              </a:r>
            </a:p>
          </p:txBody>
        </p:sp>
        <p:pic>
          <p:nvPicPr>
            <p:cNvPr id="11" name="Picture 10" descr="images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7000" y="1981200"/>
              <a:ext cx="2095500" cy="216677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2691" grpId="0" animBg="1" autoUpdateAnimBg="0"/>
      <p:bldP spid="882692" grpId="0" animBg="1" autoUpdateAnimBg="0"/>
      <p:bldP spid="882697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C4474F-A956-A64F-B007-9B9C3146EE71}" type="slidenum">
              <a:rPr lang="en-US" smtClean="0"/>
              <a:pPr/>
              <a:t>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228600"/>
            <a:ext cx="8105775" cy="831850"/>
          </a:xfrm>
        </p:spPr>
        <p:txBody>
          <a:bodyPr/>
          <a:lstStyle/>
          <a:p>
            <a:r>
              <a:rPr lang="en-US"/>
              <a:t>Abstraction Layers in Modern Systems</a:t>
            </a:r>
          </a:p>
        </p:txBody>
      </p:sp>
      <p:sp>
        <p:nvSpPr>
          <p:cNvPr id="23558" name="AutoShape 3"/>
          <p:cNvSpPr>
            <a:spLocks noChangeArrowheads="1"/>
          </p:cNvSpPr>
          <p:nvPr/>
        </p:nvSpPr>
        <p:spPr bwMode="auto">
          <a:xfrm>
            <a:off x="2362200" y="1849438"/>
            <a:ext cx="4225925" cy="4032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Algorithm</a:t>
            </a:r>
          </a:p>
        </p:txBody>
      </p:sp>
      <p:sp>
        <p:nvSpPr>
          <p:cNvPr id="23559" name="AutoShape 4"/>
          <p:cNvSpPr>
            <a:spLocks noChangeArrowheads="1"/>
          </p:cNvSpPr>
          <p:nvPr/>
        </p:nvSpPr>
        <p:spPr bwMode="auto">
          <a:xfrm>
            <a:off x="2362200" y="3933825"/>
            <a:ext cx="4225925" cy="3921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Gates/Register-Transfer Level (RTL)</a:t>
            </a:r>
          </a:p>
        </p:txBody>
      </p:sp>
      <p:sp>
        <p:nvSpPr>
          <p:cNvPr id="23560" name="AutoShape 5"/>
          <p:cNvSpPr>
            <a:spLocks noChangeArrowheads="1"/>
          </p:cNvSpPr>
          <p:nvPr/>
        </p:nvSpPr>
        <p:spPr bwMode="auto">
          <a:xfrm>
            <a:off x="2362200" y="1446213"/>
            <a:ext cx="4217988" cy="4032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23561" name="AutoShape 6"/>
          <p:cNvSpPr>
            <a:spLocks noChangeArrowheads="1"/>
          </p:cNvSpPr>
          <p:nvPr/>
        </p:nvSpPr>
        <p:spPr bwMode="auto">
          <a:xfrm>
            <a:off x="2362200" y="3059113"/>
            <a:ext cx="4225925" cy="4714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Instruction Set Architecture (ISA)</a:t>
            </a:r>
          </a:p>
        </p:txBody>
      </p:sp>
      <p:sp>
        <p:nvSpPr>
          <p:cNvPr id="23562" name="AutoShape 7"/>
          <p:cNvSpPr>
            <a:spLocks noChangeArrowheads="1"/>
          </p:cNvSpPr>
          <p:nvPr/>
        </p:nvSpPr>
        <p:spPr bwMode="auto">
          <a:xfrm>
            <a:off x="2362200" y="2655888"/>
            <a:ext cx="4214813" cy="4032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Operating System/Virtual Machines</a:t>
            </a:r>
          </a:p>
        </p:txBody>
      </p:sp>
      <p:sp>
        <p:nvSpPr>
          <p:cNvPr id="23563" name="AutoShape 8"/>
          <p:cNvSpPr>
            <a:spLocks noChangeArrowheads="1"/>
          </p:cNvSpPr>
          <p:nvPr/>
        </p:nvSpPr>
        <p:spPr bwMode="auto">
          <a:xfrm>
            <a:off x="2362200" y="3530600"/>
            <a:ext cx="4225925" cy="4032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Microarchitecture</a:t>
            </a:r>
          </a:p>
        </p:txBody>
      </p:sp>
      <p:sp>
        <p:nvSpPr>
          <p:cNvPr id="23564" name="AutoShape 9"/>
          <p:cNvSpPr>
            <a:spLocks noChangeArrowheads="1"/>
          </p:cNvSpPr>
          <p:nvPr/>
        </p:nvSpPr>
        <p:spPr bwMode="auto">
          <a:xfrm>
            <a:off x="2362200" y="4740275"/>
            <a:ext cx="4225925" cy="4587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Devices</a:t>
            </a:r>
          </a:p>
        </p:txBody>
      </p:sp>
      <p:sp>
        <p:nvSpPr>
          <p:cNvPr id="23565" name="AutoShape 10"/>
          <p:cNvSpPr>
            <a:spLocks noChangeArrowheads="1"/>
          </p:cNvSpPr>
          <p:nvPr/>
        </p:nvSpPr>
        <p:spPr bwMode="auto">
          <a:xfrm>
            <a:off x="2362200" y="2252663"/>
            <a:ext cx="4225925" cy="4032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Programming Language</a:t>
            </a:r>
          </a:p>
        </p:txBody>
      </p:sp>
      <p:sp>
        <p:nvSpPr>
          <p:cNvPr id="23566" name="AutoShape 11"/>
          <p:cNvSpPr>
            <a:spLocks noChangeArrowheads="1"/>
          </p:cNvSpPr>
          <p:nvPr/>
        </p:nvSpPr>
        <p:spPr bwMode="auto">
          <a:xfrm>
            <a:off x="2362200" y="4337050"/>
            <a:ext cx="4225925" cy="39211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Circuits</a:t>
            </a:r>
          </a:p>
        </p:txBody>
      </p:sp>
      <p:sp>
        <p:nvSpPr>
          <p:cNvPr id="23567" name="AutoShape 12"/>
          <p:cNvSpPr>
            <a:spLocks noChangeArrowheads="1"/>
          </p:cNvSpPr>
          <p:nvPr/>
        </p:nvSpPr>
        <p:spPr bwMode="auto">
          <a:xfrm>
            <a:off x="2362200" y="5180013"/>
            <a:ext cx="4225925" cy="458787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91429" tIns="45714" rIns="91429" bIns="45714" anchor="ctr">
            <a:prstTxWarp prst="textNoShape">
              <a:avLst/>
            </a:prstTxWarp>
          </a:bodyPr>
          <a:lstStyle/>
          <a:p>
            <a:pPr algn="ctr" defTabSz="820738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</a:rPr>
              <a:t>Physics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629400" y="2889250"/>
            <a:ext cx="2174120" cy="1219200"/>
            <a:chOff x="6629400" y="2667000"/>
            <a:chExt cx="2174120" cy="1219200"/>
          </a:xfrm>
        </p:grpSpPr>
        <p:sp>
          <p:nvSpPr>
            <p:cNvPr id="37" name="TextBox 36"/>
            <p:cNvSpPr txBox="1"/>
            <p:nvPr/>
          </p:nvSpPr>
          <p:spPr>
            <a:xfrm>
              <a:off x="7010400" y="3048000"/>
              <a:ext cx="17931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Comp. Arch</a:t>
              </a:r>
            </a:p>
          </p:txBody>
        </p:sp>
        <p:sp>
          <p:nvSpPr>
            <p:cNvPr id="38" name="Right Brace 37"/>
            <p:cNvSpPr/>
            <p:nvPr/>
          </p:nvSpPr>
          <p:spPr bwMode="auto">
            <a:xfrm>
              <a:off x="6629400" y="2667000"/>
              <a:ext cx="381000" cy="1219200"/>
            </a:xfrm>
            <a:prstGeom prst="rightBrace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2070100" cy="3848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2590800" y="1371600"/>
            <a:ext cx="5867400" cy="4978063"/>
            <a:chOff x="2590800" y="1371600"/>
            <a:chExt cx="5867400" cy="4978063"/>
          </a:xfrm>
        </p:grpSpPr>
        <p:grpSp>
          <p:nvGrpSpPr>
            <p:cNvPr id="20" name="Group 19"/>
            <p:cNvGrpSpPr/>
            <p:nvPr/>
          </p:nvGrpSpPr>
          <p:grpSpPr>
            <a:xfrm>
              <a:off x="2590800" y="1371600"/>
              <a:ext cx="3886200" cy="4730476"/>
              <a:chOff x="2590800" y="1371600"/>
              <a:chExt cx="3886200" cy="4730476"/>
            </a:xfrm>
          </p:grpSpPr>
          <p:grpSp>
            <p:nvGrpSpPr>
              <p:cNvPr id="19" name="Group 18"/>
              <p:cNvGrpSpPr/>
              <p:nvPr/>
            </p:nvGrpSpPr>
            <p:grpSpPr>
              <a:xfrm>
                <a:off x="2590800" y="1371600"/>
                <a:ext cx="3886200" cy="4730476"/>
                <a:chOff x="2590800" y="1371600"/>
                <a:chExt cx="3886200" cy="4730476"/>
              </a:xfrm>
            </p:grpSpPr>
            <p:sp>
              <p:nvSpPr>
                <p:cNvPr id="15" name="Oval 14"/>
                <p:cNvSpPr/>
                <p:nvPr/>
              </p:nvSpPr>
              <p:spPr bwMode="auto">
                <a:xfrm>
                  <a:off x="2590800" y="1371600"/>
                  <a:ext cx="3886200" cy="2971800"/>
                </a:xfrm>
                <a:prstGeom prst="ellipse">
                  <a:avLst/>
                </a:prstGeom>
                <a:solidFill>
                  <a:schemeClr val="accent3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" name="Manual Operation 11"/>
                <p:cNvSpPr/>
                <p:nvPr/>
              </p:nvSpPr>
              <p:spPr bwMode="auto">
                <a:xfrm rot="1534091" flipV="1">
                  <a:off x="3160816" y="4882876"/>
                  <a:ext cx="1600200" cy="1219200"/>
                </a:xfrm>
                <a:prstGeom prst="flowChartManualOperation">
                  <a:avLst/>
                </a:prstGeom>
                <a:solidFill>
                  <a:schemeClr val="accent3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2"/>
                    </a:solidFill>
                    <a:effectLst/>
                    <a:latin typeface="Arial" charset="0"/>
                  </a:endParaRPr>
                </a:p>
              </p:txBody>
            </p:sp>
            <p:cxnSp>
              <p:nvCxnSpPr>
                <p:cNvPr id="14" name="Straight Connector 13"/>
                <p:cNvCxnSpPr>
                  <a:stCxn id="12" idx="2"/>
                  <a:endCxn id="15" idx="4"/>
                </p:cNvCxnSpPr>
                <p:nvPr/>
              </p:nvCxnSpPr>
              <p:spPr bwMode="auto">
                <a:xfrm rot="5400000" flipH="1" flipV="1">
                  <a:off x="4079369" y="4488042"/>
                  <a:ext cx="599173" cy="309890"/>
                </a:xfrm>
                <a:prstGeom prst="line">
                  <a:avLst/>
                </a:prstGeom>
                <a:solidFill>
                  <a:schemeClr val="bg1"/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" name="TextBox 17"/>
              <p:cNvSpPr txBox="1"/>
              <p:nvPr/>
            </p:nvSpPr>
            <p:spPr>
              <a:xfrm rot="1580343">
                <a:off x="2992166" y="5616560"/>
                <a:ext cx="16527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000000"/>
                    </a:solidFill>
                  </a:rPr>
                  <a:t>Compatibility</a:t>
                </a:r>
              </a:p>
            </p:txBody>
          </p:sp>
        </p:grpSp>
        <p:sp>
          <p:nvSpPr>
            <p:cNvPr id="21" name="TextBox 20"/>
            <p:cNvSpPr txBox="1"/>
            <p:nvPr/>
          </p:nvSpPr>
          <p:spPr>
            <a:xfrm>
              <a:off x="4800600" y="5334000"/>
              <a:ext cx="36576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Cost of software development makes compatibility a major force in market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continually changing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C89C21-81C6-1849-AF7F-456E69B3BB35}" type="slidenum">
              <a:rPr lang="en-US" smtClean="0"/>
              <a:pPr>
                <a:defRPr/>
              </a:pPr>
              <a:t>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581400" y="1828800"/>
            <a:ext cx="1828800" cy="838200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Applications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3581400" y="3124200"/>
            <a:ext cx="1828800" cy="838200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Technology</a:t>
            </a:r>
          </a:p>
        </p:txBody>
      </p:sp>
      <p:sp>
        <p:nvSpPr>
          <p:cNvPr id="7" name="Curved Right Arrow 6"/>
          <p:cNvSpPr/>
          <p:nvPr/>
        </p:nvSpPr>
        <p:spPr bwMode="auto">
          <a:xfrm>
            <a:off x="2895600" y="2209800"/>
            <a:ext cx="762000" cy="1447800"/>
          </a:xfrm>
          <a:prstGeom prst="curvedRightArrow">
            <a:avLst/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8" name="Curved Right Arrow 7"/>
          <p:cNvSpPr/>
          <p:nvPr/>
        </p:nvSpPr>
        <p:spPr bwMode="auto">
          <a:xfrm flipH="1" flipV="1">
            <a:off x="5334000" y="2209800"/>
            <a:ext cx="762000" cy="1447800"/>
          </a:xfrm>
          <a:prstGeom prst="curvedRightArrow">
            <a:avLst/>
          </a:prstGeom>
          <a:solidFill>
            <a:schemeClr val="accent3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447800"/>
            <a:ext cx="21335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Applications suggest how to improve technology, provide revenue to fund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76400"/>
            <a:ext cx="2133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Improved technologies make new applications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61035EF-36FE-5C47-9610-F958C9482DE5}" type="slidenum">
              <a:rPr lang="en-US"/>
              <a:pPr/>
              <a:t>5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648575" cy="831850"/>
          </a:xfrm>
        </p:spPr>
        <p:txBody>
          <a:bodyPr/>
          <a:lstStyle/>
          <a:p>
            <a:r>
              <a:rPr lang="en-US"/>
              <a:t>Computing Devices Then…</a:t>
            </a:r>
          </a:p>
        </p:txBody>
      </p:sp>
      <p:pic>
        <p:nvPicPr>
          <p:cNvPr id="1741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1850" y="806450"/>
            <a:ext cx="7480300" cy="531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5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057400" y="6172200"/>
            <a:ext cx="5335588" cy="282575"/>
          </a:xfrm>
        </p:spPr>
        <p:txBody>
          <a:bodyPr/>
          <a:lstStyle/>
          <a:p>
            <a:pPr marL="290513" indent="-290513" defTabSz="1006475">
              <a:buFontTx/>
              <a:buNone/>
              <a:tabLst>
                <a:tab pos="1146175" algn="l"/>
              </a:tabLst>
            </a:pPr>
            <a:r>
              <a:rPr lang="en-US" sz="1600" b="1"/>
              <a:t>EDSAC, University of Cambridge, UK, 1949</a:t>
            </a:r>
          </a:p>
        </p:txBody>
      </p:sp>
      <p:sp>
        <p:nvSpPr>
          <p:cNvPr id="17416" name="Text Box 5"/>
          <p:cNvSpPr txBox="1">
            <a:spLocks noChangeArrowheads="1"/>
          </p:cNvSpPr>
          <p:nvPr/>
        </p:nvSpPr>
        <p:spPr bwMode="auto">
          <a:xfrm>
            <a:off x="1087438" y="1149350"/>
            <a:ext cx="180975" cy="3937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2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550" y="2590800"/>
            <a:ext cx="2711450" cy="1476375"/>
          </a:xfrm>
          <a:prstGeom prst="rect">
            <a:avLst/>
          </a:prstGeom>
        </p:spPr>
      </p:pic>
      <p:pic>
        <p:nvPicPr>
          <p:cNvPr id="29" name="Picture 28" descr="Untit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201" y="1587500"/>
            <a:ext cx="3492799" cy="1231900"/>
          </a:xfrm>
          <a:prstGeom prst="rect">
            <a:avLst/>
          </a:prstGeom>
        </p:spPr>
      </p:pic>
      <p:pic>
        <p:nvPicPr>
          <p:cNvPr id="28" name="Picture 27" descr="Untit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600200"/>
            <a:ext cx="1524000" cy="2433183"/>
          </a:xfrm>
          <a:prstGeom prst="rect">
            <a:avLst/>
          </a:prstGeom>
        </p:spPr>
      </p:pic>
      <p:pic>
        <p:nvPicPr>
          <p:cNvPr id="30" name="Picture 29" descr="Untitl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3000" y="474056"/>
            <a:ext cx="1625600" cy="1581266"/>
          </a:xfrm>
          <a:prstGeom prst="rect">
            <a:avLst/>
          </a:prstGeom>
        </p:spPr>
      </p:pic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EDD617F-2122-704A-91F3-34581B8C94AE}" type="slidenum">
              <a:rPr lang="en-US"/>
              <a:pPr/>
              <a:t>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728075" cy="806450"/>
          </a:xfrm>
        </p:spPr>
        <p:txBody>
          <a:bodyPr/>
          <a:lstStyle/>
          <a:p>
            <a:r>
              <a:rPr lang="en-US"/>
              <a:t>Computing Devices Now</a:t>
            </a:r>
          </a:p>
        </p:txBody>
      </p:sp>
      <p:pic>
        <p:nvPicPr>
          <p:cNvPr id="19463" name="Picture 4" descr="sim_mokei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572000" y="4033838"/>
            <a:ext cx="4364038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870075" y="4033838"/>
            <a:ext cx="3255963" cy="236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Untitl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3738" y="3657600"/>
            <a:ext cx="2582862" cy="1146170"/>
          </a:xfrm>
          <a:prstGeom prst="rect">
            <a:avLst/>
          </a:prstGeom>
        </p:spPr>
      </p:pic>
      <p:pic>
        <p:nvPicPr>
          <p:cNvPr id="19466" name="Picture 27" descr="iphone_2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62000" y="3276600"/>
            <a:ext cx="1425575" cy="271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70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040562" y="1949450"/>
            <a:ext cx="2103438" cy="262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Picture 31" descr="Untitl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2427402"/>
            <a:ext cx="2362200" cy="1430224"/>
          </a:xfrm>
          <a:prstGeom prst="rect">
            <a:avLst/>
          </a:prstGeom>
        </p:spPr>
      </p:pic>
      <p:pic>
        <p:nvPicPr>
          <p:cNvPr id="1947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07963" y="673100"/>
            <a:ext cx="2216150" cy="89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73" name="Text Box 14"/>
          <p:cNvSpPr txBox="1">
            <a:spLocks noChangeArrowheads="1"/>
          </p:cNvSpPr>
          <p:nvPr/>
        </p:nvSpPr>
        <p:spPr bwMode="auto">
          <a:xfrm>
            <a:off x="6934200" y="4159250"/>
            <a:ext cx="159385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FFFF00"/>
                </a:solidFill>
              </a:rPr>
              <a:t>Robots</a:t>
            </a:r>
          </a:p>
        </p:txBody>
      </p:sp>
      <p:sp>
        <p:nvSpPr>
          <p:cNvPr id="19474" name="Text Box 15"/>
          <p:cNvSpPr txBox="1">
            <a:spLocks noChangeArrowheads="1"/>
          </p:cNvSpPr>
          <p:nvPr/>
        </p:nvSpPr>
        <p:spPr bwMode="auto">
          <a:xfrm>
            <a:off x="5334000" y="5988050"/>
            <a:ext cx="3255962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B3FFD5"/>
                </a:solidFill>
              </a:rPr>
              <a:t>Supercomputers</a:t>
            </a:r>
          </a:p>
        </p:txBody>
      </p:sp>
      <p:sp>
        <p:nvSpPr>
          <p:cNvPr id="19475" name="Text Box 16"/>
          <p:cNvSpPr txBox="1">
            <a:spLocks noChangeArrowheads="1"/>
          </p:cNvSpPr>
          <p:nvPr/>
        </p:nvSpPr>
        <p:spPr bwMode="auto">
          <a:xfrm>
            <a:off x="1939925" y="5641975"/>
            <a:ext cx="325596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>
                <a:solidFill>
                  <a:srgbClr val="FFFF00"/>
                </a:solidFill>
              </a:rPr>
              <a:t>Automobiles</a:t>
            </a:r>
          </a:p>
        </p:txBody>
      </p:sp>
      <p:sp>
        <p:nvSpPr>
          <p:cNvPr id="19476" name="Text Box 17"/>
          <p:cNvSpPr txBox="1">
            <a:spLocks noChangeArrowheads="1"/>
          </p:cNvSpPr>
          <p:nvPr/>
        </p:nvSpPr>
        <p:spPr bwMode="auto">
          <a:xfrm>
            <a:off x="2701925" y="2884488"/>
            <a:ext cx="166211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FFFF00"/>
                </a:solidFill>
              </a:rPr>
              <a:t>Laptops</a:t>
            </a:r>
          </a:p>
        </p:txBody>
      </p:sp>
      <p:sp>
        <p:nvSpPr>
          <p:cNvPr id="19477" name="Text Box 18"/>
          <p:cNvSpPr txBox="1">
            <a:spLocks noChangeArrowheads="1"/>
          </p:cNvSpPr>
          <p:nvPr/>
        </p:nvSpPr>
        <p:spPr bwMode="auto">
          <a:xfrm>
            <a:off x="3394075" y="1673225"/>
            <a:ext cx="1662113" cy="885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chemeClr val="tx1"/>
                </a:solidFill>
              </a:rPr>
              <a:t>Set-top boxes</a:t>
            </a:r>
          </a:p>
        </p:txBody>
      </p:sp>
      <p:sp>
        <p:nvSpPr>
          <p:cNvPr id="19479" name="Text Box 20"/>
          <p:cNvSpPr txBox="1">
            <a:spLocks noChangeArrowheads="1"/>
          </p:cNvSpPr>
          <p:nvPr/>
        </p:nvSpPr>
        <p:spPr bwMode="auto">
          <a:xfrm>
            <a:off x="685800" y="4267200"/>
            <a:ext cx="1593850" cy="9027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FFC997"/>
                </a:solidFill>
              </a:rPr>
              <a:t>Smart phones</a:t>
            </a:r>
          </a:p>
        </p:txBody>
      </p:sp>
      <p:sp>
        <p:nvSpPr>
          <p:cNvPr id="19480" name="Text Box 21"/>
          <p:cNvSpPr txBox="1">
            <a:spLocks noChangeArrowheads="1"/>
          </p:cNvSpPr>
          <p:nvPr/>
        </p:nvSpPr>
        <p:spPr bwMode="auto">
          <a:xfrm>
            <a:off x="5037137" y="2965704"/>
            <a:ext cx="1592263" cy="5011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FFB862"/>
                </a:solidFill>
              </a:rPr>
              <a:t>Servers</a:t>
            </a:r>
          </a:p>
        </p:txBody>
      </p:sp>
      <p:sp>
        <p:nvSpPr>
          <p:cNvPr id="19481" name="Text Box 22"/>
          <p:cNvSpPr txBox="1">
            <a:spLocks noChangeArrowheads="1"/>
          </p:cNvSpPr>
          <p:nvPr/>
        </p:nvSpPr>
        <p:spPr bwMode="auto">
          <a:xfrm>
            <a:off x="1143000" y="2543175"/>
            <a:ext cx="1593850" cy="885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chemeClr val="tx1"/>
                </a:solidFill>
              </a:rPr>
              <a:t>Media Players</a:t>
            </a:r>
          </a:p>
        </p:txBody>
      </p:sp>
      <p:sp>
        <p:nvSpPr>
          <p:cNvPr id="19482" name="Text Box 23"/>
          <p:cNvSpPr txBox="1">
            <a:spLocks noChangeArrowheads="1"/>
          </p:cNvSpPr>
          <p:nvPr/>
        </p:nvSpPr>
        <p:spPr bwMode="auto">
          <a:xfrm>
            <a:off x="138113" y="609600"/>
            <a:ext cx="235585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chemeClr val="bg1"/>
                </a:solidFill>
              </a:rPr>
              <a:t>Sensor Nets</a:t>
            </a:r>
          </a:p>
        </p:txBody>
      </p:sp>
      <p:sp>
        <p:nvSpPr>
          <p:cNvPr id="19484" name="Text Box 25"/>
          <p:cNvSpPr txBox="1">
            <a:spLocks noChangeArrowheads="1"/>
          </p:cNvSpPr>
          <p:nvPr/>
        </p:nvSpPr>
        <p:spPr bwMode="auto">
          <a:xfrm>
            <a:off x="5189537" y="4022725"/>
            <a:ext cx="1592263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chemeClr val="bg1"/>
                </a:solidFill>
              </a:rPr>
              <a:t>Routers</a:t>
            </a:r>
          </a:p>
        </p:txBody>
      </p:sp>
      <p:sp>
        <p:nvSpPr>
          <p:cNvPr id="19485" name="Text Box 26"/>
          <p:cNvSpPr txBox="1">
            <a:spLocks noChangeArrowheads="1"/>
          </p:cNvSpPr>
          <p:nvPr/>
        </p:nvSpPr>
        <p:spPr bwMode="auto">
          <a:xfrm>
            <a:off x="2355850" y="1069975"/>
            <a:ext cx="1800225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/>
              <a:t>Cameras</a:t>
            </a:r>
          </a:p>
        </p:txBody>
      </p:sp>
      <p:pic>
        <p:nvPicPr>
          <p:cNvPr id="31" name="Picture 30" descr="Untitl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9800" y="609600"/>
            <a:ext cx="1565275" cy="2317750"/>
          </a:xfrm>
          <a:prstGeom prst="rect">
            <a:avLst/>
          </a:prstGeom>
        </p:spPr>
      </p:pic>
      <p:sp>
        <p:nvSpPr>
          <p:cNvPr id="19478" name="Text Box 19"/>
          <p:cNvSpPr txBox="1">
            <a:spLocks noChangeArrowheads="1"/>
          </p:cNvSpPr>
          <p:nvPr/>
        </p:nvSpPr>
        <p:spPr bwMode="auto">
          <a:xfrm>
            <a:off x="5791200" y="1371600"/>
            <a:ext cx="1524000" cy="488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165" tIns="45583" rIns="91165" bIns="45583" anchor="ctr">
            <a:prstTxWarp prst="textNoShape">
              <a:avLst/>
            </a:prstTxWarp>
            <a:spAutoFit/>
          </a:bodyPr>
          <a:lstStyle/>
          <a:p>
            <a:pPr algn="ctr" defTabSz="820738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2900" b="1" dirty="0">
                <a:solidFill>
                  <a:srgbClr val="FF0000"/>
                </a:solidFill>
              </a:rPr>
              <a:t>Games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os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675" y="1231900"/>
            <a:ext cx="2266950" cy="210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Moore’s Law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698500" y="5603875"/>
            <a:ext cx="7969250" cy="7683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1600"/>
              <a:t>“Cramming More Components onto Integrated Circuits”</a:t>
            </a:r>
          </a:p>
          <a:p>
            <a:pPr lvl="1">
              <a:lnSpc>
                <a:spcPct val="80000"/>
              </a:lnSpc>
            </a:pPr>
            <a:r>
              <a:rPr lang="en-US" sz="1200"/>
              <a:t>Gordon Moore, Electronics, 1965</a:t>
            </a:r>
          </a:p>
          <a:p>
            <a:pPr>
              <a:lnSpc>
                <a:spcPct val="80000"/>
              </a:lnSpc>
            </a:pPr>
            <a:r>
              <a:rPr lang="en-US" sz="1600"/>
              <a:t># on transistors on cost-effective integrated circuit double every 18 months</a:t>
            </a:r>
          </a:p>
        </p:txBody>
      </p:sp>
      <p:pic>
        <p:nvPicPr>
          <p:cNvPr id="10245" name="Picture 5" descr="moo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44763" y="2760663"/>
            <a:ext cx="2740025" cy="271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 descr="moore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7500" y="3586163"/>
            <a:ext cx="21939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247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4783138" y="1144588"/>
          <a:ext cx="4289425" cy="292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2" name="Bitmap Image" r:id="rId6" imgW="5733333" imgH="3457143" progId="PBrush">
                  <p:embed/>
                </p:oleObj>
              </mc:Choice>
              <mc:Fallback>
                <p:oleObj name="Bitmap Image" r:id="rId6" imgW="5733333" imgH="3457143" progId="PBrush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138" y="1144588"/>
                        <a:ext cx="4289425" cy="292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7A141F-822E-2F48-B357-47932C45D01F}" type="slidenum">
              <a:rPr lang="en-US"/>
              <a:pPr/>
              <a:t>8</a:t>
            </a:fld>
            <a:endParaRPr lang="en-US" b="0">
              <a:solidFill>
                <a:srgbClr val="FBBA03"/>
              </a:solidFill>
            </a:endParaRPr>
          </a:p>
        </p:txBody>
      </p:sp>
      <p:graphicFrame>
        <p:nvGraphicFramePr>
          <p:cNvPr id="25602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0" y="1055688"/>
          <a:ext cx="9144000" cy="459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4" name="Chart" r:id="rId4" imgW="4086225" imgH="2247900" progId="Excel.Sheet.8">
                  <p:embed/>
                </p:oleObj>
              </mc:Choice>
              <mc:Fallback>
                <p:oleObj name="Chart" r:id="rId4" imgW="4086225" imgH="2247900" progId="Excel.Shee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55688"/>
                        <a:ext cx="9144000" cy="459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Rectangle 3"/>
          <p:cNvSpPr>
            <a:spLocks noGrp="1" noChangeArrowheads="1"/>
          </p:cNvSpPr>
          <p:nvPr>
            <p:ph type="title"/>
          </p:nvPr>
        </p:nvSpPr>
        <p:spPr>
          <a:xfrm>
            <a:off x="468313" y="163513"/>
            <a:ext cx="8513762" cy="1143000"/>
          </a:xfrm>
        </p:spPr>
        <p:txBody>
          <a:bodyPr/>
          <a:lstStyle/>
          <a:p>
            <a:r>
              <a:rPr lang="en-US" sz="3600" dirty="0" err="1"/>
              <a:t>Uniprocessor</a:t>
            </a:r>
            <a:r>
              <a:rPr lang="en-US" sz="3600" dirty="0"/>
              <a:t> Performance</a:t>
            </a:r>
          </a:p>
        </p:txBody>
      </p:sp>
      <p:sp>
        <p:nvSpPr>
          <p:cNvPr id="25607" name="Text Box 4"/>
          <p:cNvSpPr txBox="1">
            <a:spLocks noChangeArrowheads="1"/>
          </p:cNvSpPr>
          <p:nvPr/>
        </p:nvSpPr>
        <p:spPr bwMode="auto">
          <a:xfrm>
            <a:off x="2286000" y="5486400"/>
            <a:ext cx="4699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ea typeface="Arial" charset="0"/>
                <a:cs typeface="Arial" charset="0"/>
              </a:rPr>
              <a:t> VAX	        : 25%/year 1978 to 1986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ea typeface="Arial" charset="0"/>
                <a:cs typeface="Arial" charset="0"/>
              </a:rPr>
              <a:t> RISC + x86: 52%/year 1986 to 2002</a:t>
            </a:r>
          </a:p>
          <a:p>
            <a:pPr eaLnBrk="1" hangingPunct="1"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ea typeface="Arial" charset="0"/>
                <a:cs typeface="Arial" charset="0"/>
              </a:rPr>
              <a:t> RISC + x86: ??%/year 2002 to present</a:t>
            </a:r>
          </a:p>
        </p:txBody>
      </p:sp>
      <p:sp>
        <p:nvSpPr>
          <p:cNvPr id="25608" name="Text Box 5"/>
          <p:cNvSpPr txBox="1">
            <a:spLocks noChangeArrowheads="1"/>
          </p:cNvSpPr>
          <p:nvPr/>
        </p:nvSpPr>
        <p:spPr bwMode="auto">
          <a:xfrm>
            <a:off x="1323975" y="1412875"/>
            <a:ext cx="3454400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  <a:latin typeface="Times" charset="0"/>
              </a:rPr>
              <a:t>From Hennessy and Patterson, </a:t>
            </a:r>
            <a:r>
              <a:rPr lang="en-US" sz="1400" i="1">
                <a:solidFill>
                  <a:schemeClr val="tx1"/>
                </a:solidFill>
                <a:latin typeface="Times" charset="0"/>
              </a:rPr>
              <a:t>Computer Architecture: A Quantitative Approach</a:t>
            </a:r>
            <a:r>
              <a:rPr lang="en-US" sz="1400">
                <a:solidFill>
                  <a:schemeClr val="tx1"/>
                </a:solidFill>
                <a:latin typeface="Times" charset="0"/>
              </a:rPr>
              <a:t>, 4th edition, October, 2006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443538" y="1676400"/>
            <a:ext cx="3700462" cy="2119313"/>
            <a:chOff x="3429" y="1056"/>
            <a:chExt cx="2331" cy="1335"/>
          </a:xfrm>
        </p:grpSpPr>
        <p:sp>
          <p:nvSpPr>
            <p:cNvPr id="25610" name="Text Box 6"/>
            <p:cNvSpPr txBox="1">
              <a:spLocks noChangeArrowheads="1"/>
            </p:cNvSpPr>
            <p:nvPr/>
          </p:nvSpPr>
          <p:spPr bwMode="auto">
            <a:xfrm rot="-1836068">
              <a:off x="3429" y="2064"/>
              <a:ext cx="2331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800" b="1"/>
                <a:t>What happened????</a:t>
              </a:r>
            </a:p>
          </p:txBody>
        </p:sp>
        <p:sp>
          <p:nvSpPr>
            <p:cNvPr id="25611" name="Line 7"/>
            <p:cNvSpPr>
              <a:spLocks noChangeShapeType="1"/>
            </p:cNvSpPr>
            <p:nvPr/>
          </p:nvSpPr>
          <p:spPr bwMode="auto">
            <a:xfrm flipH="1" flipV="1">
              <a:off x="4992" y="1056"/>
              <a:ext cx="336" cy="576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</p:spPr>
          <p:txBody>
            <a:bodyPr anchor="ctr">
              <a:prstTxWarp prst="textNoShape">
                <a:avLst/>
              </a:prstTxWarp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68313"/>
            <a:ext cx="8458200" cy="584200"/>
          </a:xfrm>
        </p:spPr>
        <p:txBody>
          <a:bodyPr/>
          <a:lstStyle/>
          <a:p>
            <a:r>
              <a:rPr lang="en-US"/>
              <a:t>Limiting Force: Power Density</a:t>
            </a:r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 t="2179"/>
          <a:stretch>
            <a:fillRect/>
          </a:stretch>
        </p:blipFill>
        <p:spPr>
          <a:xfrm>
            <a:off x="547688" y="1139825"/>
            <a:ext cx="7391400" cy="5275263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C2A54D-D38A-6449-A27D-1BD4A1440DD2}" type="slidenum">
              <a:rPr lang="en-US" smtClean="0"/>
              <a:pPr>
                <a:defRPr/>
              </a:pPr>
              <a:t>10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4" name="Picture 3" descr="PPTMooresLaw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-457200"/>
            <a:ext cx="7391400" cy="743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0" y="5486400"/>
            <a:ext cx="15414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[from </a:t>
            </a:r>
            <a:r>
              <a:rPr lang="en-US" dirty="0" err="1">
                <a:solidFill>
                  <a:srgbClr val="000000"/>
                </a:solidFill>
              </a:rPr>
              <a:t>Kurzweil</a:t>
            </a:r>
            <a:r>
              <a:rPr lang="en-US" dirty="0">
                <a:solidFill>
                  <a:srgbClr val="000000"/>
                </a:solidFill>
              </a:rPr>
              <a:t>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057400"/>
            <a:ext cx="259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</a:rPr>
              <a:t>Major Technology Generations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3276600"/>
            <a:ext cx="823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Bipolar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800" y="3505200"/>
            <a:ext cx="766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nMOS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4600" y="312420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8800" y="3886200"/>
            <a:ext cx="7661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pMOS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4572000"/>
            <a:ext cx="8118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Relays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2400" y="3733800"/>
            <a:ext cx="9144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Vacuum Tubes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638800"/>
            <a:ext cx="1861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Electromechanical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391400" y="457200"/>
            <a:ext cx="990600" cy="1683180"/>
            <a:chOff x="7391400" y="457200"/>
            <a:chExt cx="990600" cy="1683180"/>
          </a:xfrm>
        </p:grpSpPr>
        <p:sp>
          <p:nvSpPr>
            <p:cNvPr id="6" name="TextBox 5"/>
            <p:cNvSpPr txBox="1"/>
            <p:nvPr/>
          </p:nvSpPr>
          <p:spPr>
            <a:xfrm>
              <a:off x="7391400" y="457200"/>
              <a:ext cx="9906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b="1" dirty="0">
                  <a:solidFill>
                    <a:schemeClr val="bg1"/>
                  </a:solidFill>
                </a:rPr>
                <a:t>?</a:t>
              </a:r>
              <a:endParaRPr lang="en-US" sz="60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Right Arrow 14"/>
            <p:cNvSpPr/>
            <p:nvPr/>
          </p:nvSpPr>
          <p:spPr bwMode="auto">
            <a:xfrm rot="19408684">
              <a:off x="7460111" y="1683180"/>
              <a:ext cx="685800" cy="457200"/>
            </a:xfrm>
            <a:prstGeom prst="rightArrow">
              <a:avLst/>
            </a:prstGeom>
            <a:solidFill>
              <a:schemeClr val="accent3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851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292975" cy="736600"/>
          </a:xfrm>
        </p:spPr>
        <p:txBody>
          <a:bodyPr/>
          <a:lstStyle/>
          <a:p>
            <a:r>
              <a:rPr lang="en-US" dirty="0"/>
              <a:t>Single-Thread Processor Performance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CF57F-8FEE-6846-9145-1DD1B72AB02C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4" descr="spec-perf-trend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90601"/>
            <a:ext cx="8475134" cy="586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6708349" y="3398081"/>
            <a:ext cx="4113760" cy="461657"/>
          </a:xfrm>
          <a:prstGeom prst="rect">
            <a:avLst/>
          </a:prstGeom>
          <a:noFill/>
        </p:spPr>
        <p:txBody>
          <a:bodyPr wrap="none" lIns="91432" tIns="45716" rIns="91432" bIns="45716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Calibri"/>
                <a:cs typeface="Calibri"/>
              </a:rPr>
              <a:t>[ Hennessy &amp; Patterson, 2017 ]</a:t>
            </a:r>
          </a:p>
        </p:txBody>
      </p:sp>
    </p:spTree>
    <p:extLst>
      <p:ext uri="{BB962C8B-B14F-4D97-AF65-F5344CB8AC3E}">
        <p14:creationId xmlns:p14="http://schemas.microsoft.com/office/powerpoint/2010/main" val="4076199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Upheaval in Computer Design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last 50 years, Moore’s Law ruled</a:t>
            </a:r>
          </a:p>
          <a:p>
            <a:pPr lvl="1"/>
            <a:r>
              <a:rPr lang="en-US" dirty="0"/>
              <a:t>Technology scaling allowed continual performance/energy improvements without changing software model</a:t>
            </a:r>
          </a:p>
          <a:p>
            <a:r>
              <a:rPr lang="en-US" dirty="0"/>
              <a:t>Last decade, technology scaling slowed/stopped</a:t>
            </a:r>
          </a:p>
          <a:p>
            <a:pPr lvl="1"/>
            <a:r>
              <a:rPr lang="en-US" dirty="0" err="1"/>
              <a:t>Dennard</a:t>
            </a:r>
            <a:r>
              <a:rPr lang="en-US" dirty="0"/>
              <a:t> (voltage) scaling over (supply voltage ~fixed)</a:t>
            </a:r>
          </a:p>
          <a:p>
            <a:pPr lvl="1"/>
            <a:r>
              <a:rPr lang="en-US" dirty="0"/>
              <a:t>Moore’s Law (cost/transistor) over?</a:t>
            </a:r>
          </a:p>
          <a:p>
            <a:pPr lvl="1"/>
            <a:r>
              <a:rPr lang="en-US" dirty="0"/>
              <a:t>No competitive replacement for CMOS anytime soon</a:t>
            </a:r>
          </a:p>
          <a:p>
            <a:pPr lvl="1"/>
            <a:r>
              <a:rPr lang="en-US" dirty="0"/>
              <a:t>Energy efficiency constrains everything</a:t>
            </a:r>
          </a:p>
          <a:p>
            <a:r>
              <a:rPr lang="en-US" dirty="0"/>
              <a:t>No “free lunch” for software developers, must consider:</a:t>
            </a:r>
          </a:p>
          <a:p>
            <a:pPr lvl="1"/>
            <a:r>
              <a:rPr lang="en-US" dirty="0"/>
              <a:t>Parallel systems</a:t>
            </a:r>
          </a:p>
          <a:p>
            <a:pPr lvl="1"/>
            <a:r>
              <a:rPr lang="en-US" dirty="0"/>
              <a:t>Heterogeneous systems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62800" y="6565900"/>
            <a:ext cx="1905000" cy="292100"/>
          </a:xfrm>
        </p:spPr>
        <p:txBody>
          <a:bodyPr/>
          <a:lstStyle/>
          <a:p>
            <a:pPr>
              <a:defRPr/>
            </a:pPr>
            <a:fld id="{A8C89C21-81C6-1849-AF7F-456E69B3BB35}" type="slidenum">
              <a:rPr lang="en-US" smtClean="0"/>
              <a:pPr>
                <a:defRPr/>
              </a:pPr>
              <a:t>12</a:t>
            </a:fld>
            <a:endParaRPr lang="en-US" b="0">
              <a:solidFill>
                <a:srgbClr val="FBBA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21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Dominant Target Systems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990600"/>
            <a:ext cx="7683500" cy="4927600"/>
          </a:xfrm>
        </p:spPr>
        <p:txBody>
          <a:bodyPr/>
          <a:lstStyle/>
          <a:p>
            <a:r>
              <a:rPr lang="en-US" dirty="0"/>
              <a:t>Mobile (smartphone/tablet)</a:t>
            </a:r>
          </a:p>
          <a:p>
            <a:pPr lvl="1"/>
            <a:r>
              <a:rPr lang="en-US" dirty="0"/>
              <a:t>&gt;1 billion sold/year</a:t>
            </a:r>
          </a:p>
          <a:p>
            <a:pPr lvl="1"/>
            <a:r>
              <a:rPr lang="en-US" dirty="0"/>
              <a:t>Market dominated by ARM-ISA-compatible general-purpose processor in system-on-a-chip (</a:t>
            </a:r>
            <a:r>
              <a:rPr lang="en-US" dirty="0" err="1"/>
              <a:t>SoC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Plus sea of custom accelerators (radio, image, video, graphics, audio, motion, location, security, etc.)</a:t>
            </a:r>
          </a:p>
          <a:p>
            <a:r>
              <a:rPr lang="en-US" dirty="0"/>
              <a:t>Warehouse-Scale Computers (WSCs)</a:t>
            </a:r>
          </a:p>
          <a:p>
            <a:pPr lvl="1"/>
            <a:r>
              <a:rPr lang="en-US" dirty="0"/>
              <a:t>100,000’s cores per warehouse</a:t>
            </a:r>
          </a:p>
          <a:p>
            <a:pPr lvl="1"/>
            <a:r>
              <a:rPr lang="en-US" dirty="0"/>
              <a:t>Market dominated by x86-compatible server chips</a:t>
            </a:r>
          </a:p>
          <a:p>
            <a:pPr lvl="1"/>
            <a:r>
              <a:rPr lang="en-US" dirty="0"/>
              <a:t>Dedicated apps, plus cloud hosting of virtual machines</a:t>
            </a:r>
          </a:p>
          <a:p>
            <a:pPr lvl="1"/>
            <a:r>
              <a:rPr lang="en-US" dirty="0"/>
              <a:t>Now seeing increasing use of GPUs, FPGAs, custom hardware to accelerate workloads</a:t>
            </a:r>
          </a:p>
          <a:p>
            <a:r>
              <a:rPr lang="en-US" dirty="0"/>
              <a:t>Embedded computing</a:t>
            </a:r>
          </a:p>
          <a:p>
            <a:pPr lvl="1"/>
            <a:r>
              <a:rPr lang="en-US" dirty="0"/>
              <a:t>Wired/wireless network infrastructure, printers</a:t>
            </a:r>
          </a:p>
          <a:p>
            <a:pPr lvl="1"/>
            <a:r>
              <a:rPr lang="en-US" dirty="0"/>
              <a:t>Consumer TV/Music/Games/Automotive/Camera/MP3</a:t>
            </a:r>
          </a:p>
          <a:p>
            <a:pPr lvl="1"/>
            <a:r>
              <a:rPr lang="en-US" dirty="0"/>
              <a:t>Internet of Things!</a:t>
            </a:r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162800" y="6565900"/>
            <a:ext cx="1905000" cy="292100"/>
          </a:xfrm>
        </p:spPr>
        <p:txBody>
          <a:bodyPr/>
          <a:lstStyle/>
          <a:p>
            <a:fld id="{890A75C8-C148-D646-81FC-1D13FFF086F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61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9FFFB8-F710-4F4C-BACE-798B96DEEBF0}" type="slidenum">
              <a:rPr lang="en-US"/>
              <a:pPr/>
              <a:t>14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3048000"/>
            <a:ext cx="7543800" cy="1143000"/>
          </a:xfrm>
          <a:noFill/>
        </p:spPr>
        <p:txBody>
          <a:bodyPr lIns="90488" tIns="44450" rIns="90488" bIns="44450"/>
          <a:lstStyle/>
          <a:p>
            <a:pPr algn="ctr"/>
            <a:r>
              <a:rPr lang="en-US" dirty="0"/>
              <a:t>A Simple RISC Processor</a:t>
            </a:r>
            <a:br>
              <a:rPr lang="en-US" dirty="0"/>
            </a:br>
            <a:r>
              <a:rPr lang="en-US" sz="2400" dirty="0"/>
              <a:t>Basic Building Blocks</a:t>
            </a:r>
            <a:br>
              <a:rPr lang="en-US" dirty="0"/>
            </a:br>
            <a:br>
              <a:rPr lang="en-US" dirty="0"/>
            </a:br>
            <a:endParaRPr lang="en-US" sz="28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66700"/>
            <a:ext cx="8839200" cy="822325"/>
          </a:xfrm>
          <a:noFill/>
        </p:spPr>
        <p:txBody>
          <a:bodyPr anchor="b"/>
          <a:lstStyle/>
          <a:p>
            <a:r>
              <a:rPr lang="en-US"/>
              <a:t>Hardware Elements</a:t>
            </a:r>
            <a:endParaRPr lang="en-US" sz="2000"/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1788" y="1219200"/>
            <a:ext cx="6907212" cy="839788"/>
          </a:xfrm>
          <a:noFill/>
        </p:spPr>
        <p:txBody>
          <a:bodyPr/>
          <a:lstStyle/>
          <a:p>
            <a:r>
              <a:rPr lang="en-US" dirty="0"/>
              <a:t>Combinational circuits</a:t>
            </a:r>
          </a:p>
          <a:p>
            <a:pPr lvl="1"/>
            <a:r>
              <a:rPr lang="en-US" dirty="0" err="1"/>
              <a:t>Mux</a:t>
            </a:r>
            <a:r>
              <a:rPr lang="en-US" dirty="0"/>
              <a:t>, </a:t>
            </a:r>
            <a:r>
              <a:rPr lang="en-US" dirty="0" err="1"/>
              <a:t>Demux</a:t>
            </a:r>
            <a:r>
              <a:rPr lang="en-US" dirty="0"/>
              <a:t>, ALU, ...</a:t>
            </a:r>
          </a:p>
        </p:txBody>
      </p:sp>
      <p:sp>
        <p:nvSpPr>
          <p:cNvPr id="1210372" name="Rectangle 4"/>
          <p:cNvSpPr>
            <a:spLocks noChangeArrowheads="1"/>
          </p:cNvSpPr>
          <p:nvPr/>
        </p:nvSpPr>
        <p:spPr bwMode="auto">
          <a:xfrm>
            <a:off x="304800" y="3581400"/>
            <a:ext cx="6907213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Synchronous state elements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Flipflop, Register, Register file, SRAM, DRAM</a:t>
            </a:r>
          </a:p>
        </p:txBody>
      </p:sp>
      <p:sp>
        <p:nvSpPr>
          <p:cNvPr id="1210373" name="Rectangle 5"/>
          <p:cNvSpPr>
            <a:spLocks noChangeArrowheads="1"/>
          </p:cNvSpPr>
          <p:nvPr/>
        </p:nvSpPr>
        <p:spPr bwMode="auto">
          <a:xfrm>
            <a:off x="914400" y="6159500"/>
            <a:ext cx="668178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>
                <a:solidFill>
                  <a:srgbClr val="56127A"/>
                </a:solidFill>
                <a:latin typeface="Verdana" charset="0"/>
              </a:rPr>
              <a:t>Edge-triggered: Data is sampled at the rising edge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114550" y="4424363"/>
            <a:ext cx="4833938" cy="1624012"/>
            <a:chOff x="104" y="2769"/>
            <a:chExt cx="3045" cy="1023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248" y="2769"/>
              <a:ext cx="1901" cy="1023"/>
              <a:chOff x="53" y="2587"/>
              <a:chExt cx="2908" cy="1023"/>
            </a:xfrm>
          </p:grpSpPr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53" y="2657"/>
                <a:ext cx="2908" cy="953"/>
                <a:chOff x="53" y="2657"/>
                <a:chExt cx="2908" cy="953"/>
              </a:xfrm>
            </p:grpSpPr>
            <p:sp>
              <p:nvSpPr>
                <p:cNvPr id="44104" name="Freeform 9"/>
                <p:cNvSpPr>
                  <a:spLocks/>
                </p:cNvSpPr>
                <p:nvPr/>
              </p:nvSpPr>
              <p:spPr bwMode="auto">
                <a:xfrm>
                  <a:off x="460" y="2670"/>
                  <a:ext cx="2422" cy="150"/>
                </a:xfrm>
                <a:custGeom>
                  <a:avLst/>
                  <a:gdLst>
                    <a:gd name="T0" fmla="*/ 0 w 2422"/>
                    <a:gd name="T1" fmla="*/ 149 h 150"/>
                    <a:gd name="T2" fmla="*/ 295 w 2422"/>
                    <a:gd name="T3" fmla="*/ 149 h 150"/>
                    <a:gd name="T4" fmla="*/ 295 w 2422"/>
                    <a:gd name="T5" fmla="*/ 0 h 150"/>
                    <a:gd name="T6" fmla="*/ 650 w 2422"/>
                    <a:gd name="T7" fmla="*/ 0 h 150"/>
                    <a:gd name="T8" fmla="*/ 650 w 2422"/>
                    <a:gd name="T9" fmla="*/ 149 h 150"/>
                    <a:gd name="T10" fmla="*/ 1004 w 2422"/>
                    <a:gd name="T11" fmla="*/ 149 h 150"/>
                    <a:gd name="T12" fmla="*/ 1004 w 2422"/>
                    <a:gd name="T13" fmla="*/ 0 h 150"/>
                    <a:gd name="T14" fmla="*/ 1358 w 2422"/>
                    <a:gd name="T15" fmla="*/ 0 h 150"/>
                    <a:gd name="T16" fmla="*/ 1358 w 2422"/>
                    <a:gd name="T17" fmla="*/ 149 h 150"/>
                    <a:gd name="T18" fmla="*/ 1712 w 2422"/>
                    <a:gd name="T19" fmla="*/ 149 h 150"/>
                    <a:gd name="T20" fmla="*/ 1712 w 2422"/>
                    <a:gd name="T21" fmla="*/ 0 h 150"/>
                    <a:gd name="T22" fmla="*/ 2067 w 2422"/>
                    <a:gd name="T23" fmla="*/ 0 h 150"/>
                    <a:gd name="T24" fmla="*/ 2067 w 2422"/>
                    <a:gd name="T25" fmla="*/ 149 h 150"/>
                    <a:gd name="T26" fmla="*/ 2421 w 2422"/>
                    <a:gd name="T27" fmla="*/ 149 h 150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2422"/>
                    <a:gd name="T43" fmla="*/ 0 h 150"/>
                    <a:gd name="T44" fmla="*/ 2422 w 2422"/>
                    <a:gd name="T45" fmla="*/ 150 h 150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2422" h="150">
                      <a:moveTo>
                        <a:pt x="0" y="149"/>
                      </a:moveTo>
                      <a:lnTo>
                        <a:pt x="295" y="149"/>
                      </a:lnTo>
                      <a:lnTo>
                        <a:pt x="295" y="0"/>
                      </a:lnTo>
                      <a:lnTo>
                        <a:pt x="650" y="0"/>
                      </a:lnTo>
                      <a:lnTo>
                        <a:pt x="650" y="149"/>
                      </a:lnTo>
                      <a:lnTo>
                        <a:pt x="1004" y="149"/>
                      </a:lnTo>
                      <a:lnTo>
                        <a:pt x="1004" y="0"/>
                      </a:lnTo>
                      <a:lnTo>
                        <a:pt x="1358" y="0"/>
                      </a:lnTo>
                      <a:lnTo>
                        <a:pt x="1358" y="149"/>
                      </a:lnTo>
                      <a:lnTo>
                        <a:pt x="1712" y="149"/>
                      </a:lnTo>
                      <a:lnTo>
                        <a:pt x="1712" y="0"/>
                      </a:lnTo>
                      <a:lnTo>
                        <a:pt x="2067" y="0"/>
                      </a:lnTo>
                      <a:lnTo>
                        <a:pt x="2067" y="149"/>
                      </a:lnTo>
                      <a:lnTo>
                        <a:pt x="2421" y="149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05" name="Rectangle 10"/>
                <p:cNvSpPr>
                  <a:spLocks noChangeArrowheads="1"/>
                </p:cNvSpPr>
                <p:nvPr/>
              </p:nvSpPr>
              <p:spPr bwMode="auto">
                <a:xfrm>
                  <a:off x="53" y="2657"/>
                  <a:ext cx="554" cy="22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>
                      <a:solidFill>
                        <a:srgbClr val="56127A"/>
                      </a:solidFill>
                    </a:rPr>
                    <a:t>Clk </a:t>
                  </a:r>
                </a:p>
              </p:txBody>
            </p:sp>
            <p:sp>
              <p:nvSpPr>
                <p:cNvPr id="44106" name="Rectangle 11"/>
                <p:cNvSpPr>
                  <a:spLocks noChangeArrowheads="1"/>
                </p:cNvSpPr>
                <p:nvPr/>
              </p:nvSpPr>
              <p:spPr bwMode="auto">
                <a:xfrm>
                  <a:off x="165" y="3134"/>
                  <a:ext cx="333" cy="22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>
                      <a:solidFill>
                        <a:srgbClr val="56127A"/>
                      </a:solidFill>
                    </a:rPr>
                    <a:t>D</a:t>
                  </a:r>
                </a:p>
              </p:txBody>
            </p:sp>
            <p:sp>
              <p:nvSpPr>
                <p:cNvPr id="44107" name="Rectangle 12"/>
                <p:cNvSpPr>
                  <a:spLocks noChangeArrowheads="1"/>
                </p:cNvSpPr>
                <p:nvPr/>
              </p:nvSpPr>
              <p:spPr bwMode="auto">
                <a:xfrm>
                  <a:off x="160" y="3381"/>
                  <a:ext cx="346" cy="22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>
                      <a:solidFill>
                        <a:srgbClr val="56127A"/>
                      </a:solidFill>
                    </a:rPr>
                    <a:t>Q</a:t>
                  </a:r>
                </a:p>
              </p:txBody>
            </p:sp>
            <p:sp>
              <p:nvSpPr>
                <p:cNvPr id="44108" name="Freeform 13"/>
                <p:cNvSpPr>
                  <a:spLocks/>
                </p:cNvSpPr>
                <p:nvPr/>
              </p:nvSpPr>
              <p:spPr bwMode="auto">
                <a:xfrm>
                  <a:off x="450" y="3387"/>
                  <a:ext cx="2511" cy="157"/>
                </a:xfrm>
                <a:custGeom>
                  <a:avLst/>
                  <a:gdLst>
                    <a:gd name="T0" fmla="*/ 0 w 2511"/>
                    <a:gd name="T1" fmla="*/ 156 h 157"/>
                    <a:gd name="T2" fmla="*/ 1053 w 2511"/>
                    <a:gd name="T3" fmla="*/ 156 h 157"/>
                    <a:gd name="T4" fmla="*/ 1112 w 2511"/>
                    <a:gd name="T5" fmla="*/ 0 h 157"/>
                    <a:gd name="T6" fmla="*/ 2510 w 2511"/>
                    <a:gd name="T7" fmla="*/ 0 h 15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11"/>
                    <a:gd name="T13" fmla="*/ 0 h 157"/>
                    <a:gd name="T14" fmla="*/ 2511 w 2511"/>
                    <a:gd name="T15" fmla="*/ 157 h 15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11" h="157">
                      <a:moveTo>
                        <a:pt x="0" y="156"/>
                      </a:moveTo>
                      <a:lnTo>
                        <a:pt x="1053" y="156"/>
                      </a:lnTo>
                      <a:lnTo>
                        <a:pt x="1112" y="0"/>
                      </a:lnTo>
                      <a:lnTo>
                        <a:pt x="2510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09" name="Freeform 14"/>
                <p:cNvSpPr>
                  <a:spLocks/>
                </p:cNvSpPr>
                <p:nvPr/>
              </p:nvSpPr>
              <p:spPr bwMode="auto">
                <a:xfrm>
                  <a:off x="450" y="3140"/>
                  <a:ext cx="2481" cy="149"/>
                </a:xfrm>
                <a:custGeom>
                  <a:avLst/>
                  <a:gdLst>
                    <a:gd name="T0" fmla="*/ 0 w 2481"/>
                    <a:gd name="T1" fmla="*/ 148 h 149"/>
                    <a:gd name="T2" fmla="*/ 118 w 2481"/>
                    <a:gd name="T3" fmla="*/ 148 h 149"/>
                    <a:gd name="T4" fmla="*/ 177 w 2481"/>
                    <a:gd name="T5" fmla="*/ 0 h 149"/>
                    <a:gd name="T6" fmla="*/ 1476 w 2481"/>
                    <a:gd name="T7" fmla="*/ 0 h 149"/>
                    <a:gd name="T8" fmla="*/ 1535 w 2481"/>
                    <a:gd name="T9" fmla="*/ 148 h 149"/>
                    <a:gd name="T10" fmla="*/ 2480 w 2481"/>
                    <a:gd name="T11" fmla="*/ 148 h 14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81"/>
                    <a:gd name="T19" fmla="*/ 0 h 149"/>
                    <a:gd name="T20" fmla="*/ 2481 w 2481"/>
                    <a:gd name="T21" fmla="*/ 149 h 14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81" h="149">
                      <a:moveTo>
                        <a:pt x="0" y="148"/>
                      </a:moveTo>
                      <a:lnTo>
                        <a:pt x="118" y="148"/>
                      </a:lnTo>
                      <a:lnTo>
                        <a:pt x="177" y="0"/>
                      </a:lnTo>
                      <a:lnTo>
                        <a:pt x="1476" y="0"/>
                      </a:lnTo>
                      <a:lnTo>
                        <a:pt x="1535" y="148"/>
                      </a:lnTo>
                      <a:lnTo>
                        <a:pt x="2480" y="148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10" name="Freeform 15"/>
                <p:cNvSpPr>
                  <a:spLocks/>
                </p:cNvSpPr>
                <p:nvPr/>
              </p:nvSpPr>
              <p:spPr bwMode="auto">
                <a:xfrm>
                  <a:off x="509" y="2893"/>
                  <a:ext cx="2363" cy="149"/>
                </a:xfrm>
                <a:custGeom>
                  <a:avLst/>
                  <a:gdLst>
                    <a:gd name="T0" fmla="*/ 0 w 2363"/>
                    <a:gd name="T1" fmla="*/ 148 h 149"/>
                    <a:gd name="T2" fmla="*/ 768 w 2363"/>
                    <a:gd name="T3" fmla="*/ 148 h 149"/>
                    <a:gd name="T4" fmla="*/ 827 w 2363"/>
                    <a:gd name="T5" fmla="*/ 0 h 149"/>
                    <a:gd name="T6" fmla="*/ 1476 w 2363"/>
                    <a:gd name="T7" fmla="*/ 0 h 149"/>
                    <a:gd name="T8" fmla="*/ 1535 w 2363"/>
                    <a:gd name="T9" fmla="*/ 148 h 149"/>
                    <a:gd name="T10" fmla="*/ 2362 w 2363"/>
                    <a:gd name="T11" fmla="*/ 148 h 14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363"/>
                    <a:gd name="T19" fmla="*/ 0 h 149"/>
                    <a:gd name="T20" fmla="*/ 2363 w 2363"/>
                    <a:gd name="T21" fmla="*/ 149 h 14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363" h="149">
                      <a:moveTo>
                        <a:pt x="0" y="148"/>
                      </a:moveTo>
                      <a:lnTo>
                        <a:pt x="768" y="148"/>
                      </a:lnTo>
                      <a:lnTo>
                        <a:pt x="827" y="0"/>
                      </a:lnTo>
                      <a:lnTo>
                        <a:pt x="1476" y="0"/>
                      </a:lnTo>
                      <a:lnTo>
                        <a:pt x="1535" y="148"/>
                      </a:lnTo>
                      <a:lnTo>
                        <a:pt x="2362" y="148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4111" name="Rectangle 16"/>
                <p:cNvSpPr>
                  <a:spLocks noChangeArrowheads="1"/>
                </p:cNvSpPr>
                <p:nvPr/>
              </p:nvSpPr>
              <p:spPr bwMode="auto">
                <a:xfrm>
                  <a:off x="53" y="2904"/>
                  <a:ext cx="444" cy="229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>
                      <a:solidFill>
                        <a:srgbClr val="56127A"/>
                      </a:solidFill>
                    </a:rPr>
                    <a:t>En</a:t>
                  </a:r>
                </a:p>
              </p:txBody>
            </p:sp>
          </p:grpSp>
          <p:sp>
            <p:nvSpPr>
              <p:cNvPr id="44101" name="Line 17"/>
              <p:cNvSpPr>
                <a:spLocks noChangeShapeType="1"/>
              </p:cNvSpPr>
              <p:nvPr/>
            </p:nvSpPr>
            <p:spPr bwMode="auto">
              <a:xfrm>
                <a:off x="739" y="2609"/>
                <a:ext cx="0" cy="996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02" name="Line 18"/>
              <p:cNvSpPr>
                <a:spLocks noChangeShapeType="1"/>
              </p:cNvSpPr>
              <p:nvPr/>
            </p:nvSpPr>
            <p:spPr bwMode="auto">
              <a:xfrm>
                <a:off x="1448" y="2598"/>
                <a:ext cx="0" cy="996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103" name="Line 19"/>
              <p:cNvSpPr>
                <a:spLocks noChangeShapeType="1"/>
              </p:cNvSpPr>
              <p:nvPr/>
            </p:nvSpPr>
            <p:spPr bwMode="auto">
              <a:xfrm>
                <a:off x="2157" y="2587"/>
                <a:ext cx="0" cy="996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oup 20"/>
            <p:cNvGrpSpPr>
              <a:grpSpLocks/>
            </p:cNvGrpSpPr>
            <p:nvPr/>
          </p:nvGrpSpPr>
          <p:grpSpPr bwMode="auto">
            <a:xfrm>
              <a:off x="104" y="2796"/>
              <a:ext cx="883" cy="996"/>
              <a:chOff x="200" y="2976"/>
              <a:chExt cx="883" cy="996"/>
            </a:xfrm>
          </p:grpSpPr>
          <p:sp>
            <p:nvSpPr>
              <p:cNvPr id="44089" name="Rectangle 21"/>
              <p:cNvSpPr>
                <a:spLocks noChangeArrowheads="1"/>
              </p:cNvSpPr>
              <p:nvPr/>
            </p:nvSpPr>
            <p:spPr bwMode="auto">
              <a:xfrm>
                <a:off x="640" y="3296"/>
                <a:ext cx="443" cy="3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 eaLnBrk="1" hangingPunct="1">
                  <a:spcBef>
                    <a:spcPct val="0"/>
                  </a:spcBef>
                </a:pPr>
                <a:endParaRPr lang="en-US" sz="2400">
                  <a:solidFill>
                    <a:schemeClr val="tx1"/>
                  </a:solidFill>
                  <a:latin typeface="Courier New" charset="0"/>
                </a:endParaRPr>
              </a:p>
            </p:txBody>
          </p:sp>
          <p:sp>
            <p:nvSpPr>
              <p:cNvPr id="44090" name="Rectangle 22"/>
              <p:cNvSpPr>
                <a:spLocks noChangeArrowheads="1"/>
              </p:cNvSpPr>
              <p:nvPr/>
            </p:nvSpPr>
            <p:spPr bwMode="auto">
              <a:xfrm>
                <a:off x="776" y="3360"/>
                <a:ext cx="194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ff</a:t>
                </a:r>
              </a:p>
            </p:txBody>
          </p:sp>
          <p:sp>
            <p:nvSpPr>
              <p:cNvPr id="44091" name="Freeform 23"/>
              <p:cNvSpPr>
                <a:spLocks/>
              </p:cNvSpPr>
              <p:nvPr/>
            </p:nvSpPr>
            <p:spPr bwMode="auto">
              <a:xfrm>
                <a:off x="651" y="3479"/>
                <a:ext cx="97" cy="193"/>
              </a:xfrm>
              <a:custGeom>
                <a:avLst/>
                <a:gdLst>
                  <a:gd name="T0" fmla="*/ 0 w 97"/>
                  <a:gd name="T1" fmla="*/ 0 h 193"/>
                  <a:gd name="T2" fmla="*/ 96 w 97"/>
                  <a:gd name="T3" fmla="*/ 96 h 193"/>
                  <a:gd name="T4" fmla="*/ 0 w 97"/>
                  <a:gd name="T5" fmla="*/ 192 h 193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193"/>
                  <a:gd name="T11" fmla="*/ 97 w 97"/>
                  <a:gd name="T12" fmla="*/ 193 h 1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193">
                    <a:moveTo>
                      <a:pt x="0" y="0"/>
                    </a:moveTo>
                    <a:lnTo>
                      <a:pt x="96" y="96"/>
                    </a:lnTo>
                    <a:lnTo>
                      <a:pt x="0" y="192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92" name="Line 24"/>
              <p:cNvSpPr>
                <a:spLocks noChangeShapeType="1"/>
              </p:cNvSpPr>
              <p:nvPr/>
            </p:nvSpPr>
            <p:spPr bwMode="auto">
              <a:xfrm>
                <a:off x="480" y="3600"/>
                <a:ext cx="17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93" name="Line 25"/>
              <p:cNvSpPr>
                <a:spLocks noChangeShapeType="1"/>
              </p:cNvSpPr>
              <p:nvPr/>
            </p:nvSpPr>
            <p:spPr bwMode="auto">
              <a:xfrm flipV="1">
                <a:off x="480" y="3408"/>
                <a:ext cx="17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94" name="Rectangle 26"/>
              <p:cNvSpPr>
                <a:spLocks noChangeArrowheads="1"/>
              </p:cNvSpPr>
              <p:nvPr/>
            </p:nvSpPr>
            <p:spPr bwMode="auto">
              <a:xfrm>
                <a:off x="759" y="3743"/>
                <a:ext cx="226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Q</a:t>
                </a:r>
              </a:p>
            </p:txBody>
          </p:sp>
          <p:sp>
            <p:nvSpPr>
              <p:cNvPr id="44095" name="Rectangle 27"/>
              <p:cNvSpPr>
                <a:spLocks noChangeArrowheads="1"/>
              </p:cNvSpPr>
              <p:nvPr/>
            </p:nvSpPr>
            <p:spPr bwMode="auto">
              <a:xfrm>
                <a:off x="768" y="2976"/>
                <a:ext cx="218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D</a:t>
                </a:r>
              </a:p>
            </p:txBody>
          </p:sp>
          <p:sp>
            <p:nvSpPr>
              <p:cNvPr id="44096" name="Rectangle 28"/>
              <p:cNvSpPr>
                <a:spLocks noChangeArrowheads="1"/>
              </p:cNvSpPr>
              <p:nvPr/>
            </p:nvSpPr>
            <p:spPr bwMode="auto">
              <a:xfrm>
                <a:off x="200" y="3467"/>
                <a:ext cx="322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44097" name="Line 29"/>
              <p:cNvSpPr>
                <a:spLocks noChangeShapeType="1"/>
              </p:cNvSpPr>
              <p:nvPr/>
            </p:nvSpPr>
            <p:spPr bwMode="auto">
              <a:xfrm>
                <a:off x="865" y="3157"/>
                <a:ext cx="0" cy="1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98" name="Rectangle 30"/>
              <p:cNvSpPr>
                <a:spLocks noChangeArrowheads="1"/>
              </p:cNvSpPr>
              <p:nvPr/>
            </p:nvSpPr>
            <p:spPr bwMode="auto">
              <a:xfrm>
                <a:off x="234" y="3264"/>
                <a:ext cx="290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En</a:t>
                </a:r>
              </a:p>
            </p:txBody>
          </p:sp>
          <p:sp>
            <p:nvSpPr>
              <p:cNvPr id="44099" name="Line 31"/>
              <p:cNvSpPr>
                <a:spLocks noChangeShapeType="1"/>
              </p:cNvSpPr>
              <p:nvPr/>
            </p:nvSpPr>
            <p:spPr bwMode="auto">
              <a:xfrm>
                <a:off x="864" y="3662"/>
                <a:ext cx="0" cy="1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6251575" y="1447800"/>
            <a:ext cx="2844800" cy="2106613"/>
            <a:chOff x="3792" y="929"/>
            <a:chExt cx="1792" cy="1327"/>
          </a:xfrm>
        </p:grpSpPr>
        <p:grpSp>
          <p:nvGrpSpPr>
            <p:cNvPr id="7" name="Group 33"/>
            <p:cNvGrpSpPr>
              <a:grpSpLocks/>
            </p:cNvGrpSpPr>
            <p:nvPr/>
          </p:nvGrpSpPr>
          <p:grpSpPr bwMode="auto">
            <a:xfrm>
              <a:off x="3932" y="1159"/>
              <a:ext cx="926" cy="1097"/>
              <a:chOff x="3932" y="1159"/>
              <a:chExt cx="926" cy="1097"/>
            </a:xfrm>
          </p:grpSpPr>
          <p:sp>
            <p:nvSpPr>
              <p:cNvPr id="44081" name="Freeform 34"/>
              <p:cNvSpPr>
                <a:spLocks/>
              </p:cNvSpPr>
              <p:nvPr/>
            </p:nvSpPr>
            <p:spPr bwMode="auto">
              <a:xfrm flipV="1">
                <a:off x="4148" y="1465"/>
                <a:ext cx="482" cy="791"/>
              </a:xfrm>
              <a:custGeom>
                <a:avLst/>
                <a:gdLst>
                  <a:gd name="T0" fmla="*/ 0 w 961"/>
                  <a:gd name="T1" fmla="*/ 0 h 1652"/>
                  <a:gd name="T2" fmla="*/ 960 w 961"/>
                  <a:gd name="T3" fmla="*/ 307 h 1652"/>
                  <a:gd name="T4" fmla="*/ 960 w 961"/>
                  <a:gd name="T5" fmla="*/ 1190 h 1652"/>
                  <a:gd name="T6" fmla="*/ 0 w 961"/>
                  <a:gd name="T7" fmla="*/ 1651 h 1652"/>
                  <a:gd name="T8" fmla="*/ 0 w 961"/>
                  <a:gd name="T9" fmla="*/ 960 h 1652"/>
                  <a:gd name="T10" fmla="*/ 192 w 961"/>
                  <a:gd name="T11" fmla="*/ 806 h 1652"/>
                  <a:gd name="T12" fmla="*/ 0 w 961"/>
                  <a:gd name="T13" fmla="*/ 691 h 1652"/>
                  <a:gd name="T14" fmla="*/ 0 w 961"/>
                  <a:gd name="T15" fmla="*/ 0 h 165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61"/>
                  <a:gd name="T25" fmla="*/ 0 h 1652"/>
                  <a:gd name="T26" fmla="*/ 961 w 961"/>
                  <a:gd name="T27" fmla="*/ 1652 h 1652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61" h="1652">
                    <a:moveTo>
                      <a:pt x="0" y="0"/>
                    </a:moveTo>
                    <a:lnTo>
                      <a:pt x="960" y="307"/>
                    </a:lnTo>
                    <a:lnTo>
                      <a:pt x="960" y="1190"/>
                    </a:lnTo>
                    <a:lnTo>
                      <a:pt x="0" y="1651"/>
                    </a:lnTo>
                    <a:lnTo>
                      <a:pt x="0" y="960"/>
                    </a:lnTo>
                    <a:lnTo>
                      <a:pt x="192" y="806"/>
                    </a:lnTo>
                    <a:lnTo>
                      <a:pt x="0" y="691"/>
                    </a:lnTo>
                    <a:lnTo>
                      <a:pt x="0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82" name="Line 35"/>
              <p:cNvSpPr>
                <a:spLocks noChangeShapeType="1"/>
              </p:cNvSpPr>
              <p:nvPr/>
            </p:nvSpPr>
            <p:spPr bwMode="auto">
              <a:xfrm flipV="1">
                <a:off x="3932" y="2049"/>
                <a:ext cx="223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83" name="Line 36"/>
              <p:cNvSpPr>
                <a:spLocks noChangeShapeType="1"/>
              </p:cNvSpPr>
              <p:nvPr/>
            </p:nvSpPr>
            <p:spPr bwMode="auto">
              <a:xfrm flipV="1">
                <a:off x="3932" y="1634"/>
                <a:ext cx="20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84" name="Line 37"/>
              <p:cNvSpPr>
                <a:spLocks noChangeShapeType="1"/>
              </p:cNvSpPr>
              <p:nvPr/>
            </p:nvSpPr>
            <p:spPr bwMode="auto">
              <a:xfrm flipV="1">
                <a:off x="4634" y="2004"/>
                <a:ext cx="2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85" name="Line 38"/>
              <p:cNvSpPr>
                <a:spLocks noChangeShapeType="1"/>
              </p:cNvSpPr>
              <p:nvPr/>
            </p:nvSpPr>
            <p:spPr bwMode="auto">
              <a:xfrm flipV="1">
                <a:off x="4634" y="177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086" name="Line 39"/>
              <p:cNvSpPr>
                <a:spLocks noChangeShapeType="1"/>
              </p:cNvSpPr>
              <p:nvPr/>
            </p:nvSpPr>
            <p:spPr bwMode="auto">
              <a:xfrm>
                <a:off x="4379" y="1159"/>
                <a:ext cx="0" cy="41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4075" name="Rectangle 40"/>
            <p:cNvSpPr>
              <a:spLocks noChangeArrowheads="1"/>
            </p:cNvSpPr>
            <p:nvPr/>
          </p:nvSpPr>
          <p:spPr bwMode="auto">
            <a:xfrm>
              <a:off x="4231" y="929"/>
              <a:ext cx="1353" cy="65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73025" tIns="36512" rIns="73025" bIns="36512">
              <a:prstTxWarp prst="textNoShape">
                <a:avLst/>
              </a:prstTxWarp>
              <a:spAutoFit/>
            </a:bodyPr>
            <a:lstStyle/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OpSelect</a:t>
              </a:r>
            </a:p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    </a:t>
              </a: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 - Add, Sub, ...</a:t>
              </a:r>
            </a:p>
            <a:p>
              <a:pPr defTabSz="585788"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     - And, Or, Xor, Not, ...</a:t>
              </a:r>
            </a:p>
            <a:p>
              <a:pPr defTabSz="585788"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     - GT, LT, EQ, Zero, ...</a:t>
              </a:r>
            </a:p>
            <a:p>
              <a:pPr defTabSz="585788"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    </a:t>
              </a:r>
            </a:p>
          </p:txBody>
        </p:sp>
        <p:sp>
          <p:nvSpPr>
            <p:cNvPr id="44076" name="Rectangle 41"/>
            <p:cNvSpPr>
              <a:spLocks noChangeArrowheads="1"/>
            </p:cNvSpPr>
            <p:nvPr/>
          </p:nvSpPr>
          <p:spPr bwMode="auto">
            <a:xfrm>
              <a:off x="4856" y="1677"/>
              <a:ext cx="441" cy="1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73025" tIns="36512" rIns="73025" bIns="36512">
              <a:prstTxWarp prst="textNoShape">
                <a:avLst/>
              </a:prstTxWarp>
              <a:spAutoFit/>
            </a:bodyPr>
            <a:lstStyle/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Result</a:t>
              </a:r>
            </a:p>
          </p:txBody>
        </p:sp>
        <p:sp>
          <p:nvSpPr>
            <p:cNvPr id="44077" name="Rectangle 42"/>
            <p:cNvSpPr>
              <a:spLocks noChangeArrowheads="1"/>
            </p:cNvSpPr>
            <p:nvPr/>
          </p:nvSpPr>
          <p:spPr bwMode="auto">
            <a:xfrm>
              <a:off x="4856" y="1893"/>
              <a:ext cx="478" cy="1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73025" tIns="36512" rIns="73025" bIns="36512">
              <a:prstTxWarp prst="textNoShape">
                <a:avLst/>
              </a:prstTxWarp>
              <a:spAutoFit/>
            </a:bodyPr>
            <a:lstStyle/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Comp?</a:t>
              </a:r>
            </a:p>
          </p:txBody>
        </p:sp>
        <p:sp>
          <p:nvSpPr>
            <p:cNvPr id="44078" name="Rectangle 43"/>
            <p:cNvSpPr>
              <a:spLocks noChangeArrowheads="1"/>
            </p:cNvSpPr>
            <p:nvPr/>
          </p:nvSpPr>
          <p:spPr bwMode="auto">
            <a:xfrm>
              <a:off x="3795" y="1536"/>
              <a:ext cx="169" cy="1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73025" tIns="36512" rIns="73025" bIns="36512">
              <a:prstTxWarp prst="textNoShape">
                <a:avLst/>
              </a:prstTxWarp>
              <a:spAutoFit/>
            </a:bodyPr>
            <a:lstStyle/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A</a:t>
              </a:r>
            </a:p>
          </p:txBody>
        </p:sp>
        <p:sp>
          <p:nvSpPr>
            <p:cNvPr id="44079" name="Rectangle 44"/>
            <p:cNvSpPr>
              <a:spLocks noChangeArrowheads="1"/>
            </p:cNvSpPr>
            <p:nvPr/>
          </p:nvSpPr>
          <p:spPr bwMode="auto">
            <a:xfrm>
              <a:off x="3792" y="1968"/>
              <a:ext cx="169" cy="18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73025" tIns="36512" rIns="73025" bIns="36512">
              <a:prstTxWarp prst="textNoShape">
                <a:avLst/>
              </a:prstTxWarp>
              <a:spAutoFit/>
            </a:bodyPr>
            <a:lstStyle/>
            <a:p>
              <a:pPr defTabSz="585788"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B</a:t>
              </a:r>
            </a:p>
          </p:txBody>
        </p:sp>
        <p:sp>
          <p:nvSpPr>
            <p:cNvPr id="44080" name="Rectangle 45"/>
            <p:cNvSpPr>
              <a:spLocks noChangeArrowheads="1"/>
            </p:cNvSpPr>
            <p:nvPr/>
          </p:nvSpPr>
          <p:spPr bwMode="auto">
            <a:xfrm>
              <a:off x="4211" y="1731"/>
              <a:ext cx="398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ALU</a:t>
              </a:r>
            </a:p>
          </p:txBody>
        </p:sp>
      </p:grpSp>
      <p:grpSp>
        <p:nvGrpSpPr>
          <p:cNvPr id="8" name="Group 46"/>
          <p:cNvGrpSpPr>
            <a:grpSpLocks/>
          </p:cNvGrpSpPr>
          <p:nvPr/>
        </p:nvGrpSpPr>
        <p:grpSpPr bwMode="auto">
          <a:xfrm>
            <a:off x="762000" y="2063750"/>
            <a:ext cx="1539875" cy="1370013"/>
            <a:chOff x="270" y="1296"/>
            <a:chExt cx="970" cy="863"/>
          </a:xfrm>
        </p:grpSpPr>
        <p:sp>
          <p:nvSpPr>
            <p:cNvPr id="44058" name="Line 47"/>
            <p:cNvSpPr>
              <a:spLocks noChangeShapeType="1"/>
            </p:cNvSpPr>
            <p:nvPr/>
          </p:nvSpPr>
          <p:spPr bwMode="auto">
            <a:xfrm>
              <a:off x="1003" y="185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59" name="Freeform 48"/>
            <p:cNvSpPr>
              <a:spLocks/>
            </p:cNvSpPr>
            <p:nvPr/>
          </p:nvSpPr>
          <p:spPr bwMode="auto">
            <a:xfrm>
              <a:off x="861" y="1385"/>
              <a:ext cx="1" cy="260"/>
            </a:xfrm>
            <a:custGeom>
              <a:avLst/>
              <a:gdLst>
                <a:gd name="T0" fmla="*/ 0 w 1"/>
                <a:gd name="T1" fmla="*/ 0 h 385"/>
                <a:gd name="T2" fmla="*/ 0 w 1"/>
                <a:gd name="T3" fmla="*/ 0 h 385"/>
                <a:gd name="T4" fmla="*/ 0 w 1"/>
                <a:gd name="T5" fmla="*/ 384 h 385"/>
                <a:gd name="T6" fmla="*/ 0 60000 65536"/>
                <a:gd name="T7" fmla="*/ 0 60000 65536"/>
                <a:gd name="T8" fmla="*/ 0 60000 65536"/>
                <a:gd name="T9" fmla="*/ 0 w 1"/>
                <a:gd name="T10" fmla="*/ 0 h 385"/>
                <a:gd name="T11" fmla="*/ 1 w 1"/>
                <a:gd name="T12" fmla="*/ 385 h 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5">
                  <a:moveTo>
                    <a:pt x="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60" name="Rectangle 49"/>
            <p:cNvSpPr>
              <a:spLocks noChangeArrowheads="1"/>
            </p:cNvSpPr>
            <p:nvPr/>
          </p:nvSpPr>
          <p:spPr bwMode="auto">
            <a:xfrm>
              <a:off x="601" y="1296"/>
              <a:ext cx="288" cy="1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Sel</a:t>
              </a:r>
            </a:p>
          </p:txBody>
        </p:sp>
        <p:sp>
          <p:nvSpPr>
            <p:cNvPr id="44061" name="Rectangle 50"/>
            <p:cNvSpPr>
              <a:spLocks noChangeArrowheads="1"/>
            </p:cNvSpPr>
            <p:nvPr/>
          </p:nvSpPr>
          <p:spPr bwMode="auto">
            <a:xfrm>
              <a:off x="1038" y="1673"/>
              <a:ext cx="202" cy="1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O</a:t>
              </a:r>
            </a:p>
          </p:txBody>
        </p:sp>
        <p:sp>
          <p:nvSpPr>
            <p:cNvPr id="44062" name="Line 51"/>
            <p:cNvSpPr>
              <a:spLocks noChangeShapeType="1"/>
            </p:cNvSpPr>
            <p:nvPr/>
          </p:nvSpPr>
          <p:spPr bwMode="auto">
            <a:xfrm>
              <a:off x="458" y="1677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63" name="Rectangle 52"/>
            <p:cNvSpPr>
              <a:spLocks noChangeArrowheads="1"/>
            </p:cNvSpPr>
            <p:nvPr/>
          </p:nvSpPr>
          <p:spPr bwMode="auto">
            <a:xfrm>
              <a:off x="270" y="1529"/>
              <a:ext cx="315" cy="6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A</a:t>
              </a:r>
              <a:r>
                <a:rPr lang="en-US" sz="1400" baseline="-25000">
                  <a:solidFill>
                    <a:srgbClr val="56127A"/>
                  </a:solidFill>
                  <a:latin typeface="Verdana" charset="0"/>
                </a:rPr>
                <a:t>0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A</a:t>
              </a:r>
              <a:r>
                <a:rPr lang="en-US" sz="1400" baseline="-25000">
                  <a:solidFill>
                    <a:srgbClr val="56127A"/>
                  </a:solidFill>
                  <a:latin typeface="Verdana" charset="0"/>
                </a:rPr>
                <a:t>1</a:t>
              </a:r>
            </a:p>
            <a:p>
              <a:pPr>
                <a:spcBef>
                  <a:spcPct val="0"/>
                </a:spcBef>
              </a:pPr>
              <a:endParaRPr lang="en-US" sz="1400" baseline="-25000">
                <a:solidFill>
                  <a:srgbClr val="56127A"/>
                </a:solidFill>
                <a:latin typeface="Verdana" charset="0"/>
              </a:endParaRPr>
            </a:p>
            <a:p>
              <a:pPr>
                <a:spcBef>
                  <a:spcPct val="0"/>
                </a:spcBef>
              </a:pPr>
              <a:endParaRPr lang="en-US" sz="1400" baseline="-25000">
                <a:solidFill>
                  <a:srgbClr val="56127A"/>
                </a:solidFill>
                <a:latin typeface="Verdana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A</a:t>
              </a:r>
              <a:r>
                <a:rPr lang="en-US" sz="1400" baseline="-25000">
                  <a:solidFill>
                    <a:srgbClr val="56127A"/>
                  </a:solidFill>
                  <a:latin typeface="Verdana" charset="0"/>
                </a:rPr>
                <a:t>n-1</a:t>
              </a:r>
            </a:p>
          </p:txBody>
        </p:sp>
        <p:sp>
          <p:nvSpPr>
            <p:cNvPr id="44064" name="Line 53"/>
            <p:cNvSpPr>
              <a:spLocks noChangeShapeType="1"/>
            </p:cNvSpPr>
            <p:nvPr/>
          </p:nvSpPr>
          <p:spPr bwMode="auto">
            <a:xfrm>
              <a:off x="458" y="1774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65" name="Line 54"/>
            <p:cNvSpPr>
              <a:spLocks noChangeShapeType="1"/>
            </p:cNvSpPr>
            <p:nvPr/>
          </p:nvSpPr>
          <p:spPr bwMode="auto">
            <a:xfrm>
              <a:off x="458" y="2066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66" name="Rectangle 55"/>
            <p:cNvSpPr>
              <a:spLocks noChangeArrowheads="1"/>
            </p:cNvSpPr>
            <p:nvPr/>
          </p:nvSpPr>
          <p:spPr bwMode="auto">
            <a:xfrm>
              <a:off x="698" y="1781"/>
              <a:ext cx="346" cy="1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dirty="0" err="1">
                  <a:solidFill>
                    <a:srgbClr val="56127A"/>
                  </a:solidFill>
                  <a:latin typeface="Verdana" charset="0"/>
                </a:rPr>
                <a:t>Mux</a:t>
              </a:r>
              <a:endParaRPr lang="en-US" sz="14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44067" name="AutoShape 56"/>
            <p:cNvSpPr>
              <a:spLocks noChangeArrowheads="1"/>
            </p:cNvSpPr>
            <p:nvPr/>
          </p:nvSpPr>
          <p:spPr bwMode="auto">
            <a:xfrm rot="-5400000">
              <a:off x="592" y="1723"/>
              <a:ext cx="547" cy="285"/>
            </a:xfrm>
            <a:prstGeom prst="flowChartManualOperat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" name="Group 57"/>
            <p:cNvGrpSpPr>
              <a:grpSpLocks/>
            </p:cNvGrpSpPr>
            <p:nvPr/>
          </p:nvGrpSpPr>
          <p:grpSpPr bwMode="auto">
            <a:xfrm>
              <a:off x="485" y="1673"/>
              <a:ext cx="186" cy="410"/>
              <a:chOff x="4284" y="1898"/>
              <a:chExt cx="263" cy="606"/>
            </a:xfrm>
          </p:grpSpPr>
          <p:sp>
            <p:nvSpPr>
              <p:cNvPr id="44071" name="Rectangle 58"/>
              <p:cNvSpPr>
                <a:spLocks noChangeArrowheads="1"/>
              </p:cNvSpPr>
              <p:nvPr/>
            </p:nvSpPr>
            <p:spPr bwMode="auto">
              <a:xfrm>
                <a:off x="4287" y="1898"/>
                <a:ext cx="260" cy="42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  <p:sp>
            <p:nvSpPr>
              <p:cNvPr id="44072" name="Rectangle 59"/>
              <p:cNvSpPr>
                <a:spLocks noChangeArrowheads="1"/>
              </p:cNvSpPr>
              <p:nvPr/>
            </p:nvSpPr>
            <p:spPr bwMode="auto">
              <a:xfrm>
                <a:off x="4285" y="1985"/>
                <a:ext cx="261" cy="42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  <p:sp>
            <p:nvSpPr>
              <p:cNvPr id="44073" name="Rectangle 60"/>
              <p:cNvSpPr>
                <a:spLocks noChangeArrowheads="1"/>
              </p:cNvSpPr>
              <p:nvPr/>
            </p:nvSpPr>
            <p:spPr bwMode="auto">
              <a:xfrm>
                <a:off x="4284" y="2081"/>
                <a:ext cx="222" cy="42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</p:grpSp>
        <p:sp>
          <p:nvSpPr>
            <p:cNvPr id="44069" name="Freeform 61"/>
            <p:cNvSpPr>
              <a:spLocks/>
            </p:cNvSpPr>
            <p:nvPr/>
          </p:nvSpPr>
          <p:spPr bwMode="auto">
            <a:xfrm>
              <a:off x="821" y="1488"/>
              <a:ext cx="72" cy="68"/>
            </a:xfrm>
            <a:custGeom>
              <a:avLst/>
              <a:gdLst>
                <a:gd name="T0" fmla="*/ 72 w 72"/>
                <a:gd name="T1" fmla="*/ 0 h 68"/>
                <a:gd name="T2" fmla="*/ 0 w 72"/>
                <a:gd name="T3" fmla="*/ 68 h 68"/>
                <a:gd name="T4" fmla="*/ 0 60000 65536"/>
                <a:gd name="T5" fmla="*/ 0 60000 65536"/>
                <a:gd name="T6" fmla="*/ 0 w 72"/>
                <a:gd name="T7" fmla="*/ 0 h 68"/>
                <a:gd name="T8" fmla="*/ 72 w 72"/>
                <a:gd name="T9" fmla="*/ 68 h 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" h="68">
                  <a:moveTo>
                    <a:pt x="72" y="0"/>
                  </a:moveTo>
                  <a:lnTo>
                    <a:pt x="0" y="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70" name="Rectangle 62"/>
            <p:cNvSpPr>
              <a:spLocks noChangeArrowheads="1"/>
            </p:cNvSpPr>
            <p:nvPr/>
          </p:nvSpPr>
          <p:spPr bwMode="auto">
            <a:xfrm>
              <a:off x="843" y="1444"/>
              <a:ext cx="309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  <a:latin typeface="Verdana" charset="0"/>
                </a:rPr>
                <a:t>lg(n)</a:t>
              </a:r>
            </a:p>
          </p:txBody>
        </p:sp>
      </p:grpSp>
      <p:grpSp>
        <p:nvGrpSpPr>
          <p:cNvPr id="78" name="Group 46"/>
          <p:cNvGrpSpPr>
            <a:grpSpLocks/>
          </p:cNvGrpSpPr>
          <p:nvPr/>
        </p:nvGrpSpPr>
        <p:grpSpPr bwMode="auto">
          <a:xfrm>
            <a:off x="3962398" y="1981200"/>
            <a:ext cx="1219200" cy="1338263"/>
            <a:chOff x="493" y="1296"/>
            <a:chExt cx="768" cy="843"/>
          </a:xfrm>
        </p:grpSpPr>
        <p:sp>
          <p:nvSpPr>
            <p:cNvPr id="79" name="Line 47"/>
            <p:cNvSpPr>
              <a:spLocks noChangeShapeType="1"/>
            </p:cNvSpPr>
            <p:nvPr/>
          </p:nvSpPr>
          <p:spPr bwMode="auto">
            <a:xfrm>
              <a:off x="493" y="1872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48"/>
            <p:cNvSpPr>
              <a:spLocks/>
            </p:cNvSpPr>
            <p:nvPr/>
          </p:nvSpPr>
          <p:spPr bwMode="auto">
            <a:xfrm>
              <a:off x="861" y="1385"/>
              <a:ext cx="1" cy="260"/>
            </a:xfrm>
            <a:custGeom>
              <a:avLst/>
              <a:gdLst>
                <a:gd name="T0" fmla="*/ 0 w 1"/>
                <a:gd name="T1" fmla="*/ 0 h 385"/>
                <a:gd name="T2" fmla="*/ 0 w 1"/>
                <a:gd name="T3" fmla="*/ 0 h 385"/>
                <a:gd name="T4" fmla="*/ 0 w 1"/>
                <a:gd name="T5" fmla="*/ 384 h 385"/>
                <a:gd name="T6" fmla="*/ 0 60000 65536"/>
                <a:gd name="T7" fmla="*/ 0 60000 65536"/>
                <a:gd name="T8" fmla="*/ 0 60000 65536"/>
                <a:gd name="T9" fmla="*/ 0 w 1"/>
                <a:gd name="T10" fmla="*/ 0 h 385"/>
                <a:gd name="T11" fmla="*/ 1 w 1"/>
                <a:gd name="T12" fmla="*/ 385 h 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5">
                  <a:moveTo>
                    <a:pt x="0" y="0"/>
                  </a:moveTo>
                  <a:lnTo>
                    <a:pt x="0" y="0"/>
                  </a:lnTo>
                  <a:lnTo>
                    <a:pt x="0" y="384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Rectangle 49"/>
            <p:cNvSpPr>
              <a:spLocks noChangeArrowheads="1"/>
            </p:cNvSpPr>
            <p:nvPr/>
          </p:nvSpPr>
          <p:spPr bwMode="auto">
            <a:xfrm>
              <a:off x="601" y="1296"/>
              <a:ext cx="288" cy="1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  <a:latin typeface="Verdana" charset="0"/>
                </a:rPr>
                <a:t>Sel</a:t>
              </a:r>
            </a:p>
          </p:txBody>
        </p:sp>
        <p:sp>
          <p:nvSpPr>
            <p:cNvPr id="82" name="Rectangle 50"/>
            <p:cNvSpPr>
              <a:spLocks noChangeArrowheads="1"/>
            </p:cNvSpPr>
            <p:nvPr/>
          </p:nvSpPr>
          <p:spPr bwMode="auto">
            <a:xfrm>
              <a:off x="1038" y="1488"/>
              <a:ext cx="202" cy="19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solidFill>
                    <a:srgbClr val="56127A"/>
                  </a:solidFill>
                  <a:latin typeface="Verdana" charset="0"/>
                </a:rPr>
                <a:t>O</a:t>
              </a:r>
            </a:p>
          </p:txBody>
        </p:sp>
        <p:sp>
          <p:nvSpPr>
            <p:cNvPr id="83" name="Line 51"/>
            <p:cNvSpPr>
              <a:spLocks noChangeShapeType="1"/>
            </p:cNvSpPr>
            <p:nvPr/>
          </p:nvSpPr>
          <p:spPr bwMode="auto">
            <a:xfrm>
              <a:off x="999" y="1677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53"/>
            <p:cNvSpPr>
              <a:spLocks noChangeShapeType="1"/>
            </p:cNvSpPr>
            <p:nvPr/>
          </p:nvSpPr>
          <p:spPr bwMode="auto">
            <a:xfrm>
              <a:off x="1000" y="1774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54"/>
            <p:cNvSpPr>
              <a:spLocks noChangeShapeType="1"/>
            </p:cNvSpPr>
            <p:nvPr/>
          </p:nvSpPr>
          <p:spPr bwMode="auto">
            <a:xfrm>
              <a:off x="1000" y="2066"/>
              <a:ext cx="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Rectangle 55"/>
            <p:cNvSpPr>
              <a:spLocks noChangeArrowheads="1"/>
            </p:cNvSpPr>
            <p:nvPr/>
          </p:nvSpPr>
          <p:spPr bwMode="auto">
            <a:xfrm>
              <a:off x="698" y="1693"/>
              <a:ext cx="348" cy="3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 dirty="0">
                  <a:solidFill>
                    <a:srgbClr val="56127A"/>
                  </a:solidFill>
                  <a:latin typeface="Verdana" charset="0"/>
                </a:rPr>
                <a:t>De</a:t>
              </a:r>
            </a:p>
            <a:p>
              <a:pPr>
                <a:spcBef>
                  <a:spcPct val="0"/>
                </a:spcBef>
              </a:pPr>
              <a:r>
                <a:rPr lang="en-US" sz="1400" dirty="0" err="1">
                  <a:solidFill>
                    <a:srgbClr val="56127A"/>
                  </a:solidFill>
                  <a:latin typeface="Verdana" charset="0"/>
                </a:rPr>
                <a:t>Mux</a:t>
              </a:r>
              <a:endParaRPr lang="en-US" sz="14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8" name="AutoShape 56"/>
            <p:cNvSpPr>
              <a:spLocks noChangeArrowheads="1"/>
            </p:cNvSpPr>
            <p:nvPr/>
          </p:nvSpPr>
          <p:spPr bwMode="auto">
            <a:xfrm rot="16200000" flipH="1" flipV="1">
              <a:off x="592" y="1723"/>
              <a:ext cx="547" cy="285"/>
            </a:xfrm>
            <a:prstGeom prst="flowChartManualOperation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9" name="Group 57"/>
            <p:cNvGrpSpPr>
              <a:grpSpLocks/>
            </p:cNvGrpSpPr>
            <p:nvPr/>
          </p:nvGrpSpPr>
          <p:grpSpPr bwMode="auto">
            <a:xfrm>
              <a:off x="993" y="1673"/>
              <a:ext cx="190" cy="410"/>
              <a:chOff x="5007" y="1898"/>
              <a:chExt cx="269" cy="606"/>
            </a:xfrm>
          </p:grpSpPr>
          <p:sp>
            <p:nvSpPr>
              <p:cNvPr id="92" name="Rectangle 58"/>
              <p:cNvSpPr>
                <a:spLocks noChangeArrowheads="1"/>
              </p:cNvSpPr>
              <p:nvPr/>
            </p:nvSpPr>
            <p:spPr bwMode="auto">
              <a:xfrm>
                <a:off x="5007" y="1898"/>
                <a:ext cx="260" cy="42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 dirty="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  <p:sp>
            <p:nvSpPr>
              <p:cNvPr id="93" name="Rectangle 59"/>
              <p:cNvSpPr>
                <a:spLocks noChangeArrowheads="1"/>
              </p:cNvSpPr>
              <p:nvPr/>
            </p:nvSpPr>
            <p:spPr bwMode="auto">
              <a:xfrm>
                <a:off x="5015" y="1985"/>
                <a:ext cx="261" cy="42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  <p:sp>
            <p:nvSpPr>
              <p:cNvPr id="94" name="Rectangle 60"/>
              <p:cNvSpPr>
                <a:spLocks noChangeArrowheads="1"/>
              </p:cNvSpPr>
              <p:nvPr/>
            </p:nvSpPr>
            <p:spPr bwMode="auto">
              <a:xfrm>
                <a:off x="5014" y="2081"/>
                <a:ext cx="222" cy="42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2400">
                    <a:solidFill>
                      <a:srgbClr val="56127A"/>
                    </a:solidFill>
                    <a:latin typeface="Verdana" charset="0"/>
                  </a:rPr>
                  <a:t>.</a:t>
                </a:r>
              </a:p>
            </p:txBody>
          </p:sp>
        </p:grpSp>
        <p:sp>
          <p:nvSpPr>
            <p:cNvPr id="90" name="Freeform 61"/>
            <p:cNvSpPr>
              <a:spLocks/>
            </p:cNvSpPr>
            <p:nvPr/>
          </p:nvSpPr>
          <p:spPr bwMode="auto">
            <a:xfrm>
              <a:off x="821" y="1488"/>
              <a:ext cx="72" cy="68"/>
            </a:xfrm>
            <a:custGeom>
              <a:avLst/>
              <a:gdLst>
                <a:gd name="T0" fmla="*/ 72 w 72"/>
                <a:gd name="T1" fmla="*/ 0 h 68"/>
                <a:gd name="T2" fmla="*/ 0 w 72"/>
                <a:gd name="T3" fmla="*/ 68 h 68"/>
                <a:gd name="T4" fmla="*/ 0 60000 65536"/>
                <a:gd name="T5" fmla="*/ 0 60000 65536"/>
                <a:gd name="T6" fmla="*/ 0 w 72"/>
                <a:gd name="T7" fmla="*/ 0 h 68"/>
                <a:gd name="T8" fmla="*/ 72 w 72"/>
                <a:gd name="T9" fmla="*/ 68 h 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" h="68">
                  <a:moveTo>
                    <a:pt x="72" y="0"/>
                  </a:moveTo>
                  <a:lnTo>
                    <a:pt x="0" y="6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Rectangle 62"/>
            <p:cNvSpPr>
              <a:spLocks noChangeArrowheads="1"/>
            </p:cNvSpPr>
            <p:nvPr/>
          </p:nvSpPr>
          <p:spPr bwMode="auto">
            <a:xfrm>
              <a:off x="843" y="1444"/>
              <a:ext cx="309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  <a:latin typeface="Verdana" charset="0"/>
                </a:rPr>
                <a:t>lg(n)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372" grpId="0"/>
      <p:bldP spid="1210373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D8A742E-BBDD-BA4C-AEFC-FA4ABEECA48F}" type="slidenum">
              <a:rPr lang="en-US"/>
              <a:pPr/>
              <a:t>16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7162800" cy="673100"/>
          </a:xfrm>
          <a:noFill/>
        </p:spPr>
        <p:txBody>
          <a:bodyPr lIns="90488" tIns="44450" rIns="90488" bIns="44450"/>
          <a:lstStyle/>
          <a:p>
            <a:r>
              <a:rPr lang="en-US"/>
              <a:t>Register Files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77975" y="3168650"/>
            <a:ext cx="5813425" cy="1782763"/>
            <a:chOff x="994" y="816"/>
            <a:chExt cx="3662" cy="1123"/>
          </a:xfrm>
        </p:grpSpPr>
        <p:sp>
          <p:nvSpPr>
            <p:cNvPr id="46133" name="Rectangle 4"/>
            <p:cNvSpPr>
              <a:spLocks noChangeArrowheads="1"/>
            </p:cNvSpPr>
            <p:nvPr/>
          </p:nvSpPr>
          <p:spPr bwMode="auto">
            <a:xfrm>
              <a:off x="2379" y="1133"/>
              <a:ext cx="1048" cy="80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4" name="Line 5"/>
            <p:cNvSpPr>
              <a:spLocks noChangeShapeType="1"/>
            </p:cNvSpPr>
            <p:nvPr/>
          </p:nvSpPr>
          <p:spPr bwMode="auto">
            <a:xfrm>
              <a:off x="1923" y="1252"/>
              <a:ext cx="4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5" name="Line 6"/>
            <p:cNvSpPr>
              <a:spLocks noChangeShapeType="1"/>
            </p:cNvSpPr>
            <p:nvPr/>
          </p:nvSpPr>
          <p:spPr bwMode="auto">
            <a:xfrm>
              <a:off x="1928" y="1428"/>
              <a:ext cx="4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6" name="Line 7"/>
            <p:cNvSpPr>
              <a:spLocks noChangeShapeType="1"/>
            </p:cNvSpPr>
            <p:nvPr/>
          </p:nvSpPr>
          <p:spPr bwMode="auto">
            <a:xfrm>
              <a:off x="1923" y="1673"/>
              <a:ext cx="4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3427" y="1156"/>
              <a:ext cx="1229" cy="210"/>
              <a:chOff x="3394" y="1142"/>
              <a:chExt cx="1531" cy="233"/>
            </a:xfrm>
          </p:grpSpPr>
          <p:sp>
            <p:nvSpPr>
              <p:cNvPr id="46160" name="Line 9"/>
              <p:cNvSpPr>
                <a:spLocks noChangeShapeType="1"/>
              </p:cNvSpPr>
              <p:nvPr/>
            </p:nvSpPr>
            <p:spPr bwMode="auto">
              <a:xfrm>
                <a:off x="3394" y="1252"/>
                <a:ext cx="51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61" name="Rectangle 10"/>
              <p:cNvSpPr>
                <a:spLocks noChangeArrowheads="1"/>
              </p:cNvSpPr>
              <p:nvPr/>
            </p:nvSpPr>
            <p:spPr bwMode="auto">
              <a:xfrm>
                <a:off x="3904" y="1142"/>
                <a:ext cx="1021" cy="233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  <a:latin typeface="Verdana" charset="0"/>
                  </a:rPr>
                  <a:t>ReadData1</a:t>
                </a:r>
              </a:p>
            </p:txBody>
          </p:sp>
        </p:grpSp>
        <p:sp>
          <p:nvSpPr>
            <p:cNvPr id="46138" name="Rectangle 11"/>
            <p:cNvSpPr>
              <a:spLocks noChangeArrowheads="1"/>
            </p:cNvSpPr>
            <p:nvPr/>
          </p:nvSpPr>
          <p:spPr bwMode="auto">
            <a:xfrm>
              <a:off x="3762" y="1513"/>
              <a:ext cx="749" cy="1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9" name="Rectangle 12"/>
            <p:cNvSpPr>
              <a:spLocks noChangeArrowheads="1"/>
            </p:cNvSpPr>
            <p:nvPr/>
          </p:nvSpPr>
          <p:spPr bwMode="auto">
            <a:xfrm>
              <a:off x="1211" y="1144"/>
              <a:ext cx="716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ReadSel1</a:t>
              </a:r>
            </a:p>
          </p:txBody>
        </p:sp>
        <p:sp>
          <p:nvSpPr>
            <p:cNvPr id="46140" name="Rectangle 13"/>
            <p:cNvSpPr>
              <a:spLocks noChangeArrowheads="1"/>
            </p:cNvSpPr>
            <p:nvPr/>
          </p:nvSpPr>
          <p:spPr bwMode="auto">
            <a:xfrm>
              <a:off x="1211" y="1309"/>
              <a:ext cx="716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ReadSel2</a:t>
              </a:r>
            </a:p>
          </p:txBody>
        </p:sp>
        <p:sp>
          <p:nvSpPr>
            <p:cNvPr id="46141" name="Rectangle 14"/>
            <p:cNvSpPr>
              <a:spLocks noChangeArrowheads="1"/>
            </p:cNvSpPr>
            <p:nvPr/>
          </p:nvSpPr>
          <p:spPr bwMode="auto">
            <a:xfrm>
              <a:off x="1076" y="1555"/>
              <a:ext cx="836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    WriteSel</a:t>
              </a:r>
            </a:p>
          </p:txBody>
        </p:sp>
        <p:sp>
          <p:nvSpPr>
            <p:cNvPr id="46142" name="Rectangle 15"/>
            <p:cNvSpPr>
              <a:spLocks noChangeArrowheads="1"/>
            </p:cNvSpPr>
            <p:nvPr/>
          </p:nvSpPr>
          <p:spPr bwMode="auto">
            <a:xfrm>
              <a:off x="2541" y="1272"/>
              <a:ext cx="759" cy="5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Register 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file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2R+1W</a:t>
              </a:r>
            </a:p>
          </p:txBody>
        </p:sp>
        <p:sp>
          <p:nvSpPr>
            <p:cNvPr id="46143" name="Line 16"/>
            <p:cNvSpPr>
              <a:spLocks noChangeShapeType="1"/>
            </p:cNvSpPr>
            <p:nvPr/>
          </p:nvSpPr>
          <p:spPr bwMode="auto">
            <a:xfrm>
              <a:off x="3424" y="1442"/>
              <a:ext cx="4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44" name="Rectangle 17"/>
            <p:cNvSpPr>
              <a:spLocks noChangeArrowheads="1"/>
            </p:cNvSpPr>
            <p:nvPr/>
          </p:nvSpPr>
          <p:spPr bwMode="auto">
            <a:xfrm>
              <a:off x="3830" y="1329"/>
              <a:ext cx="820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ReadData2</a:t>
              </a:r>
            </a:p>
          </p:txBody>
        </p:sp>
        <p:sp>
          <p:nvSpPr>
            <p:cNvPr id="46145" name="Line 18"/>
            <p:cNvSpPr>
              <a:spLocks noChangeShapeType="1"/>
            </p:cNvSpPr>
            <p:nvPr/>
          </p:nvSpPr>
          <p:spPr bwMode="auto">
            <a:xfrm>
              <a:off x="1928" y="1831"/>
              <a:ext cx="4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46" name="Rectangle 19"/>
            <p:cNvSpPr>
              <a:spLocks noChangeArrowheads="1"/>
            </p:cNvSpPr>
            <p:nvPr/>
          </p:nvSpPr>
          <p:spPr bwMode="auto">
            <a:xfrm>
              <a:off x="994" y="1718"/>
              <a:ext cx="940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    WriteData</a:t>
              </a:r>
            </a:p>
          </p:txBody>
        </p:sp>
        <p:sp>
          <p:nvSpPr>
            <p:cNvPr id="46147" name="Rectangle 20"/>
            <p:cNvSpPr>
              <a:spLocks noChangeArrowheads="1"/>
            </p:cNvSpPr>
            <p:nvPr/>
          </p:nvSpPr>
          <p:spPr bwMode="auto">
            <a:xfrm>
              <a:off x="2736" y="816"/>
              <a:ext cx="322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WE</a:t>
              </a:r>
            </a:p>
          </p:txBody>
        </p:sp>
        <p:sp>
          <p:nvSpPr>
            <p:cNvPr id="46148" name="Line 21"/>
            <p:cNvSpPr>
              <a:spLocks noChangeShapeType="1"/>
            </p:cNvSpPr>
            <p:nvPr/>
          </p:nvSpPr>
          <p:spPr bwMode="auto">
            <a:xfrm>
              <a:off x="2893" y="985"/>
              <a:ext cx="0" cy="13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49" name="Line 22"/>
            <p:cNvSpPr>
              <a:spLocks noChangeShapeType="1"/>
            </p:cNvSpPr>
            <p:nvPr/>
          </p:nvSpPr>
          <p:spPr bwMode="auto">
            <a:xfrm>
              <a:off x="2549" y="985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50" name="Rectangle 23"/>
            <p:cNvSpPr>
              <a:spLocks noChangeArrowheads="1"/>
            </p:cNvSpPr>
            <p:nvPr/>
          </p:nvSpPr>
          <p:spPr bwMode="auto">
            <a:xfrm>
              <a:off x="2304" y="816"/>
              <a:ext cx="459" cy="2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solidFill>
                    <a:srgbClr val="56127A"/>
                  </a:solidFill>
                  <a:latin typeface="Verdana" charset="0"/>
                </a:rPr>
                <a:t>Clock</a:t>
              </a:r>
            </a:p>
          </p:txBody>
        </p:sp>
        <p:sp>
          <p:nvSpPr>
            <p:cNvPr id="46151" name="Line 24"/>
            <p:cNvSpPr>
              <a:spLocks noChangeShapeType="1"/>
            </p:cNvSpPr>
            <p:nvPr/>
          </p:nvSpPr>
          <p:spPr bwMode="auto">
            <a:xfrm>
              <a:off x="2512" y="1144"/>
              <a:ext cx="35" cy="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52" name="Line 25"/>
            <p:cNvSpPr>
              <a:spLocks noChangeShapeType="1"/>
            </p:cNvSpPr>
            <p:nvPr/>
          </p:nvSpPr>
          <p:spPr bwMode="auto">
            <a:xfrm flipV="1">
              <a:off x="2545" y="1136"/>
              <a:ext cx="48" cy="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53" name="Rectangle 26"/>
            <p:cNvSpPr>
              <a:spLocks noChangeArrowheads="1"/>
            </p:cNvSpPr>
            <p:nvPr/>
          </p:nvSpPr>
          <p:spPr bwMode="auto">
            <a:xfrm>
              <a:off x="3212" y="1167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rd1</a:t>
              </a:r>
            </a:p>
          </p:txBody>
        </p:sp>
        <p:sp>
          <p:nvSpPr>
            <p:cNvPr id="46154" name="Rectangle 27"/>
            <p:cNvSpPr>
              <a:spLocks noChangeArrowheads="1"/>
            </p:cNvSpPr>
            <p:nvPr/>
          </p:nvSpPr>
          <p:spPr bwMode="auto">
            <a:xfrm>
              <a:off x="2343" y="1155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rs1</a:t>
              </a:r>
            </a:p>
          </p:txBody>
        </p:sp>
        <p:sp>
          <p:nvSpPr>
            <p:cNvPr id="46155" name="Rectangle 28"/>
            <p:cNvSpPr>
              <a:spLocks noChangeArrowheads="1"/>
            </p:cNvSpPr>
            <p:nvPr/>
          </p:nvSpPr>
          <p:spPr bwMode="auto">
            <a:xfrm>
              <a:off x="2342" y="1332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rs2</a:t>
              </a:r>
            </a:p>
          </p:txBody>
        </p:sp>
        <p:sp>
          <p:nvSpPr>
            <p:cNvPr id="46156" name="Rectangle 29"/>
            <p:cNvSpPr>
              <a:spLocks noChangeArrowheads="1"/>
            </p:cNvSpPr>
            <p:nvPr/>
          </p:nvSpPr>
          <p:spPr bwMode="auto">
            <a:xfrm>
              <a:off x="2347" y="1579"/>
              <a:ext cx="231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ws</a:t>
              </a:r>
            </a:p>
          </p:txBody>
        </p:sp>
        <p:sp>
          <p:nvSpPr>
            <p:cNvPr id="46157" name="Rectangle 30"/>
            <p:cNvSpPr>
              <a:spLocks noChangeArrowheads="1"/>
            </p:cNvSpPr>
            <p:nvPr/>
          </p:nvSpPr>
          <p:spPr bwMode="auto">
            <a:xfrm>
              <a:off x="2344" y="1735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wd</a:t>
              </a:r>
            </a:p>
          </p:txBody>
        </p:sp>
        <p:sp>
          <p:nvSpPr>
            <p:cNvPr id="46158" name="Rectangle 31"/>
            <p:cNvSpPr>
              <a:spLocks noChangeArrowheads="1"/>
            </p:cNvSpPr>
            <p:nvPr/>
          </p:nvSpPr>
          <p:spPr bwMode="auto">
            <a:xfrm>
              <a:off x="3206" y="1352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rd2</a:t>
              </a:r>
            </a:p>
          </p:txBody>
        </p:sp>
        <p:sp>
          <p:nvSpPr>
            <p:cNvPr id="46159" name="Rectangle 32"/>
            <p:cNvSpPr>
              <a:spLocks noChangeArrowheads="1"/>
            </p:cNvSpPr>
            <p:nvPr/>
          </p:nvSpPr>
          <p:spPr bwMode="auto">
            <a:xfrm>
              <a:off x="2768" y="1099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we</a:t>
              </a:r>
            </a:p>
          </p:txBody>
        </p:sp>
      </p:grpSp>
      <p:sp>
        <p:nvSpPr>
          <p:cNvPr id="1212449" name="Rectangle 33"/>
          <p:cNvSpPr>
            <a:spLocks noGrp="1" noChangeArrowheads="1"/>
          </p:cNvSpPr>
          <p:nvPr>
            <p:ph type="body" idx="1"/>
          </p:nvPr>
        </p:nvSpPr>
        <p:spPr>
          <a:xfrm>
            <a:off x="523875" y="5600700"/>
            <a:ext cx="8135938" cy="685800"/>
          </a:xfrm>
          <a:noFill/>
        </p:spPr>
        <p:txBody>
          <a:bodyPr/>
          <a:lstStyle/>
          <a:p>
            <a:r>
              <a:rPr lang="en-US" sz="1800">
                <a:solidFill>
                  <a:srgbClr val="56127A"/>
                </a:solidFill>
              </a:rPr>
              <a:t>Reads are combinational</a:t>
            </a: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2424113" y="1258888"/>
            <a:ext cx="3490912" cy="1676400"/>
            <a:chOff x="3360" y="2742"/>
            <a:chExt cx="2199" cy="1056"/>
          </a:xfrm>
        </p:grpSpPr>
        <p:grpSp>
          <p:nvGrpSpPr>
            <p:cNvPr id="5" name="Group 35"/>
            <p:cNvGrpSpPr>
              <a:grpSpLocks/>
            </p:cNvGrpSpPr>
            <p:nvPr/>
          </p:nvGrpSpPr>
          <p:grpSpPr bwMode="auto">
            <a:xfrm>
              <a:off x="3360" y="2880"/>
              <a:ext cx="2199" cy="918"/>
              <a:chOff x="3360" y="2880"/>
              <a:chExt cx="2199" cy="918"/>
            </a:xfrm>
          </p:grpSpPr>
          <p:sp>
            <p:nvSpPr>
              <p:cNvPr id="46091" name="Rectangle 36"/>
              <p:cNvSpPr>
                <a:spLocks noChangeArrowheads="1"/>
              </p:cNvSpPr>
              <p:nvPr/>
            </p:nvSpPr>
            <p:spPr bwMode="auto">
              <a:xfrm>
                <a:off x="3775" y="3170"/>
                <a:ext cx="1784" cy="334"/>
              </a:xfrm>
              <a:prstGeom prst="rect">
                <a:avLst/>
              </a:prstGeom>
              <a:noFill/>
              <a:ln w="28575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92" name="Freeform 37"/>
              <p:cNvSpPr>
                <a:spLocks/>
              </p:cNvSpPr>
              <p:nvPr/>
            </p:nvSpPr>
            <p:spPr bwMode="auto">
              <a:xfrm>
                <a:off x="3912" y="3346"/>
                <a:ext cx="72" cy="89"/>
              </a:xfrm>
              <a:custGeom>
                <a:avLst/>
                <a:gdLst>
                  <a:gd name="T0" fmla="*/ 0 w 58"/>
                  <a:gd name="T1" fmla="*/ 0 h 116"/>
                  <a:gd name="T2" fmla="*/ 57 w 58"/>
                  <a:gd name="T3" fmla="*/ 58 h 116"/>
                  <a:gd name="T4" fmla="*/ 0 w 58"/>
                  <a:gd name="T5" fmla="*/ 115 h 11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16"/>
                  <a:gd name="T11" fmla="*/ 58 w 58"/>
                  <a:gd name="T12" fmla="*/ 116 h 1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16">
                    <a:moveTo>
                      <a:pt x="0" y="0"/>
                    </a:moveTo>
                    <a:lnTo>
                      <a:pt x="57" y="58"/>
                    </a:lnTo>
                    <a:lnTo>
                      <a:pt x="0" y="11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93" name="Rectangle 38"/>
              <p:cNvSpPr>
                <a:spLocks noChangeArrowheads="1"/>
              </p:cNvSpPr>
              <p:nvPr/>
            </p:nvSpPr>
            <p:spPr bwMode="auto">
              <a:xfrm>
                <a:off x="3912" y="3243"/>
                <a:ext cx="233" cy="19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94" name="Rectangle 39"/>
              <p:cNvSpPr>
                <a:spLocks noChangeArrowheads="1"/>
              </p:cNvSpPr>
              <p:nvPr/>
            </p:nvSpPr>
            <p:spPr bwMode="auto">
              <a:xfrm>
                <a:off x="3966" y="3250"/>
                <a:ext cx="150" cy="2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ff</a:t>
                </a:r>
              </a:p>
            </p:txBody>
          </p:sp>
          <p:sp>
            <p:nvSpPr>
              <p:cNvPr id="46095" name="Line 40"/>
              <p:cNvSpPr>
                <a:spLocks noChangeShapeType="1"/>
              </p:cNvSpPr>
              <p:nvPr/>
            </p:nvSpPr>
            <p:spPr bwMode="auto">
              <a:xfrm>
                <a:off x="4041" y="3442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96" name="Line 41"/>
              <p:cNvSpPr>
                <a:spLocks noChangeShapeType="1"/>
              </p:cNvSpPr>
              <p:nvPr/>
            </p:nvSpPr>
            <p:spPr bwMode="auto">
              <a:xfrm>
                <a:off x="4041" y="3083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097" name="Rectangle 42"/>
              <p:cNvSpPr>
                <a:spLocks noChangeArrowheads="1"/>
              </p:cNvSpPr>
              <p:nvPr/>
            </p:nvSpPr>
            <p:spPr bwMode="auto">
              <a:xfrm>
                <a:off x="3932" y="3610"/>
                <a:ext cx="219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Q</a:t>
                </a:r>
                <a:r>
                  <a:rPr lang="en-US" baseline="-25000">
                    <a:solidFill>
                      <a:srgbClr val="56127A"/>
                    </a:solidFill>
                  </a:rPr>
                  <a:t>0</a:t>
                </a:r>
              </a:p>
            </p:txBody>
          </p:sp>
          <p:sp>
            <p:nvSpPr>
              <p:cNvPr id="46098" name="Rectangle 43"/>
              <p:cNvSpPr>
                <a:spLocks noChangeArrowheads="1"/>
              </p:cNvSpPr>
              <p:nvPr/>
            </p:nvSpPr>
            <p:spPr bwMode="auto">
              <a:xfrm>
                <a:off x="3935" y="2938"/>
                <a:ext cx="211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D</a:t>
                </a:r>
                <a:r>
                  <a:rPr lang="en-US" baseline="-25000">
                    <a:solidFill>
                      <a:srgbClr val="56127A"/>
                    </a:solidFill>
                  </a:rPr>
                  <a:t>0</a:t>
                </a:r>
              </a:p>
            </p:txBody>
          </p:sp>
          <p:sp>
            <p:nvSpPr>
              <p:cNvPr id="46099" name="Rectangle 44"/>
              <p:cNvSpPr>
                <a:spLocks noChangeArrowheads="1"/>
              </p:cNvSpPr>
              <p:nvPr/>
            </p:nvSpPr>
            <p:spPr bwMode="auto">
              <a:xfrm>
                <a:off x="3360" y="3300"/>
                <a:ext cx="276" cy="19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46100" name="Line 45"/>
              <p:cNvSpPr>
                <a:spLocks noChangeShapeType="1"/>
              </p:cNvSpPr>
              <p:nvPr/>
            </p:nvSpPr>
            <p:spPr bwMode="auto">
              <a:xfrm>
                <a:off x="3612" y="3298"/>
                <a:ext cx="297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01" name="Rectangle 46"/>
              <p:cNvSpPr>
                <a:spLocks noChangeArrowheads="1"/>
              </p:cNvSpPr>
              <p:nvPr/>
            </p:nvSpPr>
            <p:spPr bwMode="auto">
              <a:xfrm>
                <a:off x="3391" y="3156"/>
                <a:ext cx="251" cy="19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En</a:t>
                </a:r>
              </a:p>
            </p:txBody>
          </p:sp>
          <p:sp>
            <p:nvSpPr>
              <p:cNvPr id="46102" name="Freeform 47"/>
              <p:cNvSpPr>
                <a:spLocks/>
              </p:cNvSpPr>
              <p:nvPr/>
            </p:nvSpPr>
            <p:spPr bwMode="auto">
              <a:xfrm>
                <a:off x="4251" y="3346"/>
                <a:ext cx="72" cy="89"/>
              </a:xfrm>
              <a:custGeom>
                <a:avLst/>
                <a:gdLst>
                  <a:gd name="T0" fmla="*/ 0 w 58"/>
                  <a:gd name="T1" fmla="*/ 0 h 116"/>
                  <a:gd name="T2" fmla="*/ 57 w 58"/>
                  <a:gd name="T3" fmla="*/ 58 h 116"/>
                  <a:gd name="T4" fmla="*/ 0 w 58"/>
                  <a:gd name="T5" fmla="*/ 115 h 11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16"/>
                  <a:gd name="T11" fmla="*/ 58 w 58"/>
                  <a:gd name="T12" fmla="*/ 116 h 1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16">
                    <a:moveTo>
                      <a:pt x="0" y="0"/>
                    </a:moveTo>
                    <a:lnTo>
                      <a:pt x="57" y="58"/>
                    </a:lnTo>
                    <a:lnTo>
                      <a:pt x="0" y="11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03" name="Rectangle 48"/>
              <p:cNvSpPr>
                <a:spLocks noChangeArrowheads="1"/>
              </p:cNvSpPr>
              <p:nvPr/>
            </p:nvSpPr>
            <p:spPr bwMode="auto">
              <a:xfrm>
                <a:off x="4251" y="3243"/>
                <a:ext cx="233" cy="19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04" name="Rectangle 49"/>
              <p:cNvSpPr>
                <a:spLocks noChangeArrowheads="1"/>
              </p:cNvSpPr>
              <p:nvPr/>
            </p:nvSpPr>
            <p:spPr bwMode="auto">
              <a:xfrm>
                <a:off x="4305" y="3250"/>
                <a:ext cx="150" cy="2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ff</a:t>
                </a:r>
              </a:p>
            </p:txBody>
          </p:sp>
          <p:sp>
            <p:nvSpPr>
              <p:cNvPr id="46105" name="Line 50"/>
              <p:cNvSpPr>
                <a:spLocks noChangeShapeType="1"/>
              </p:cNvSpPr>
              <p:nvPr/>
            </p:nvSpPr>
            <p:spPr bwMode="auto">
              <a:xfrm>
                <a:off x="4380" y="3442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06" name="Line 51"/>
              <p:cNvSpPr>
                <a:spLocks noChangeShapeType="1"/>
              </p:cNvSpPr>
              <p:nvPr/>
            </p:nvSpPr>
            <p:spPr bwMode="auto">
              <a:xfrm>
                <a:off x="4380" y="3083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07" name="Rectangle 52"/>
              <p:cNvSpPr>
                <a:spLocks noChangeArrowheads="1"/>
              </p:cNvSpPr>
              <p:nvPr/>
            </p:nvSpPr>
            <p:spPr bwMode="auto">
              <a:xfrm>
                <a:off x="4271" y="3610"/>
                <a:ext cx="219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Q</a:t>
                </a:r>
                <a:r>
                  <a:rPr lang="en-US" baseline="-25000">
                    <a:solidFill>
                      <a:srgbClr val="56127A"/>
                    </a:solidFill>
                  </a:rPr>
                  <a:t>1</a:t>
                </a:r>
              </a:p>
            </p:txBody>
          </p:sp>
          <p:sp>
            <p:nvSpPr>
              <p:cNvPr id="46108" name="Rectangle 53"/>
              <p:cNvSpPr>
                <a:spLocks noChangeArrowheads="1"/>
              </p:cNvSpPr>
              <p:nvPr/>
            </p:nvSpPr>
            <p:spPr bwMode="auto">
              <a:xfrm>
                <a:off x="4274" y="2938"/>
                <a:ext cx="211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D</a:t>
                </a:r>
                <a:r>
                  <a:rPr lang="en-US" baseline="-25000">
                    <a:solidFill>
                      <a:srgbClr val="56127A"/>
                    </a:solidFill>
                  </a:rPr>
                  <a:t>1</a:t>
                </a:r>
              </a:p>
            </p:txBody>
          </p:sp>
          <p:sp>
            <p:nvSpPr>
              <p:cNvPr id="46109" name="Freeform 54"/>
              <p:cNvSpPr>
                <a:spLocks/>
              </p:cNvSpPr>
              <p:nvPr/>
            </p:nvSpPr>
            <p:spPr bwMode="auto">
              <a:xfrm>
                <a:off x="4629" y="3346"/>
                <a:ext cx="72" cy="89"/>
              </a:xfrm>
              <a:custGeom>
                <a:avLst/>
                <a:gdLst>
                  <a:gd name="T0" fmla="*/ 0 w 58"/>
                  <a:gd name="T1" fmla="*/ 0 h 116"/>
                  <a:gd name="T2" fmla="*/ 57 w 58"/>
                  <a:gd name="T3" fmla="*/ 58 h 116"/>
                  <a:gd name="T4" fmla="*/ 0 w 58"/>
                  <a:gd name="T5" fmla="*/ 115 h 11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16"/>
                  <a:gd name="T11" fmla="*/ 58 w 58"/>
                  <a:gd name="T12" fmla="*/ 116 h 1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16">
                    <a:moveTo>
                      <a:pt x="0" y="0"/>
                    </a:moveTo>
                    <a:lnTo>
                      <a:pt x="57" y="58"/>
                    </a:lnTo>
                    <a:lnTo>
                      <a:pt x="0" y="11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0" name="Rectangle 55"/>
              <p:cNvSpPr>
                <a:spLocks noChangeArrowheads="1"/>
              </p:cNvSpPr>
              <p:nvPr/>
            </p:nvSpPr>
            <p:spPr bwMode="auto">
              <a:xfrm>
                <a:off x="4629" y="3243"/>
                <a:ext cx="233" cy="19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1" name="Rectangle 56"/>
              <p:cNvSpPr>
                <a:spLocks noChangeArrowheads="1"/>
              </p:cNvSpPr>
              <p:nvPr/>
            </p:nvSpPr>
            <p:spPr bwMode="auto">
              <a:xfrm>
                <a:off x="4683" y="3250"/>
                <a:ext cx="150" cy="2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ff</a:t>
                </a:r>
              </a:p>
            </p:txBody>
          </p:sp>
          <p:sp>
            <p:nvSpPr>
              <p:cNvPr id="46112" name="Line 57"/>
              <p:cNvSpPr>
                <a:spLocks noChangeShapeType="1"/>
              </p:cNvSpPr>
              <p:nvPr/>
            </p:nvSpPr>
            <p:spPr bwMode="auto">
              <a:xfrm>
                <a:off x="4758" y="3442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3" name="Line 58"/>
              <p:cNvSpPr>
                <a:spLocks noChangeShapeType="1"/>
              </p:cNvSpPr>
              <p:nvPr/>
            </p:nvSpPr>
            <p:spPr bwMode="auto">
              <a:xfrm>
                <a:off x="4758" y="3083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4" name="Rectangle 59"/>
              <p:cNvSpPr>
                <a:spLocks noChangeArrowheads="1"/>
              </p:cNvSpPr>
              <p:nvPr/>
            </p:nvSpPr>
            <p:spPr bwMode="auto">
              <a:xfrm>
                <a:off x="4649" y="3610"/>
                <a:ext cx="219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Q</a:t>
                </a:r>
                <a:r>
                  <a:rPr lang="en-US" baseline="-25000">
                    <a:solidFill>
                      <a:srgbClr val="56127A"/>
                    </a:solidFill>
                  </a:rPr>
                  <a:t>2</a:t>
                </a:r>
              </a:p>
            </p:txBody>
          </p:sp>
          <p:sp>
            <p:nvSpPr>
              <p:cNvPr id="46115" name="Rectangle 60"/>
              <p:cNvSpPr>
                <a:spLocks noChangeArrowheads="1"/>
              </p:cNvSpPr>
              <p:nvPr/>
            </p:nvSpPr>
            <p:spPr bwMode="auto">
              <a:xfrm>
                <a:off x="4652" y="2938"/>
                <a:ext cx="211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D</a:t>
                </a:r>
                <a:r>
                  <a:rPr lang="en-US" baseline="-25000">
                    <a:solidFill>
                      <a:srgbClr val="56127A"/>
                    </a:solidFill>
                  </a:rPr>
                  <a:t>2</a:t>
                </a:r>
              </a:p>
            </p:txBody>
          </p:sp>
          <p:sp>
            <p:nvSpPr>
              <p:cNvPr id="46116" name="Freeform 61"/>
              <p:cNvSpPr>
                <a:spLocks/>
              </p:cNvSpPr>
              <p:nvPr/>
            </p:nvSpPr>
            <p:spPr bwMode="auto">
              <a:xfrm>
                <a:off x="5211" y="3346"/>
                <a:ext cx="72" cy="89"/>
              </a:xfrm>
              <a:custGeom>
                <a:avLst/>
                <a:gdLst>
                  <a:gd name="T0" fmla="*/ 0 w 58"/>
                  <a:gd name="T1" fmla="*/ 0 h 116"/>
                  <a:gd name="T2" fmla="*/ 57 w 58"/>
                  <a:gd name="T3" fmla="*/ 58 h 116"/>
                  <a:gd name="T4" fmla="*/ 0 w 58"/>
                  <a:gd name="T5" fmla="*/ 115 h 11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116"/>
                  <a:gd name="T11" fmla="*/ 58 w 58"/>
                  <a:gd name="T12" fmla="*/ 116 h 1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116">
                    <a:moveTo>
                      <a:pt x="0" y="0"/>
                    </a:moveTo>
                    <a:lnTo>
                      <a:pt x="57" y="58"/>
                    </a:lnTo>
                    <a:lnTo>
                      <a:pt x="0" y="115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7" name="Rectangle 62"/>
              <p:cNvSpPr>
                <a:spLocks noChangeArrowheads="1"/>
              </p:cNvSpPr>
              <p:nvPr/>
            </p:nvSpPr>
            <p:spPr bwMode="auto">
              <a:xfrm>
                <a:off x="5211" y="3243"/>
                <a:ext cx="233" cy="19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18" name="Rectangle 63"/>
              <p:cNvSpPr>
                <a:spLocks noChangeArrowheads="1"/>
              </p:cNvSpPr>
              <p:nvPr/>
            </p:nvSpPr>
            <p:spPr bwMode="auto">
              <a:xfrm>
                <a:off x="5265" y="3250"/>
                <a:ext cx="150" cy="20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ff</a:t>
                </a:r>
              </a:p>
            </p:txBody>
          </p:sp>
          <p:sp>
            <p:nvSpPr>
              <p:cNvPr id="46119" name="Line 64"/>
              <p:cNvSpPr>
                <a:spLocks noChangeShapeType="1"/>
              </p:cNvSpPr>
              <p:nvPr/>
            </p:nvSpPr>
            <p:spPr bwMode="auto">
              <a:xfrm>
                <a:off x="5340" y="3442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20" name="Line 65"/>
              <p:cNvSpPr>
                <a:spLocks noChangeShapeType="1"/>
              </p:cNvSpPr>
              <p:nvPr/>
            </p:nvSpPr>
            <p:spPr bwMode="auto">
              <a:xfrm>
                <a:off x="5340" y="3083"/>
                <a:ext cx="0" cy="16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21" name="Rectangle 66"/>
              <p:cNvSpPr>
                <a:spLocks noChangeArrowheads="1"/>
              </p:cNvSpPr>
              <p:nvPr/>
            </p:nvSpPr>
            <p:spPr bwMode="auto">
              <a:xfrm>
                <a:off x="5192" y="3610"/>
                <a:ext cx="297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Q</a:t>
                </a:r>
                <a:r>
                  <a:rPr lang="en-US" baseline="-25000">
                    <a:solidFill>
                      <a:srgbClr val="56127A"/>
                    </a:solidFill>
                  </a:rPr>
                  <a:t>n-1</a:t>
                </a:r>
              </a:p>
            </p:txBody>
          </p:sp>
          <p:sp>
            <p:nvSpPr>
              <p:cNvPr id="46122" name="Rectangle 67"/>
              <p:cNvSpPr>
                <a:spLocks noChangeArrowheads="1"/>
              </p:cNvSpPr>
              <p:nvPr/>
            </p:nvSpPr>
            <p:spPr bwMode="auto">
              <a:xfrm>
                <a:off x="5196" y="2938"/>
                <a:ext cx="290" cy="18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>
                    <a:solidFill>
                      <a:srgbClr val="56127A"/>
                    </a:solidFill>
                  </a:rPr>
                  <a:t>D</a:t>
                </a:r>
                <a:r>
                  <a:rPr lang="en-US" baseline="-25000">
                    <a:solidFill>
                      <a:srgbClr val="56127A"/>
                    </a:solidFill>
                  </a:rPr>
                  <a:t>n-1</a:t>
                </a:r>
              </a:p>
            </p:txBody>
          </p:sp>
          <p:sp>
            <p:nvSpPr>
              <p:cNvPr id="46123" name="Line 68"/>
              <p:cNvSpPr>
                <a:spLocks noChangeShapeType="1"/>
              </p:cNvSpPr>
              <p:nvPr/>
            </p:nvSpPr>
            <p:spPr bwMode="auto">
              <a:xfrm>
                <a:off x="3897" y="3298"/>
                <a:ext cx="354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24" name="Line 69"/>
              <p:cNvSpPr>
                <a:spLocks noChangeShapeType="1"/>
              </p:cNvSpPr>
              <p:nvPr/>
            </p:nvSpPr>
            <p:spPr bwMode="auto">
              <a:xfrm flipV="1">
                <a:off x="4251" y="3298"/>
                <a:ext cx="378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25" name="Line 70"/>
              <p:cNvSpPr>
                <a:spLocks noChangeShapeType="1"/>
              </p:cNvSpPr>
              <p:nvPr/>
            </p:nvSpPr>
            <p:spPr bwMode="auto">
              <a:xfrm>
                <a:off x="4629" y="3298"/>
                <a:ext cx="582" cy="5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26" name="Rectangle 71"/>
              <p:cNvSpPr>
                <a:spLocks noChangeArrowheads="1"/>
              </p:cNvSpPr>
              <p:nvPr/>
            </p:nvSpPr>
            <p:spPr bwMode="auto">
              <a:xfrm>
                <a:off x="4887" y="3187"/>
                <a:ext cx="203" cy="22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2000">
                    <a:solidFill>
                      <a:schemeClr val="tx1"/>
                    </a:solidFill>
                  </a:rPr>
                  <a:t>...</a:t>
                </a: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6127" name="Rectangle 72"/>
              <p:cNvSpPr>
                <a:spLocks noChangeArrowheads="1"/>
              </p:cNvSpPr>
              <p:nvPr/>
            </p:nvSpPr>
            <p:spPr bwMode="auto">
              <a:xfrm>
                <a:off x="4883" y="2880"/>
                <a:ext cx="203" cy="22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2000">
                    <a:solidFill>
                      <a:schemeClr val="tx1"/>
                    </a:solidFill>
                  </a:rPr>
                  <a:t>...</a:t>
                </a: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6128" name="Rectangle 73"/>
              <p:cNvSpPr>
                <a:spLocks noChangeArrowheads="1"/>
              </p:cNvSpPr>
              <p:nvPr/>
            </p:nvSpPr>
            <p:spPr bwMode="auto">
              <a:xfrm>
                <a:off x="4893" y="3552"/>
                <a:ext cx="203" cy="22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55562" tIns="26988" rIns="55562" bIns="26988">
                <a:prstTxWarp prst="textNoShape">
                  <a:avLst/>
                </a:prstTxWarp>
                <a:spAutoFit/>
              </a:bodyPr>
              <a:lstStyle/>
              <a:p>
                <a:pPr algn="ctr" defTabSz="330200">
                  <a:spcBef>
                    <a:spcPct val="0"/>
                  </a:spcBef>
                </a:pPr>
                <a:r>
                  <a:rPr lang="en-US" sz="2000">
                    <a:solidFill>
                      <a:schemeClr val="tx1"/>
                    </a:solidFill>
                  </a:rPr>
                  <a:t>...</a:t>
                </a: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46129" name="Line 74"/>
              <p:cNvSpPr>
                <a:spLocks noChangeShapeType="1"/>
              </p:cNvSpPr>
              <p:nvPr/>
            </p:nvSpPr>
            <p:spPr bwMode="auto">
              <a:xfrm>
                <a:off x="3600" y="3394"/>
                <a:ext cx="29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30" name="Line 75"/>
              <p:cNvSpPr>
                <a:spLocks noChangeShapeType="1"/>
              </p:cNvSpPr>
              <p:nvPr/>
            </p:nvSpPr>
            <p:spPr bwMode="auto">
              <a:xfrm>
                <a:off x="3828" y="3394"/>
                <a:ext cx="42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31" name="Line 76"/>
              <p:cNvSpPr>
                <a:spLocks noChangeShapeType="1"/>
              </p:cNvSpPr>
              <p:nvPr/>
            </p:nvSpPr>
            <p:spPr bwMode="auto">
              <a:xfrm>
                <a:off x="4251" y="3394"/>
                <a:ext cx="37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132" name="Line 77"/>
              <p:cNvSpPr>
                <a:spLocks noChangeShapeType="1"/>
              </p:cNvSpPr>
              <p:nvPr/>
            </p:nvSpPr>
            <p:spPr bwMode="auto">
              <a:xfrm>
                <a:off x="4629" y="3394"/>
                <a:ext cx="5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090" name="Rectangle 78"/>
            <p:cNvSpPr>
              <a:spLocks noChangeArrowheads="1"/>
            </p:cNvSpPr>
            <p:nvPr/>
          </p:nvSpPr>
          <p:spPr bwMode="auto">
            <a:xfrm>
              <a:off x="4348" y="2742"/>
              <a:ext cx="67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register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4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244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866086A-04A6-7D47-9D82-67F88E3F8412}" type="slidenum">
              <a:rPr lang="en-US"/>
              <a:pPr/>
              <a:t>17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 File Implementation</a:t>
            </a:r>
          </a:p>
        </p:txBody>
      </p:sp>
      <p:sp>
        <p:nvSpPr>
          <p:cNvPr id="48134" name="Rectangle 3"/>
          <p:cNvSpPr>
            <a:spLocks noChangeArrowheads="1"/>
          </p:cNvSpPr>
          <p:nvPr/>
        </p:nvSpPr>
        <p:spPr bwMode="auto">
          <a:xfrm>
            <a:off x="3622675" y="2874963"/>
            <a:ext cx="2451100" cy="3111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5" name="Rectangle 4"/>
          <p:cNvSpPr>
            <a:spLocks noChangeArrowheads="1"/>
          </p:cNvSpPr>
          <p:nvPr/>
        </p:nvSpPr>
        <p:spPr bwMode="auto">
          <a:xfrm>
            <a:off x="3611563" y="3478213"/>
            <a:ext cx="2451100" cy="3111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6" name="Rectangle 5"/>
          <p:cNvSpPr>
            <a:spLocks noChangeArrowheads="1"/>
          </p:cNvSpPr>
          <p:nvPr/>
        </p:nvSpPr>
        <p:spPr bwMode="auto">
          <a:xfrm>
            <a:off x="4344988" y="3455988"/>
            <a:ext cx="844550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reg 31</a:t>
            </a:r>
          </a:p>
        </p:txBody>
      </p:sp>
      <p:sp>
        <p:nvSpPr>
          <p:cNvPr id="48137" name="Freeform 6"/>
          <p:cNvSpPr>
            <a:spLocks/>
          </p:cNvSpPr>
          <p:nvPr/>
        </p:nvSpPr>
        <p:spPr bwMode="auto">
          <a:xfrm>
            <a:off x="3625850" y="3076575"/>
            <a:ext cx="71438" cy="109538"/>
          </a:xfrm>
          <a:custGeom>
            <a:avLst/>
            <a:gdLst>
              <a:gd name="T0" fmla="*/ 0 w 50"/>
              <a:gd name="T1" fmla="*/ 0 h 76"/>
              <a:gd name="T2" fmla="*/ 49 w 50"/>
              <a:gd name="T3" fmla="*/ 38 h 76"/>
              <a:gd name="T4" fmla="*/ 0 w 50"/>
              <a:gd name="T5" fmla="*/ 75 h 76"/>
              <a:gd name="T6" fmla="*/ 0 60000 65536"/>
              <a:gd name="T7" fmla="*/ 0 60000 65536"/>
              <a:gd name="T8" fmla="*/ 0 60000 65536"/>
              <a:gd name="T9" fmla="*/ 0 w 50"/>
              <a:gd name="T10" fmla="*/ 0 h 76"/>
              <a:gd name="T11" fmla="*/ 50 w 50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" h="76">
                <a:moveTo>
                  <a:pt x="0" y="0"/>
                </a:moveTo>
                <a:lnTo>
                  <a:pt x="49" y="38"/>
                </a:lnTo>
                <a:lnTo>
                  <a:pt x="0" y="7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8" name="Freeform 7"/>
          <p:cNvSpPr>
            <a:spLocks/>
          </p:cNvSpPr>
          <p:nvPr/>
        </p:nvSpPr>
        <p:spPr bwMode="auto">
          <a:xfrm>
            <a:off x="3614738" y="3692525"/>
            <a:ext cx="69850" cy="109538"/>
          </a:xfrm>
          <a:custGeom>
            <a:avLst/>
            <a:gdLst>
              <a:gd name="T0" fmla="*/ 0 w 50"/>
              <a:gd name="T1" fmla="*/ 0 h 76"/>
              <a:gd name="T2" fmla="*/ 49 w 50"/>
              <a:gd name="T3" fmla="*/ 38 h 76"/>
              <a:gd name="T4" fmla="*/ 0 w 50"/>
              <a:gd name="T5" fmla="*/ 75 h 76"/>
              <a:gd name="T6" fmla="*/ 0 60000 65536"/>
              <a:gd name="T7" fmla="*/ 0 60000 65536"/>
              <a:gd name="T8" fmla="*/ 0 60000 65536"/>
              <a:gd name="T9" fmla="*/ 0 w 50"/>
              <a:gd name="T10" fmla="*/ 0 h 76"/>
              <a:gd name="T11" fmla="*/ 50 w 50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" h="76">
                <a:moveTo>
                  <a:pt x="0" y="0"/>
                </a:moveTo>
                <a:lnTo>
                  <a:pt x="49" y="38"/>
                </a:lnTo>
                <a:lnTo>
                  <a:pt x="0" y="7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39" name="Rectangle 8"/>
          <p:cNvSpPr>
            <a:spLocks noChangeArrowheads="1"/>
          </p:cNvSpPr>
          <p:nvPr/>
        </p:nvSpPr>
        <p:spPr bwMode="auto">
          <a:xfrm>
            <a:off x="2568733" y="1806575"/>
            <a:ext cx="398147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56127A"/>
                </a:solidFill>
                <a:latin typeface="Verdana" charset="0"/>
              </a:rPr>
              <a:t>rd</a:t>
            </a:r>
          </a:p>
        </p:txBody>
      </p:sp>
      <p:sp>
        <p:nvSpPr>
          <p:cNvPr id="48140" name="Rectangle 9"/>
          <p:cNvSpPr>
            <a:spLocks noChangeArrowheads="1"/>
          </p:cNvSpPr>
          <p:nvPr/>
        </p:nvSpPr>
        <p:spPr bwMode="auto">
          <a:xfrm>
            <a:off x="3073400" y="1806575"/>
            <a:ext cx="463550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clk</a:t>
            </a:r>
          </a:p>
        </p:txBody>
      </p:sp>
      <p:sp>
        <p:nvSpPr>
          <p:cNvPr id="48141" name="Freeform 10"/>
          <p:cNvSpPr>
            <a:spLocks/>
          </p:cNvSpPr>
          <p:nvPr/>
        </p:nvSpPr>
        <p:spPr bwMode="auto">
          <a:xfrm>
            <a:off x="3986213" y="2262188"/>
            <a:ext cx="196850" cy="133350"/>
          </a:xfrm>
          <a:custGeom>
            <a:avLst/>
            <a:gdLst>
              <a:gd name="T0" fmla="*/ 0 w 138"/>
              <a:gd name="T1" fmla="*/ 0 h 737"/>
              <a:gd name="T2" fmla="*/ 137 w 138"/>
              <a:gd name="T3" fmla="*/ 0 h 737"/>
              <a:gd name="T4" fmla="*/ 136 w 138"/>
              <a:gd name="T5" fmla="*/ 736 h 737"/>
              <a:gd name="T6" fmla="*/ 0 60000 65536"/>
              <a:gd name="T7" fmla="*/ 0 60000 65536"/>
              <a:gd name="T8" fmla="*/ 0 60000 65536"/>
              <a:gd name="T9" fmla="*/ 0 w 138"/>
              <a:gd name="T10" fmla="*/ 0 h 737"/>
              <a:gd name="T11" fmla="*/ 138 w 138"/>
              <a:gd name="T12" fmla="*/ 737 h 7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737">
                <a:moveTo>
                  <a:pt x="0" y="0"/>
                </a:moveTo>
                <a:lnTo>
                  <a:pt x="137" y="0"/>
                </a:lnTo>
                <a:lnTo>
                  <a:pt x="136" y="73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42" name="Rectangle 11"/>
          <p:cNvSpPr>
            <a:spLocks noChangeArrowheads="1"/>
          </p:cNvSpPr>
          <p:nvPr/>
        </p:nvSpPr>
        <p:spPr bwMode="auto">
          <a:xfrm>
            <a:off x="4344988" y="2878138"/>
            <a:ext cx="715962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reg 1</a:t>
            </a:r>
          </a:p>
        </p:txBody>
      </p:sp>
      <p:sp>
        <p:nvSpPr>
          <p:cNvPr id="48143" name="Freeform 12"/>
          <p:cNvSpPr>
            <a:spLocks/>
          </p:cNvSpPr>
          <p:nvPr/>
        </p:nvSpPr>
        <p:spPr bwMode="auto">
          <a:xfrm flipH="1">
            <a:off x="3910013" y="2078038"/>
            <a:ext cx="74612" cy="1916112"/>
          </a:xfrm>
          <a:custGeom>
            <a:avLst/>
            <a:gdLst>
              <a:gd name="T0" fmla="*/ 0 w 1"/>
              <a:gd name="T1" fmla="*/ 0 h 329"/>
              <a:gd name="T2" fmla="*/ 0 w 1"/>
              <a:gd name="T3" fmla="*/ 328 h 329"/>
              <a:gd name="T4" fmla="*/ 0 60000 65536"/>
              <a:gd name="T5" fmla="*/ 0 60000 65536"/>
              <a:gd name="T6" fmla="*/ 0 w 1"/>
              <a:gd name="T7" fmla="*/ 0 h 329"/>
              <a:gd name="T8" fmla="*/ 1 w 1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29">
                <a:moveTo>
                  <a:pt x="0" y="0"/>
                </a:moveTo>
                <a:lnTo>
                  <a:pt x="0" y="328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44" name="Rectangle 13"/>
          <p:cNvSpPr>
            <a:spLocks noChangeArrowheads="1"/>
          </p:cNvSpPr>
          <p:nvPr/>
        </p:nvSpPr>
        <p:spPr bwMode="auto">
          <a:xfrm>
            <a:off x="3577752" y="1806575"/>
            <a:ext cx="805811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 err="1">
                <a:solidFill>
                  <a:srgbClr val="56127A"/>
                </a:solidFill>
                <a:latin typeface="Verdana" charset="0"/>
              </a:rPr>
              <a:t>wdata</a:t>
            </a:r>
            <a:endParaRPr lang="en-US" dirty="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48145" name="Rectangle 14"/>
          <p:cNvSpPr>
            <a:spLocks noChangeArrowheads="1"/>
          </p:cNvSpPr>
          <p:nvPr/>
        </p:nvSpPr>
        <p:spPr bwMode="auto">
          <a:xfrm>
            <a:off x="1819275" y="2873375"/>
            <a:ext cx="468313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we</a:t>
            </a:r>
          </a:p>
        </p:txBody>
      </p:sp>
      <p:sp>
        <p:nvSpPr>
          <p:cNvPr id="48146" name="Rectangle 15"/>
          <p:cNvSpPr>
            <a:spLocks noChangeArrowheads="1"/>
          </p:cNvSpPr>
          <p:nvPr/>
        </p:nvSpPr>
        <p:spPr bwMode="auto">
          <a:xfrm>
            <a:off x="6426200" y="1682750"/>
            <a:ext cx="5032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rs1</a:t>
            </a:r>
          </a:p>
        </p:txBody>
      </p:sp>
      <p:sp>
        <p:nvSpPr>
          <p:cNvPr id="48147" name="Rectangle 16"/>
          <p:cNvSpPr>
            <a:spLocks noChangeArrowheads="1"/>
          </p:cNvSpPr>
          <p:nvPr/>
        </p:nvSpPr>
        <p:spPr bwMode="auto">
          <a:xfrm>
            <a:off x="4724400" y="1828800"/>
            <a:ext cx="855904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56127A"/>
                </a:solidFill>
                <a:latin typeface="Verdana" charset="0"/>
              </a:rPr>
              <a:t>rdata1</a:t>
            </a:r>
          </a:p>
        </p:txBody>
      </p:sp>
      <p:sp>
        <p:nvSpPr>
          <p:cNvPr id="48148" name="Rectangle 17"/>
          <p:cNvSpPr>
            <a:spLocks noChangeArrowheads="1"/>
          </p:cNvSpPr>
          <p:nvPr/>
        </p:nvSpPr>
        <p:spPr bwMode="auto">
          <a:xfrm>
            <a:off x="5486400" y="1828800"/>
            <a:ext cx="855904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dirty="0">
                <a:solidFill>
                  <a:srgbClr val="56127A"/>
                </a:solidFill>
                <a:latin typeface="Verdana" charset="0"/>
              </a:rPr>
              <a:t>rdata2</a:t>
            </a:r>
          </a:p>
        </p:txBody>
      </p:sp>
      <p:sp>
        <p:nvSpPr>
          <p:cNvPr id="48149" name="Rectangle 18"/>
          <p:cNvSpPr>
            <a:spLocks noChangeArrowheads="1"/>
          </p:cNvSpPr>
          <p:nvPr/>
        </p:nvSpPr>
        <p:spPr bwMode="auto">
          <a:xfrm>
            <a:off x="3624263" y="2392363"/>
            <a:ext cx="2451100" cy="3111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0" name="Freeform 19"/>
          <p:cNvSpPr>
            <a:spLocks/>
          </p:cNvSpPr>
          <p:nvPr/>
        </p:nvSpPr>
        <p:spPr bwMode="auto">
          <a:xfrm>
            <a:off x="3627438" y="2593975"/>
            <a:ext cx="71437" cy="109538"/>
          </a:xfrm>
          <a:custGeom>
            <a:avLst/>
            <a:gdLst>
              <a:gd name="T0" fmla="*/ 0 w 50"/>
              <a:gd name="T1" fmla="*/ 0 h 76"/>
              <a:gd name="T2" fmla="*/ 49 w 50"/>
              <a:gd name="T3" fmla="*/ 38 h 76"/>
              <a:gd name="T4" fmla="*/ 0 w 50"/>
              <a:gd name="T5" fmla="*/ 75 h 76"/>
              <a:gd name="T6" fmla="*/ 0 60000 65536"/>
              <a:gd name="T7" fmla="*/ 0 60000 65536"/>
              <a:gd name="T8" fmla="*/ 0 60000 65536"/>
              <a:gd name="T9" fmla="*/ 0 w 50"/>
              <a:gd name="T10" fmla="*/ 0 h 76"/>
              <a:gd name="T11" fmla="*/ 50 w 50"/>
              <a:gd name="T12" fmla="*/ 76 h 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" h="76">
                <a:moveTo>
                  <a:pt x="0" y="0"/>
                </a:moveTo>
                <a:lnTo>
                  <a:pt x="49" y="38"/>
                </a:lnTo>
                <a:lnTo>
                  <a:pt x="0" y="7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1" name="Rectangle 20"/>
          <p:cNvSpPr>
            <a:spLocks noChangeArrowheads="1"/>
          </p:cNvSpPr>
          <p:nvPr/>
        </p:nvSpPr>
        <p:spPr bwMode="auto">
          <a:xfrm>
            <a:off x="4346575" y="2395538"/>
            <a:ext cx="715963" cy="333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reg 0</a:t>
            </a:r>
          </a:p>
        </p:txBody>
      </p:sp>
      <p:sp>
        <p:nvSpPr>
          <p:cNvPr id="48152" name="Freeform 21"/>
          <p:cNvSpPr>
            <a:spLocks/>
          </p:cNvSpPr>
          <p:nvPr/>
        </p:nvSpPr>
        <p:spPr bwMode="auto">
          <a:xfrm>
            <a:off x="3986213" y="2755900"/>
            <a:ext cx="196850" cy="133350"/>
          </a:xfrm>
          <a:custGeom>
            <a:avLst/>
            <a:gdLst>
              <a:gd name="T0" fmla="*/ 0 w 138"/>
              <a:gd name="T1" fmla="*/ 0 h 737"/>
              <a:gd name="T2" fmla="*/ 137 w 138"/>
              <a:gd name="T3" fmla="*/ 0 h 737"/>
              <a:gd name="T4" fmla="*/ 136 w 138"/>
              <a:gd name="T5" fmla="*/ 736 h 737"/>
              <a:gd name="T6" fmla="*/ 0 60000 65536"/>
              <a:gd name="T7" fmla="*/ 0 60000 65536"/>
              <a:gd name="T8" fmla="*/ 0 60000 65536"/>
              <a:gd name="T9" fmla="*/ 0 w 138"/>
              <a:gd name="T10" fmla="*/ 0 h 737"/>
              <a:gd name="T11" fmla="*/ 138 w 138"/>
              <a:gd name="T12" fmla="*/ 737 h 7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737">
                <a:moveTo>
                  <a:pt x="0" y="0"/>
                </a:moveTo>
                <a:lnTo>
                  <a:pt x="137" y="0"/>
                </a:lnTo>
                <a:lnTo>
                  <a:pt x="136" y="73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3" name="Freeform 22"/>
          <p:cNvSpPr>
            <a:spLocks/>
          </p:cNvSpPr>
          <p:nvPr/>
        </p:nvSpPr>
        <p:spPr bwMode="auto">
          <a:xfrm>
            <a:off x="3986213" y="3343275"/>
            <a:ext cx="196850" cy="133350"/>
          </a:xfrm>
          <a:custGeom>
            <a:avLst/>
            <a:gdLst>
              <a:gd name="T0" fmla="*/ 0 w 138"/>
              <a:gd name="T1" fmla="*/ 0 h 737"/>
              <a:gd name="T2" fmla="*/ 137 w 138"/>
              <a:gd name="T3" fmla="*/ 0 h 737"/>
              <a:gd name="T4" fmla="*/ 136 w 138"/>
              <a:gd name="T5" fmla="*/ 736 h 737"/>
              <a:gd name="T6" fmla="*/ 0 60000 65536"/>
              <a:gd name="T7" fmla="*/ 0 60000 65536"/>
              <a:gd name="T8" fmla="*/ 0 60000 65536"/>
              <a:gd name="T9" fmla="*/ 0 w 138"/>
              <a:gd name="T10" fmla="*/ 0 h 737"/>
              <a:gd name="T11" fmla="*/ 138 w 138"/>
              <a:gd name="T12" fmla="*/ 737 h 7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737">
                <a:moveTo>
                  <a:pt x="0" y="0"/>
                </a:moveTo>
                <a:lnTo>
                  <a:pt x="137" y="0"/>
                </a:lnTo>
                <a:lnTo>
                  <a:pt x="136" y="73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4" name="Text Box 23"/>
          <p:cNvSpPr txBox="1">
            <a:spLocks noChangeArrowheads="1"/>
          </p:cNvSpPr>
          <p:nvPr/>
        </p:nvSpPr>
        <p:spPr bwMode="auto">
          <a:xfrm rot="5400000">
            <a:off x="4487069" y="3175794"/>
            <a:ext cx="4587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3600" b="1">
                <a:solidFill>
                  <a:schemeClr val="tx1"/>
                </a:solidFill>
                <a:latin typeface="Courier New" charset="0"/>
              </a:rPr>
              <a:t>…</a:t>
            </a:r>
          </a:p>
        </p:txBody>
      </p:sp>
      <p:sp>
        <p:nvSpPr>
          <p:cNvPr id="48155" name="Text Box 24"/>
          <p:cNvSpPr txBox="1">
            <a:spLocks noChangeArrowheads="1"/>
          </p:cNvSpPr>
          <p:nvPr/>
        </p:nvSpPr>
        <p:spPr bwMode="auto">
          <a:xfrm>
            <a:off x="3725863" y="2078038"/>
            <a:ext cx="182562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  <a:latin typeface="Courier New" charset="0"/>
              </a:rPr>
              <a:t>32</a:t>
            </a:r>
          </a:p>
        </p:txBody>
      </p:sp>
      <p:sp>
        <p:nvSpPr>
          <p:cNvPr id="48156" name="Freeform 25"/>
          <p:cNvSpPr>
            <a:spLocks/>
          </p:cNvSpPr>
          <p:nvPr/>
        </p:nvSpPr>
        <p:spPr bwMode="auto">
          <a:xfrm>
            <a:off x="3929063" y="2109788"/>
            <a:ext cx="112712" cy="103187"/>
          </a:xfrm>
          <a:custGeom>
            <a:avLst/>
            <a:gdLst>
              <a:gd name="T0" fmla="*/ 0 w 71"/>
              <a:gd name="T1" fmla="*/ 65 h 65"/>
              <a:gd name="T2" fmla="*/ 71 w 71"/>
              <a:gd name="T3" fmla="*/ 0 h 65"/>
              <a:gd name="T4" fmla="*/ 0 60000 65536"/>
              <a:gd name="T5" fmla="*/ 0 60000 65536"/>
              <a:gd name="T6" fmla="*/ 0 w 71"/>
              <a:gd name="T7" fmla="*/ 0 h 65"/>
              <a:gd name="T8" fmla="*/ 71 w 71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1" h="65">
                <a:moveTo>
                  <a:pt x="0" y="65"/>
                </a:moveTo>
                <a:lnTo>
                  <a:pt x="71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7" name="Line 26"/>
          <p:cNvSpPr>
            <a:spLocks noChangeShapeType="1"/>
          </p:cNvSpPr>
          <p:nvPr/>
        </p:nvSpPr>
        <p:spPr bwMode="auto">
          <a:xfrm flipH="1">
            <a:off x="3340100" y="3140075"/>
            <a:ext cx="285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8" name="Line 27"/>
          <p:cNvSpPr>
            <a:spLocks noChangeShapeType="1"/>
          </p:cNvSpPr>
          <p:nvPr/>
        </p:nvSpPr>
        <p:spPr bwMode="auto">
          <a:xfrm>
            <a:off x="2935288" y="2978150"/>
            <a:ext cx="687387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59" name="Line 28"/>
          <p:cNvSpPr>
            <a:spLocks noChangeShapeType="1"/>
          </p:cNvSpPr>
          <p:nvPr/>
        </p:nvSpPr>
        <p:spPr bwMode="auto">
          <a:xfrm>
            <a:off x="2233613" y="3054350"/>
            <a:ext cx="3810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0" name="Line 29"/>
          <p:cNvSpPr>
            <a:spLocks noChangeShapeType="1"/>
          </p:cNvSpPr>
          <p:nvPr/>
        </p:nvSpPr>
        <p:spPr bwMode="auto">
          <a:xfrm flipH="1">
            <a:off x="3328988" y="2078038"/>
            <a:ext cx="3175" cy="1673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1" name="AutoShape 30"/>
          <p:cNvSpPr>
            <a:spLocks noChangeArrowheads="1"/>
          </p:cNvSpPr>
          <p:nvPr/>
        </p:nvSpPr>
        <p:spPr bwMode="auto">
          <a:xfrm rot="5400000" flipH="1">
            <a:off x="2107407" y="2920206"/>
            <a:ext cx="1346200" cy="296863"/>
          </a:xfrm>
          <a:prstGeom prst="flowChartManualOperat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2" name="Line 31"/>
          <p:cNvSpPr>
            <a:spLocks noChangeShapeType="1"/>
          </p:cNvSpPr>
          <p:nvPr/>
        </p:nvSpPr>
        <p:spPr bwMode="auto">
          <a:xfrm flipH="1">
            <a:off x="3332163" y="3752850"/>
            <a:ext cx="284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3" name="Line 32"/>
          <p:cNvSpPr>
            <a:spLocks noChangeShapeType="1"/>
          </p:cNvSpPr>
          <p:nvPr/>
        </p:nvSpPr>
        <p:spPr bwMode="auto">
          <a:xfrm>
            <a:off x="2919413" y="3605213"/>
            <a:ext cx="685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4" name="Line 33"/>
          <p:cNvSpPr>
            <a:spLocks noChangeShapeType="1"/>
          </p:cNvSpPr>
          <p:nvPr/>
        </p:nvSpPr>
        <p:spPr bwMode="auto">
          <a:xfrm>
            <a:off x="2767013" y="2078038"/>
            <a:ext cx="0" cy="465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5" name="Line 34"/>
          <p:cNvSpPr>
            <a:spLocks noChangeShapeType="1"/>
          </p:cNvSpPr>
          <p:nvPr/>
        </p:nvSpPr>
        <p:spPr bwMode="auto">
          <a:xfrm flipH="1">
            <a:off x="3341688" y="2657475"/>
            <a:ext cx="285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6" name="Line 35"/>
          <p:cNvSpPr>
            <a:spLocks noChangeShapeType="1"/>
          </p:cNvSpPr>
          <p:nvPr/>
        </p:nvSpPr>
        <p:spPr bwMode="auto">
          <a:xfrm>
            <a:off x="2919413" y="2520950"/>
            <a:ext cx="685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67" name="Text Box 36"/>
          <p:cNvSpPr txBox="1">
            <a:spLocks noChangeArrowheads="1"/>
          </p:cNvSpPr>
          <p:nvPr/>
        </p:nvSpPr>
        <p:spPr bwMode="auto">
          <a:xfrm rot="5400000">
            <a:off x="2948782" y="3088481"/>
            <a:ext cx="4587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3600" b="1">
                <a:solidFill>
                  <a:schemeClr val="bg2"/>
                </a:solidFill>
                <a:latin typeface="Courier New" charset="0"/>
              </a:rPr>
              <a:t>…</a:t>
            </a:r>
          </a:p>
        </p:txBody>
      </p:sp>
      <p:sp>
        <p:nvSpPr>
          <p:cNvPr id="48168" name="Text Box 37"/>
          <p:cNvSpPr txBox="1">
            <a:spLocks noChangeArrowheads="1"/>
          </p:cNvSpPr>
          <p:nvPr/>
        </p:nvSpPr>
        <p:spPr bwMode="auto">
          <a:xfrm>
            <a:off x="2586038" y="2120900"/>
            <a:ext cx="920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 b="1">
                <a:solidFill>
                  <a:schemeClr val="tx1"/>
                </a:solidFill>
                <a:latin typeface="Courier New" charset="0"/>
              </a:rPr>
              <a:t>5</a:t>
            </a:r>
          </a:p>
        </p:txBody>
      </p:sp>
      <p:sp>
        <p:nvSpPr>
          <p:cNvPr id="48169" name="Freeform 38"/>
          <p:cNvSpPr>
            <a:spLocks/>
          </p:cNvSpPr>
          <p:nvPr/>
        </p:nvSpPr>
        <p:spPr bwMode="auto">
          <a:xfrm>
            <a:off x="2709863" y="2141538"/>
            <a:ext cx="112712" cy="103187"/>
          </a:xfrm>
          <a:custGeom>
            <a:avLst/>
            <a:gdLst>
              <a:gd name="T0" fmla="*/ 0 w 71"/>
              <a:gd name="T1" fmla="*/ 65 h 65"/>
              <a:gd name="T2" fmla="*/ 71 w 71"/>
              <a:gd name="T3" fmla="*/ 0 h 65"/>
              <a:gd name="T4" fmla="*/ 0 60000 65536"/>
              <a:gd name="T5" fmla="*/ 0 60000 65536"/>
              <a:gd name="T6" fmla="*/ 0 w 71"/>
              <a:gd name="T7" fmla="*/ 0 h 65"/>
              <a:gd name="T8" fmla="*/ 71 w 71"/>
              <a:gd name="T9" fmla="*/ 65 h 6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1" h="65">
                <a:moveTo>
                  <a:pt x="0" y="65"/>
                </a:moveTo>
                <a:lnTo>
                  <a:pt x="71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5062538" y="2062163"/>
            <a:ext cx="458787" cy="1971675"/>
            <a:chOff x="2907" y="1995"/>
            <a:chExt cx="289" cy="1242"/>
          </a:xfrm>
        </p:grpSpPr>
        <p:sp>
          <p:nvSpPr>
            <p:cNvPr id="48198" name="Freeform 40"/>
            <p:cNvSpPr>
              <a:spLocks/>
            </p:cNvSpPr>
            <p:nvPr/>
          </p:nvSpPr>
          <p:spPr bwMode="auto">
            <a:xfrm flipV="1">
              <a:off x="3072" y="3083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9" name="Text Box 41"/>
            <p:cNvSpPr txBox="1">
              <a:spLocks noChangeArrowheads="1"/>
            </p:cNvSpPr>
            <p:nvPr/>
          </p:nvSpPr>
          <p:spPr bwMode="auto">
            <a:xfrm>
              <a:off x="2907" y="1995"/>
              <a:ext cx="11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chemeClr val="tx1"/>
                  </a:solidFill>
                  <a:latin typeface="Courier New" charset="0"/>
                </a:rPr>
                <a:t>32</a:t>
              </a:r>
            </a:p>
          </p:txBody>
        </p:sp>
        <p:sp>
          <p:nvSpPr>
            <p:cNvPr id="48200" name="Freeform 42"/>
            <p:cNvSpPr>
              <a:spLocks/>
            </p:cNvSpPr>
            <p:nvPr/>
          </p:nvSpPr>
          <p:spPr bwMode="auto">
            <a:xfrm>
              <a:off x="3035" y="2015"/>
              <a:ext cx="71" cy="65"/>
            </a:xfrm>
            <a:custGeom>
              <a:avLst/>
              <a:gdLst>
                <a:gd name="T0" fmla="*/ 0 w 71"/>
                <a:gd name="T1" fmla="*/ 65 h 65"/>
                <a:gd name="T2" fmla="*/ 71 w 71"/>
                <a:gd name="T3" fmla="*/ 0 h 65"/>
                <a:gd name="T4" fmla="*/ 0 60000 65536"/>
                <a:gd name="T5" fmla="*/ 0 60000 65536"/>
                <a:gd name="T6" fmla="*/ 0 w 71"/>
                <a:gd name="T7" fmla="*/ 0 h 65"/>
                <a:gd name="T8" fmla="*/ 71 w 71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" h="65">
                  <a:moveTo>
                    <a:pt x="0" y="65"/>
                  </a:moveTo>
                  <a:lnTo>
                    <a:pt x="7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01" name="Freeform 43"/>
            <p:cNvSpPr>
              <a:spLocks/>
            </p:cNvSpPr>
            <p:nvPr/>
          </p:nvSpPr>
          <p:spPr bwMode="auto">
            <a:xfrm flipH="1">
              <a:off x="3011" y="2030"/>
              <a:ext cx="47" cy="1207"/>
            </a:xfrm>
            <a:custGeom>
              <a:avLst/>
              <a:gdLst>
                <a:gd name="T0" fmla="*/ 0 w 1"/>
                <a:gd name="T1" fmla="*/ 0 h 329"/>
                <a:gd name="T2" fmla="*/ 0 w 1"/>
                <a:gd name="T3" fmla="*/ 328 h 329"/>
                <a:gd name="T4" fmla="*/ 0 60000 65536"/>
                <a:gd name="T5" fmla="*/ 0 60000 65536"/>
                <a:gd name="T6" fmla="*/ 0 w 1"/>
                <a:gd name="T7" fmla="*/ 0 h 329"/>
                <a:gd name="T8" fmla="*/ 1 w 1"/>
                <a:gd name="T9" fmla="*/ 329 h 3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9">
                  <a:moveTo>
                    <a:pt x="0" y="0"/>
                  </a:moveTo>
                  <a:lnTo>
                    <a:pt x="0" y="32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02" name="Freeform 44"/>
            <p:cNvSpPr>
              <a:spLocks/>
            </p:cNvSpPr>
            <p:nvPr/>
          </p:nvSpPr>
          <p:spPr bwMode="auto">
            <a:xfrm flipV="1">
              <a:off x="3072" y="2390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03" name="Freeform 45"/>
            <p:cNvSpPr>
              <a:spLocks/>
            </p:cNvSpPr>
            <p:nvPr/>
          </p:nvSpPr>
          <p:spPr bwMode="auto">
            <a:xfrm flipV="1">
              <a:off x="3072" y="2703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5510213" y="2062163"/>
            <a:ext cx="458787" cy="1971675"/>
            <a:chOff x="2907" y="1995"/>
            <a:chExt cx="289" cy="1242"/>
          </a:xfrm>
        </p:grpSpPr>
        <p:sp>
          <p:nvSpPr>
            <p:cNvPr id="48192" name="Freeform 47"/>
            <p:cNvSpPr>
              <a:spLocks/>
            </p:cNvSpPr>
            <p:nvPr/>
          </p:nvSpPr>
          <p:spPr bwMode="auto">
            <a:xfrm flipV="1">
              <a:off x="3072" y="3083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3" name="Text Box 48"/>
            <p:cNvSpPr txBox="1">
              <a:spLocks noChangeArrowheads="1"/>
            </p:cNvSpPr>
            <p:nvPr/>
          </p:nvSpPr>
          <p:spPr bwMode="auto">
            <a:xfrm>
              <a:off x="2907" y="1995"/>
              <a:ext cx="115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chemeClr val="tx1"/>
                  </a:solidFill>
                  <a:latin typeface="Courier New" charset="0"/>
                </a:rPr>
                <a:t>32</a:t>
              </a:r>
            </a:p>
          </p:txBody>
        </p:sp>
        <p:sp>
          <p:nvSpPr>
            <p:cNvPr id="48194" name="Freeform 49"/>
            <p:cNvSpPr>
              <a:spLocks/>
            </p:cNvSpPr>
            <p:nvPr/>
          </p:nvSpPr>
          <p:spPr bwMode="auto">
            <a:xfrm>
              <a:off x="3035" y="2015"/>
              <a:ext cx="71" cy="65"/>
            </a:xfrm>
            <a:custGeom>
              <a:avLst/>
              <a:gdLst>
                <a:gd name="T0" fmla="*/ 0 w 71"/>
                <a:gd name="T1" fmla="*/ 65 h 65"/>
                <a:gd name="T2" fmla="*/ 71 w 71"/>
                <a:gd name="T3" fmla="*/ 0 h 65"/>
                <a:gd name="T4" fmla="*/ 0 60000 65536"/>
                <a:gd name="T5" fmla="*/ 0 60000 65536"/>
                <a:gd name="T6" fmla="*/ 0 w 71"/>
                <a:gd name="T7" fmla="*/ 0 h 65"/>
                <a:gd name="T8" fmla="*/ 71 w 71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" h="65">
                  <a:moveTo>
                    <a:pt x="0" y="65"/>
                  </a:moveTo>
                  <a:lnTo>
                    <a:pt x="7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5" name="Freeform 50"/>
            <p:cNvSpPr>
              <a:spLocks/>
            </p:cNvSpPr>
            <p:nvPr/>
          </p:nvSpPr>
          <p:spPr bwMode="auto">
            <a:xfrm flipH="1">
              <a:off x="3011" y="2030"/>
              <a:ext cx="47" cy="1207"/>
            </a:xfrm>
            <a:custGeom>
              <a:avLst/>
              <a:gdLst>
                <a:gd name="T0" fmla="*/ 0 w 1"/>
                <a:gd name="T1" fmla="*/ 0 h 329"/>
                <a:gd name="T2" fmla="*/ 0 w 1"/>
                <a:gd name="T3" fmla="*/ 328 h 329"/>
                <a:gd name="T4" fmla="*/ 0 60000 65536"/>
                <a:gd name="T5" fmla="*/ 0 60000 65536"/>
                <a:gd name="T6" fmla="*/ 0 w 1"/>
                <a:gd name="T7" fmla="*/ 0 h 329"/>
                <a:gd name="T8" fmla="*/ 1 w 1"/>
                <a:gd name="T9" fmla="*/ 329 h 3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9">
                  <a:moveTo>
                    <a:pt x="0" y="0"/>
                  </a:moveTo>
                  <a:lnTo>
                    <a:pt x="0" y="32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6" name="Freeform 51"/>
            <p:cNvSpPr>
              <a:spLocks/>
            </p:cNvSpPr>
            <p:nvPr/>
          </p:nvSpPr>
          <p:spPr bwMode="auto">
            <a:xfrm flipV="1">
              <a:off x="3072" y="2390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7" name="Freeform 52"/>
            <p:cNvSpPr>
              <a:spLocks/>
            </p:cNvSpPr>
            <p:nvPr/>
          </p:nvSpPr>
          <p:spPr bwMode="auto">
            <a:xfrm flipV="1">
              <a:off x="3072" y="2703"/>
              <a:ext cx="124" cy="84"/>
            </a:xfrm>
            <a:custGeom>
              <a:avLst/>
              <a:gdLst>
                <a:gd name="T0" fmla="*/ 0 w 138"/>
                <a:gd name="T1" fmla="*/ 0 h 737"/>
                <a:gd name="T2" fmla="*/ 137 w 138"/>
                <a:gd name="T3" fmla="*/ 0 h 737"/>
                <a:gd name="T4" fmla="*/ 136 w 138"/>
                <a:gd name="T5" fmla="*/ 736 h 737"/>
                <a:gd name="T6" fmla="*/ 0 60000 65536"/>
                <a:gd name="T7" fmla="*/ 0 60000 65536"/>
                <a:gd name="T8" fmla="*/ 0 60000 65536"/>
                <a:gd name="T9" fmla="*/ 0 w 138"/>
                <a:gd name="T10" fmla="*/ 0 h 737"/>
                <a:gd name="T11" fmla="*/ 138 w 138"/>
                <a:gd name="T12" fmla="*/ 737 h 7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737">
                  <a:moveTo>
                    <a:pt x="0" y="0"/>
                  </a:moveTo>
                  <a:lnTo>
                    <a:pt x="137" y="0"/>
                  </a:lnTo>
                  <a:lnTo>
                    <a:pt x="136" y="73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172" name="Line 53"/>
          <p:cNvSpPr>
            <a:spLocks noChangeShapeType="1"/>
          </p:cNvSpPr>
          <p:nvPr/>
        </p:nvSpPr>
        <p:spPr bwMode="auto">
          <a:xfrm flipH="1">
            <a:off x="6062663" y="2928938"/>
            <a:ext cx="671512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3" name="AutoShape 54"/>
          <p:cNvSpPr>
            <a:spLocks noChangeArrowheads="1"/>
          </p:cNvSpPr>
          <p:nvPr/>
        </p:nvSpPr>
        <p:spPr bwMode="auto">
          <a:xfrm rot="-5400000">
            <a:off x="6215857" y="2870993"/>
            <a:ext cx="1346200" cy="296863"/>
          </a:xfrm>
          <a:prstGeom prst="flowChartManualOperation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4" name="Line 55"/>
          <p:cNvSpPr>
            <a:spLocks noChangeShapeType="1"/>
          </p:cNvSpPr>
          <p:nvPr/>
        </p:nvSpPr>
        <p:spPr bwMode="auto">
          <a:xfrm flipH="1">
            <a:off x="6064250" y="3556000"/>
            <a:ext cx="685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5" name="Line 56"/>
          <p:cNvSpPr>
            <a:spLocks noChangeShapeType="1"/>
          </p:cNvSpPr>
          <p:nvPr/>
        </p:nvSpPr>
        <p:spPr bwMode="auto">
          <a:xfrm flipH="1">
            <a:off x="6064250" y="2471738"/>
            <a:ext cx="685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6" name="Text Box 57"/>
          <p:cNvSpPr txBox="1">
            <a:spLocks noChangeArrowheads="1"/>
          </p:cNvSpPr>
          <p:nvPr/>
        </p:nvSpPr>
        <p:spPr bwMode="auto">
          <a:xfrm rot="16200000" flipH="1">
            <a:off x="6230144" y="2921794"/>
            <a:ext cx="4587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3600" b="1">
                <a:solidFill>
                  <a:schemeClr val="bg2"/>
                </a:solidFill>
                <a:latin typeface="Courier New" charset="0"/>
              </a:rPr>
              <a:t>…</a:t>
            </a:r>
          </a:p>
        </p:txBody>
      </p:sp>
      <p:sp>
        <p:nvSpPr>
          <p:cNvPr id="48177" name="Line 58"/>
          <p:cNvSpPr>
            <a:spLocks noChangeShapeType="1"/>
          </p:cNvSpPr>
          <p:nvPr/>
        </p:nvSpPr>
        <p:spPr bwMode="auto">
          <a:xfrm flipH="1">
            <a:off x="6073775" y="2624138"/>
            <a:ext cx="685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8" name="Line 59"/>
          <p:cNvSpPr>
            <a:spLocks noChangeShapeType="1"/>
          </p:cNvSpPr>
          <p:nvPr/>
        </p:nvSpPr>
        <p:spPr bwMode="auto">
          <a:xfrm flipH="1">
            <a:off x="6073775" y="3084513"/>
            <a:ext cx="65722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79" name="Line 60"/>
          <p:cNvSpPr>
            <a:spLocks noChangeShapeType="1"/>
          </p:cNvSpPr>
          <p:nvPr/>
        </p:nvSpPr>
        <p:spPr bwMode="auto">
          <a:xfrm flipH="1">
            <a:off x="6045200" y="3679825"/>
            <a:ext cx="65722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180" name="Rectangle 61"/>
          <p:cNvSpPr>
            <a:spLocks noChangeArrowheads="1"/>
          </p:cNvSpPr>
          <p:nvPr/>
        </p:nvSpPr>
        <p:spPr bwMode="auto">
          <a:xfrm>
            <a:off x="7042150" y="1847850"/>
            <a:ext cx="5032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rs2</a:t>
            </a:r>
          </a:p>
        </p:txBody>
      </p:sp>
      <p:grpSp>
        <p:nvGrpSpPr>
          <p:cNvPr id="4" name="Group 62"/>
          <p:cNvGrpSpPr>
            <a:grpSpLocks/>
          </p:cNvGrpSpPr>
          <p:nvPr/>
        </p:nvGrpSpPr>
        <p:grpSpPr bwMode="auto">
          <a:xfrm>
            <a:off x="6777038" y="1971675"/>
            <a:ext cx="204787" cy="481013"/>
            <a:chOff x="4632" y="2096"/>
            <a:chExt cx="129" cy="303"/>
          </a:xfrm>
        </p:grpSpPr>
        <p:sp>
          <p:nvSpPr>
            <p:cNvPr id="48188" name="Text Box 63"/>
            <p:cNvSpPr txBox="1">
              <a:spLocks noChangeArrowheads="1"/>
            </p:cNvSpPr>
            <p:nvPr/>
          </p:nvSpPr>
          <p:spPr bwMode="auto">
            <a:xfrm flipH="1">
              <a:off x="4703" y="2096"/>
              <a:ext cx="5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chemeClr val="tx1"/>
                  </a:solidFill>
                  <a:latin typeface="Courier New" charset="0"/>
                </a:rPr>
                <a:t>5</a:t>
              </a:r>
            </a:p>
          </p:txBody>
        </p:sp>
        <p:sp>
          <p:nvSpPr>
            <p:cNvPr id="48189" name="Text Box 64"/>
            <p:cNvSpPr txBox="1">
              <a:spLocks noChangeArrowheads="1"/>
            </p:cNvSpPr>
            <p:nvPr/>
          </p:nvSpPr>
          <p:spPr bwMode="auto">
            <a:xfrm flipH="1">
              <a:off x="4632" y="2169"/>
              <a:ext cx="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endParaRPr lang="en-US" sz="1200" b="1">
                <a:solidFill>
                  <a:schemeClr val="tx1"/>
                </a:solidFill>
                <a:latin typeface="Courier New" charset="0"/>
              </a:endParaRPr>
            </a:p>
          </p:txBody>
        </p:sp>
        <p:sp>
          <p:nvSpPr>
            <p:cNvPr id="48190" name="Line 65"/>
            <p:cNvSpPr>
              <a:spLocks noChangeShapeType="1"/>
            </p:cNvSpPr>
            <p:nvPr/>
          </p:nvSpPr>
          <p:spPr bwMode="auto">
            <a:xfrm flipH="1">
              <a:off x="4667" y="2106"/>
              <a:ext cx="0" cy="2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1" name="Freeform 66"/>
            <p:cNvSpPr>
              <a:spLocks/>
            </p:cNvSpPr>
            <p:nvPr/>
          </p:nvSpPr>
          <p:spPr bwMode="auto">
            <a:xfrm flipH="1">
              <a:off x="4632" y="2146"/>
              <a:ext cx="71" cy="65"/>
            </a:xfrm>
            <a:custGeom>
              <a:avLst/>
              <a:gdLst>
                <a:gd name="T0" fmla="*/ 0 w 71"/>
                <a:gd name="T1" fmla="*/ 65 h 65"/>
                <a:gd name="T2" fmla="*/ 71 w 71"/>
                <a:gd name="T3" fmla="*/ 0 h 65"/>
                <a:gd name="T4" fmla="*/ 0 60000 65536"/>
                <a:gd name="T5" fmla="*/ 0 60000 65536"/>
                <a:gd name="T6" fmla="*/ 0 w 71"/>
                <a:gd name="T7" fmla="*/ 0 h 65"/>
                <a:gd name="T8" fmla="*/ 71 w 71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" h="65">
                  <a:moveTo>
                    <a:pt x="0" y="65"/>
                  </a:moveTo>
                  <a:lnTo>
                    <a:pt x="7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" name="Group 67"/>
          <p:cNvGrpSpPr>
            <a:grpSpLocks/>
          </p:cNvGrpSpPr>
          <p:nvPr/>
        </p:nvGrpSpPr>
        <p:grpSpPr bwMode="auto">
          <a:xfrm>
            <a:off x="6929438" y="2124075"/>
            <a:ext cx="204787" cy="481013"/>
            <a:chOff x="4632" y="2096"/>
            <a:chExt cx="129" cy="303"/>
          </a:xfrm>
        </p:grpSpPr>
        <p:sp>
          <p:nvSpPr>
            <p:cNvPr id="48184" name="Text Box 68"/>
            <p:cNvSpPr txBox="1">
              <a:spLocks noChangeArrowheads="1"/>
            </p:cNvSpPr>
            <p:nvPr/>
          </p:nvSpPr>
          <p:spPr bwMode="auto">
            <a:xfrm flipH="1">
              <a:off x="4703" y="2096"/>
              <a:ext cx="58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chemeClr val="tx1"/>
                  </a:solidFill>
                  <a:latin typeface="Courier New" charset="0"/>
                </a:rPr>
                <a:t>5</a:t>
              </a:r>
            </a:p>
          </p:txBody>
        </p:sp>
        <p:sp>
          <p:nvSpPr>
            <p:cNvPr id="48185" name="Text Box 69"/>
            <p:cNvSpPr txBox="1">
              <a:spLocks noChangeArrowheads="1"/>
            </p:cNvSpPr>
            <p:nvPr/>
          </p:nvSpPr>
          <p:spPr bwMode="auto">
            <a:xfrm flipH="1">
              <a:off x="4632" y="2169"/>
              <a:ext cx="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endParaRPr lang="en-US" sz="1200" b="1">
                <a:solidFill>
                  <a:schemeClr val="tx1"/>
                </a:solidFill>
                <a:latin typeface="Courier New" charset="0"/>
              </a:endParaRPr>
            </a:p>
          </p:txBody>
        </p:sp>
        <p:sp>
          <p:nvSpPr>
            <p:cNvPr id="48186" name="Line 70"/>
            <p:cNvSpPr>
              <a:spLocks noChangeShapeType="1"/>
            </p:cNvSpPr>
            <p:nvPr/>
          </p:nvSpPr>
          <p:spPr bwMode="auto">
            <a:xfrm flipH="1">
              <a:off x="4667" y="2106"/>
              <a:ext cx="0" cy="2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87" name="Freeform 71"/>
            <p:cNvSpPr>
              <a:spLocks/>
            </p:cNvSpPr>
            <p:nvPr/>
          </p:nvSpPr>
          <p:spPr bwMode="auto">
            <a:xfrm flipH="1">
              <a:off x="4632" y="2146"/>
              <a:ext cx="71" cy="65"/>
            </a:xfrm>
            <a:custGeom>
              <a:avLst/>
              <a:gdLst>
                <a:gd name="T0" fmla="*/ 0 w 71"/>
                <a:gd name="T1" fmla="*/ 65 h 65"/>
                <a:gd name="T2" fmla="*/ 71 w 71"/>
                <a:gd name="T3" fmla="*/ 0 h 65"/>
                <a:gd name="T4" fmla="*/ 0 60000 65536"/>
                <a:gd name="T5" fmla="*/ 0 60000 65536"/>
                <a:gd name="T6" fmla="*/ 0 w 71"/>
                <a:gd name="T7" fmla="*/ 0 h 65"/>
                <a:gd name="T8" fmla="*/ 71 w 71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1" h="65">
                  <a:moveTo>
                    <a:pt x="0" y="65"/>
                  </a:moveTo>
                  <a:lnTo>
                    <a:pt x="7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8183" name="Rectangle 72"/>
          <p:cNvSpPr>
            <a:spLocks noGrp="1" noChangeArrowheads="1"/>
          </p:cNvSpPr>
          <p:nvPr>
            <p:ph type="body" idx="1"/>
          </p:nvPr>
        </p:nvSpPr>
        <p:spPr>
          <a:xfrm>
            <a:off x="762000" y="4495800"/>
            <a:ext cx="8135938" cy="1143000"/>
          </a:xfrm>
          <a:noFill/>
        </p:spPr>
        <p:txBody>
          <a:bodyPr/>
          <a:lstStyle/>
          <a:p>
            <a:pPr marL="285750" lvl="1" indent="-285750">
              <a:lnSpc>
                <a:spcPct val="80000"/>
              </a:lnSpc>
              <a:buFontTx/>
              <a:buChar char="•"/>
            </a:pPr>
            <a:r>
              <a:rPr lang="en-US" dirty="0"/>
              <a:t>RISC-V integer instructions have at most 2 register source operands </a:t>
            </a:r>
          </a:p>
          <a:p>
            <a:pPr>
              <a:lnSpc>
                <a:spcPct val="80000"/>
              </a:lnSpc>
            </a:pPr>
            <a:r>
              <a:rPr lang="en-US" sz="1800" dirty="0"/>
              <a:t>Register files with a large number of ports are difficult to design</a:t>
            </a:r>
          </a:p>
          <a:p>
            <a:pPr lvl="1">
              <a:lnSpc>
                <a:spcPct val="80000"/>
              </a:lnSpc>
            </a:pPr>
            <a:r>
              <a:rPr lang="en-US" i="1" dirty="0"/>
              <a:t>Intel’s Itanium, GPR File has 128 registers with 8 read ports and 4 write ports to support 4 integer operations per cycle!!!</a:t>
            </a: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DE79B2-7BA1-5D4B-BCF5-77B4D03BA4CA}" type="slidenum">
              <a:rPr lang="en-US"/>
              <a:pPr/>
              <a:t>18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533400"/>
            <a:ext cx="7162800" cy="723900"/>
          </a:xfrm>
          <a:noFill/>
        </p:spPr>
        <p:txBody>
          <a:bodyPr lIns="90488" tIns="44450" rIns="90488" bIns="44450"/>
          <a:lstStyle/>
          <a:p>
            <a:r>
              <a:rPr lang="en-US"/>
              <a:t>A Simple Memory Model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582738" y="1477963"/>
            <a:ext cx="5537200" cy="2014537"/>
            <a:chOff x="997" y="987"/>
            <a:chExt cx="3488" cy="1269"/>
          </a:xfrm>
        </p:grpSpPr>
        <p:sp>
          <p:nvSpPr>
            <p:cNvPr id="50184" name="Rectangle 4"/>
            <p:cNvSpPr>
              <a:spLocks noChangeArrowheads="1"/>
            </p:cNvSpPr>
            <p:nvPr/>
          </p:nvSpPr>
          <p:spPr bwMode="auto">
            <a:xfrm>
              <a:off x="2279" y="1499"/>
              <a:ext cx="902" cy="75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5" name="Line 5"/>
            <p:cNvSpPr>
              <a:spLocks noChangeShapeType="1"/>
            </p:cNvSpPr>
            <p:nvPr/>
          </p:nvSpPr>
          <p:spPr bwMode="auto">
            <a:xfrm>
              <a:off x="3201" y="1871"/>
              <a:ext cx="4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6" name="Line 6"/>
            <p:cNvSpPr>
              <a:spLocks noChangeShapeType="1"/>
            </p:cNvSpPr>
            <p:nvPr/>
          </p:nvSpPr>
          <p:spPr bwMode="auto">
            <a:xfrm>
              <a:off x="1829" y="2128"/>
              <a:ext cx="4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7" name="Line 7"/>
            <p:cNvSpPr>
              <a:spLocks noChangeShapeType="1"/>
            </p:cNvSpPr>
            <p:nvPr/>
          </p:nvSpPr>
          <p:spPr bwMode="auto">
            <a:xfrm>
              <a:off x="1829" y="1708"/>
              <a:ext cx="44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8" name="Line 8"/>
            <p:cNvSpPr>
              <a:spLocks noChangeShapeType="1"/>
            </p:cNvSpPr>
            <p:nvPr/>
          </p:nvSpPr>
          <p:spPr bwMode="auto">
            <a:xfrm>
              <a:off x="2855" y="1198"/>
              <a:ext cx="0" cy="29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9" name="Rectangle 9"/>
            <p:cNvSpPr>
              <a:spLocks noChangeArrowheads="1"/>
            </p:cNvSpPr>
            <p:nvPr/>
          </p:nvSpPr>
          <p:spPr bwMode="auto">
            <a:xfrm>
              <a:off x="2384" y="1699"/>
              <a:ext cx="661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MAGIC</a:t>
              </a:r>
            </a:p>
            <a:p>
              <a:pPr algn="ctr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 RAM</a:t>
              </a:r>
            </a:p>
          </p:txBody>
        </p:sp>
        <p:sp>
          <p:nvSpPr>
            <p:cNvPr id="50190" name="Rectangle 10"/>
            <p:cNvSpPr>
              <a:spLocks noChangeArrowheads="1"/>
            </p:cNvSpPr>
            <p:nvPr/>
          </p:nvSpPr>
          <p:spPr bwMode="auto">
            <a:xfrm>
              <a:off x="3668" y="1746"/>
              <a:ext cx="817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ReadData</a:t>
              </a:r>
            </a:p>
          </p:txBody>
        </p:sp>
        <p:sp>
          <p:nvSpPr>
            <p:cNvPr id="50191" name="Rectangle 11"/>
            <p:cNvSpPr>
              <a:spLocks noChangeArrowheads="1"/>
            </p:cNvSpPr>
            <p:nvPr/>
          </p:nvSpPr>
          <p:spPr bwMode="auto">
            <a:xfrm>
              <a:off x="997" y="1996"/>
              <a:ext cx="841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WriteData</a:t>
              </a:r>
            </a:p>
          </p:txBody>
        </p:sp>
        <p:sp>
          <p:nvSpPr>
            <p:cNvPr id="50192" name="Rectangle 12"/>
            <p:cNvSpPr>
              <a:spLocks noChangeArrowheads="1"/>
            </p:cNvSpPr>
            <p:nvPr/>
          </p:nvSpPr>
          <p:spPr bwMode="auto">
            <a:xfrm>
              <a:off x="1148" y="1583"/>
              <a:ext cx="68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Address</a:t>
              </a:r>
            </a:p>
          </p:txBody>
        </p:sp>
        <p:sp>
          <p:nvSpPr>
            <p:cNvPr id="50193" name="Rectangle 13"/>
            <p:cNvSpPr>
              <a:spLocks noChangeArrowheads="1"/>
            </p:cNvSpPr>
            <p:nvPr/>
          </p:nvSpPr>
          <p:spPr bwMode="auto">
            <a:xfrm>
              <a:off x="2525" y="987"/>
              <a:ext cx="984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WriteEnable</a:t>
              </a:r>
            </a:p>
          </p:txBody>
        </p:sp>
        <p:sp>
          <p:nvSpPr>
            <p:cNvPr id="50194" name="Line 14"/>
            <p:cNvSpPr>
              <a:spLocks noChangeShapeType="1"/>
            </p:cNvSpPr>
            <p:nvPr/>
          </p:nvSpPr>
          <p:spPr bwMode="auto">
            <a:xfrm>
              <a:off x="2435" y="1360"/>
              <a:ext cx="0" cy="1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95" name="Rectangle 15"/>
            <p:cNvSpPr>
              <a:spLocks noChangeArrowheads="1"/>
            </p:cNvSpPr>
            <p:nvPr/>
          </p:nvSpPr>
          <p:spPr bwMode="auto">
            <a:xfrm>
              <a:off x="2282" y="1176"/>
              <a:ext cx="502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Clock</a:t>
              </a:r>
            </a:p>
          </p:txBody>
        </p:sp>
        <p:sp>
          <p:nvSpPr>
            <p:cNvPr id="50196" name="Line 16"/>
            <p:cNvSpPr>
              <a:spLocks noChangeShapeType="1"/>
            </p:cNvSpPr>
            <p:nvPr/>
          </p:nvSpPr>
          <p:spPr bwMode="auto">
            <a:xfrm>
              <a:off x="2388" y="1509"/>
              <a:ext cx="46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97" name="Line 17"/>
            <p:cNvSpPr>
              <a:spLocks noChangeShapeType="1"/>
            </p:cNvSpPr>
            <p:nvPr/>
          </p:nvSpPr>
          <p:spPr bwMode="auto">
            <a:xfrm flipV="1">
              <a:off x="2432" y="1504"/>
              <a:ext cx="4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0183" name="Rectangle 18"/>
          <p:cNvSpPr>
            <a:spLocks noChangeArrowheads="1"/>
          </p:cNvSpPr>
          <p:nvPr/>
        </p:nvSpPr>
        <p:spPr bwMode="auto">
          <a:xfrm>
            <a:off x="1039813" y="3657600"/>
            <a:ext cx="7342187" cy="28321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Reads and writes are always completed in one cycle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a Read can be done any time (i.e. combinational)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a Write is performed at the rising clock edge</a:t>
            </a:r>
          </a:p>
          <a:p>
            <a:pPr lvl="1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 if it is enabled     </a:t>
            </a:r>
          </a:p>
          <a:p>
            <a:pPr lvl="1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		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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000" i="1">
                <a:solidFill>
                  <a:srgbClr val="56127A"/>
                </a:solidFill>
                <a:latin typeface="Verdana" charset="0"/>
              </a:rPr>
              <a:t>the write address and data</a:t>
            </a:r>
          </a:p>
          <a:p>
            <a:pPr lvl="1">
              <a:spcBef>
                <a:spcPct val="0"/>
              </a:spcBef>
            </a:pPr>
            <a:r>
              <a:rPr lang="en-US" sz="2000" i="1">
                <a:solidFill>
                  <a:srgbClr val="56127A"/>
                </a:solidFill>
                <a:latin typeface="Verdana" charset="0"/>
              </a:rPr>
              <a:t>		      must be stable at the clock edge</a:t>
            </a:r>
          </a:p>
          <a:p>
            <a:pPr lvl="1">
              <a:spcBef>
                <a:spcPct val="0"/>
              </a:spcBef>
            </a:pPr>
            <a:endParaRPr lang="en-US" sz="2000" i="1">
              <a:solidFill>
                <a:srgbClr val="56127A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000" i="1">
                <a:solidFill>
                  <a:schemeClr val="tx1"/>
                </a:solidFill>
                <a:latin typeface="Verdana" charset="0"/>
              </a:rPr>
              <a:t>Later in the course we will present a more realistic model of memory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8C9632-67A9-EA4A-A7E5-F1243917FD91}" type="slidenum">
              <a:rPr lang="en-US"/>
              <a:pPr/>
              <a:t>19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635000" y="533400"/>
            <a:ext cx="7372350" cy="465138"/>
          </a:xfrm>
          <a:noFill/>
        </p:spPr>
        <p:txBody>
          <a:bodyPr lIns="90488" tIns="44450" rIns="90488" bIns="44450"/>
          <a:lstStyle/>
          <a:p>
            <a:r>
              <a:rPr lang="en-US" dirty="0" err="1"/>
              <a:t>Administrivia</a:t>
            </a:r>
            <a:endParaRPr lang="en-US" dirty="0"/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686800" cy="5257800"/>
          </a:xfrm>
          <a:noFill/>
        </p:spPr>
        <p:txBody>
          <a:bodyPr wrap="square" lIns="90488" tIns="44450" rIns="90488" bIns="44450">
            <a:noAutofit/>
          </a:bodyPr>
          <a:lstStyle/>
          <a:p>
            <a:pPr marL="0" indent="0">
              <a:lnSpc>
                <a:spcPct val="85000"/>
              </a:lnSpc>
              <a:spcBef>
                <a:spcPct val="100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/>
              <a:t>Instructor:   </a:t>
            </a:r>
            <a:r>
              <a:rPr lang="en-US" sz="2000" dirty="0" err="1"/>
              <a:t>Yasir</a:t>
            </a:r>
            <a:r>
              <a:rPr lang="en-US" sz="2000" dirty="0"/>
              <a:t> </a:t>
            </a:r>
            <a:r>
              <a:rPr lang="en-US" sz="2000" dirty="0" err="1"/>
              <a:t>Javed</a:t>
            </a:r>
            <a:r>
              <a:rPr lang="en-US" sz="2000" dirty="0"/>
              <a:t>, </a:t>
            </a:r>
            <a:r>
              <a:rPr lang="en-US" sz="2000" b="1" dirty="0">
                <a:latin typeface="Courier" charset="0"/>
                <a:hlinkClick r:id="rId3"/>
              </a:rPr>
              <a:t>yasir.javed@abasyn.edu.pk</a:t>
            </a: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/>
              <a:t>Text:	</a:t>
            </a:r>
            <a:r>
              <a:rPr lang="en-US" sz="2000" i="1" dirty="0"/>
              <a:t>Computer Architecture: A Quantitative Approach,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i="1" dirty="0"/>
              <a:t>	Hennessey and Patterson</a:t>
            </a: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/>
              <a:t>	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/>
              <a:t>Other Reference Material: 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i="1" dirty="0"/>
              <a:t>	Computer organization and </a:t>
            </a:r>
            <a:r>
              <a:rPr lang="en-US" sz="2000" i="1" dirty="0" err="1"/>
              <a:t>Design,The</a:t>
            </a:r>
            <a:r>
              <a:rPr lang="en-US" sz="2000" i="1" dirty="0"/>
              <a:t> hardware/software 	interface, Patterson and Hennessey.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i="1" dirty="0"/>
              <a:t>	UC </a:t>
            </a:r>
            <a:r>
              <a:rPr lang="en-US" sz="2000" i="1" dirty="0" err="1"/>
              <a:t>berkeley</a:t>
            </a:r>
            <a:r>
              <a:rPr lang="en-US" sz="2000" i="1" dirty="0"/>
              <a:t> CS152 and CS252 course material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br>
              <a:rPr lang="en-US" sz="2000" dirty="0"/>
            </a:b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/>
              <a:t>Videos are uploaded on Renzym Education channel. </a:t>
            </a:r>
            <a:r>
              <a:rPr lang="en-US" sz="2000" b="1" dirty="0"/>
              <a:t>Go to playlist section</a:t>
            </a:r>
            <a:r>
              <a:rPr lang="en-US" sz="2000" dirty="0"/>
              <a:t> and </a:t>
            </a:r>
            <a:r>
              <a:rPr lang="en-US" sz="2000" b="1" dirty="0"/>
              <a:t>open </a:t>
            </a:r>
            <a:r>
              <a:rPr lang="en-US" sz="2000" b="1" i="1" u="sng" dirty="0"/>
              <a:t>computer architecture</a:t>
            </a:r>
            <a:r>
              <a:rPr lang="en-US" sz="2000" b="1" dirty="0"/>
              <a:t> playlist</a:t>
            </a: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r>
              <a:rPr lang="en-US" sz="2000" dirty="0" err="1"/>
              <a:t>Youtube</a:t>
            </a:r>
            <a:r>
              <a:rPr lang="en-US" sz="2000" dirty="0"/>
              <a:t> Link: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linkClick r:id="rId4"/>
              </a:rPr>
              <a:t>www.youtube.com/renzymeducation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endParaRPr lang="en-US" sz="2000" dirty="0"/>
          </a:p>
          <a:p>
            <a:pPr marL="0" indent="0">
              <a:lnSpc>
                <a:spcPct val="85000"/>
              </a:lnSpc>
              <a:spcBef>
                <a:spcPct val="45000"/>
              </a:spcBef>
              <a:buFontTx/>
              <a:buNone/>
              <a:tabLst>
                <a:tab pos="1371600" algn="l"/>
                <a:tab pos="4038600" algn="l"/>
              </a:tabLst>
            </a:pPr>
            <a:endParaRPr lang="en-US" sz="2000" dirty="0"/>
          </a:p>
        </p:txBody>
      </p:sp>
      <p:sp>
        <p:nvSpPr>
          <p:cNvPr id="46087" name="Rectangle 4"/>
          <p:cNvSpPr>
            <a:spLocks noChangeArrowheads="1"/>
          </p:cNvSpPr>
          <p:nvPr/>
        </p:nvSpPr>
        <p:spPr bwMode="auto">
          <a:xfrm>
            <a:off x="1011238" y="6411913"/>
            <a:ext cx="1841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/>
            <a:endParaRPr lang="en-US" b="1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ACE719-800C-1542-A19D-F0B5C5693CB8}" type="slidenum">
              <a:rPr lang="en-US"/>
              <a:pPr/>
              <a:t>20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798513" y="609600"/>
            <a:ext cx="6059487" cy="263525"/>
          </a:xfrm>
          <a:noFill/>
        </p:spPr>
        <p:txBody>
          <a:bodyPr lIns="90488" tIns="44450" rIns="90488" bIns="44450"/>
          <a:lstStyle/>
          <a:p>
            <a:r>
              <a:rPr lang="en-US" dirty="0"/>
              <a:t>CS152 Structure and Syllabus</a:t>
            </a: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96963"/>
            <a:ext cx="8258175" cy="5349875"/>
          </a:xfrm>
          <a:noFill/>
        </p:spPr>
        <p:txBody>
          <a:bodyPr lIns="90488" tIns="44450" rIns="90488" bIns="44450"/>
          <a:lstStyle/>
          <a:p>
            <a:pPr marL="457200" indent="-457200">
              <a:buFontTx/>
              <a:buNone/>
            </a:pPr>
            <a:r>
              <a:rPr lang="en-US" sz="3200" dirty="0"/>
              <a:t>Six modules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Simple machine design (</a:t>
            </a:r>
            <a:r>
              <a:rPr lang="en-US" sz="2400" dirty="0" err="1"/>
              <a:t>ISAs</a:t>
            </a:r>
            <a:r>
              <a:rPr lang="en-US" sz="2400" dirty="0"/>
              <a:t>, microprogramming, </a:t>
            </a:r>
            <a:r>
              <a:rPr lang="en-US" sz="2400" dirty="0" err="1"/>
              <a:t>unpipelined</a:t>
            </a:r>
            <a:r>
              <a:rPr lang="en-US" sz="2400" dirty="0"/>
              <a:t> machines, Iron Law, simple pipelines)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Memory hierarchy (DRAM, caches, optimizations) plus virtual memory systems, exceptions, interrupts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Complex pipelining (score-boarding, out-of-order issue)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Explicitly parallel processors (vector machines, VLIW machines, multithreaded machines)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Multiprocessor architectures (memory models, cache coherence, synchronization)</a:t>
            </a:r>
          </a:p>
          <a:p>
            <a:pPr marL="800100" lvl="1" indent="-342900">
              <a:buFontTx/>
              <a:buAutoNum type="arabicPeriod"/>
            </a:pPr>
            <a:r>
              <a:rPr lang="en-US" sz="2400" dirty="0"/>
              <a:t>(If time allows) Multi-threading, Latency Tolerance, GPU, Power, Warehouse Scale Computing</a:t>
            </a:r>
          </a:p>
          <a:p>
            <a:pPr marL="800100" lvl="1" indent="-342900"/>
            <a:endParaRPr lang="en-US" sz="2400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9FFFB8-F710-4F4C-BACE-798B96DEEBF0}" type="slidenum">
              <a:rPr lang="en-US"/>
              <a:pPr/>
              <a:t>21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3048000"/>
            <a:ext cx="7543800" cy="1143000"/>
          </a:xfrm>
          <a:noFill/>
        </p:spPr>
        <p:txBody>
          <a:bodyPr lIns="90488" tIns="44450" rIns="90488" bIns="44450"/>
          <a:lstStyle/>
          <a:p>
            <a:pPr algn="ctr"/>
            <a:r>
              <a:rPr lang="en-US" dirty="0"/>
              <a:t>Instruction Set Architecture (ISA)</a:t>
            </a:r>
            <a:br>
              <a:rPr lang="en-US" dirty="0"/>
            </a:br>
            <a:endParaRPr lang="en-US" sz="2800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ISA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382000" cy="5105400"/>
          </a:xfrm>
        </p:spPr>
        <p:txBody>
          <a:bodyPr/>
          <a:lstStyle/>
          <a:p>
            <a:r>
              <a:rPr lang="en-US" dirty="0"/>
              <a:t>New RISC design from UC Berkeley</a:t>
            </a:r>
          </a:p>
          <a:p>
            <a:r>
              <a:rPr lang="en-US" dirty="0"/>
              <a:t>Realistic &amp; complete ISA, but open &amp; small</a:t>
            </a:r>
          </a:p>
          <a:p>
            <a:r>
              <a:rPr lang="en-US" dirty="0"/>
              <a:t>Not over-architected for a certain implementation style</a:t>
            </a:r>
          </a:p>
          <a:p>
            <a:r>
              <a:rPr lang="en-US" dirty="0"/>
              <a:t>Both 32-bit and 64-bit address space variants</a:t>
            </a:r>
          </a:p>
          <a:p>
            <a:pPr lvl="1"/>
            <a:r>
              <a:rPr lang="en-US" dirty="0"/>
              <a:t>RV32 and RV64</a:t>
            </a:r>
          </a:p>
          <a:p>
            <a:r>
              <a:rPr lang="en-US" dirty="0"/>
              <a:t>Designed for multiprocessing</a:t>
            </a:r>
          </a:p>
          <a:p>
            <a:r>
              <a:rPr lang="en-US" dirty="0"/>
              <a:t>Efficient instruction encoding</a:t>
            </a:r>
          </a:p>
          <a:p>
            <a:r>
              <a:rPr lang="en-US" dirty="0"/>
              <a:t>Easy to subset/extend for education/research</a:t>
            </a:r>
          </a:p>
          <a:p>
            <a:endParaRPr lang="en-US" dirty="0"/>
          </a:p>
          <a:p>
            <a:r>
              <a:rPr lang="en-US" dirty="0"/>
              <a:t>We’ll be using 32-bit RISC-V this semester in lectures, very similar to MIPS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DD4B-3B4A-AA48-9B2E-AC766D551F9B}" type="slidenum">
              <a:rPr lang="en-US" smtClean="0"/>
              <a:pPr/>
              <a:t>22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990600"/>
            <a:ext cx="4826000" cy="5653314"/>
          </a:xfrm>
          <a:prstGeom prst="rect">
            <a:avLst/>
          </a:prstGeom>
        </p:spPr>
      </p:pic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75AD2-AEEE-4B40-97E6-A13DA5357000}" type="slidenum">
              <a:rPr lang="en-US"/>
              <a:pPr/>
              <a:t>23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2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7500" y="482600"/>
            <a:ext cx="7162800" cy="695325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RV32 Processor State</a:t>
            </a:r>
            <a:endParaRPr lang="en-US" sz="1800" i="1" dirty="0"/>
          </a:p>
        </p:txBody>
      </p:sp>
      <p:sp>
        <p:nvSpPr>
          <p:cNvPr id="1124355" name="Rectangle 3"/>
          <p:cNvSpPr>
            <a:spLocks noChangeArrowheads="1"/>
          </p:cNvSpPr>
          <p:nvPr/>
        </p:nvSpPr>
        <p:spPr bwMode="auto">
          <a:xfrm>
            <a:off x="0" y="1600200"/>
            <a:ext cx="4876800" cy="3669210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Program counter (</a:t>
            </a:r>
            <a:r>
              <a:rPr lang="en-US" sz="1800" b="1" dirty="0">
                <a:solidFill>
                  <a:srgbClr val="000000"/>
                </a:solidFill>
                <a:latin typeface="Courier New"/>
                <a:cs typeface="Courier New"/>
              </a:rPr>
              <a:t>pc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1800" dirty="0">
              <a:solidFill>
                <a:srgbClr val="56127A"/>
              </a:solidFill>
              <a:latin typeface="Verdan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32x32-bit integer registers (</a:t>
            </a:r>
            <a:r>
              <a:rPr lang="en-US" sz="1800" b="1" dirty="0">
                <a:solidFill>
                  <a:schemeClr val="tx1"/>
                </a:solidFill>
                <a:latin typeface="Courier New"/>
                <a:cs typeface="Courier New"/>
              </a:rPr>
              <a:t>x0-x31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1800" b="1" dirty="0">
                <a:solidFill>
                  <a:srgbClr val="56127A"/>
                </a:solidFill>
                <a:latin typeface="Courier New"/>
                <a:cs typeface="Courier New"/>
              </a:rPr>
              <a:t>x0 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always contains a 0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1800" dirty="0">
              <a:solidFill>
                <a:srgbClr val="56127A"/>
              </a:solidFill>
              <a:latin typeface="Verdan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32 floating-point (FP) registers (</a:t>
            </a:r>
            <a:r>
              <a:rPr lang="en-US" sz="1800" b="1" dirty="0">
                <a:solidFill>
                  <a:srgbClr val="000000"/>
                </a:solidFill>
                <a:latin typeface="Courier New"/>
                <a:cs typeface="Courier New"/>
              </a:rPr>
              <a:t>f0-f31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each can contain a single- or double-precision FP value (32-bit or 64-bit IEEE FP)</a:t>
            </a:r>
          </a:p>
          <a:p>
            <a:pPr lvl="1">
              <a:lnSpc>
                <a:spcPct val="90000"/>
              </a:lnSpc>
              <a:spcBef>
                <a:spcPct val="0"/>
              </a:spcBef>
              <a:buFont typeface="Arial"/>
              <a:buChar char="•"/>
            </a:pPr>
            <a:endParaRPr lang="en-US" sz="1800" dirty="0">
              <a:solidFill>
                <a:srgbClr val="56127A"/>
              </a:solidFill>
              <a:latin typeface="Verdan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FP status register (</a:t>
            </a:r>
            <a:r>
              <a:rPr lang="en-US" sz="1800" b="1" dirty="0" err="1">
                <a:solidFill>
                  <a:srgbClr val="000000"/>
                </a:solidFill>
                <a:latin typeface="Courier New"/>
                <a:cs typeface="Courier New"/>
              </a:rPr>
              <a:t>fsr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), used for FP rounding mode &amp; exception reporting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en-US" sz="1800" dirty="0">
              <a:solidFill>
                <a:srgbClr val="56127A"/>
              </a:solidFill>
              <a:latin typeface="Verdana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2400" i="1" dirty="0">
              <a:solidFill>
                <a:srgbClr val="56127A"/>
              </a:solidFill>
              <a:latin typeface="Verdana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6F620-4D3B-CE4B-95A1-DAD27F6CC02B}" type="slidenum">
              <a:rPr lang="en-US"/>
              <a:pPr/>
              <a:t>24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2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406400"/>
            <a:ext cx="7162800" cy="850900"/>
          </a:xfrm>
        </p:spPr>
        <p:txBody>
          <a:bodyPr/>
          <a:lstStyle/>
          <a:p>
            <a:r>
              <a:rPr lang="en-US" dirty="0"/>
              <a:t>RISC-V Instruction Formats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3" y="2743200"/>
            <a:ext cx="9032837" cy="16764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8600" y="1295400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Destination Reg.</a:t>
            </a:r>
          </a:p>
        </p:txBody>
      </p:sp>
      <p:cxnSp>
        <p:nvCxnSpPr>
          <p:cNvPr id="59" name="Straight Arrow Connector 58"/>
          <p:cNvCxnSpPr/>
          <p:nvPr/>
        </p:nvCxnSpPr>
        <p:spPr bwMode="auto">
          <a:xfrm rot="16200000" flipH="1">
            <a:off x="571500" y="2476500"/>
            <a:ext cx="762000" cy="76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1524000" y="1752600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Reg. Source 1</a:t>
            </a:r>
          </a:p>
        </p:txBody>
      </p:sp>
      <p:cxnSp>
        <p:nvCxnSpPr>
          <p:cNvPr id="61" name="Straight Arrow Connector 60"/>
          <p:cNvCxnSpPr/>
          <p:nvPr/>
        </p:nvCxnSpPr>
        <p:spPr bwMode="auto">
          <a:xfrm rot="16200000" flipH="1">
            <a:off x="1981200" y="2743200"/>
            <a:ext cx="381000" cy="76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2667000" y="1143000"/>
            <a:ext cx="175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Reg. Source 2</a:t>
            </a:r>
          </a:p>
        </p:txBody>
      </p:sp>
      <p:cxnSp>
        <p:nvCxnSpPr>
          <p:cNvPr id="64" name="Straight Arrow Connector 63"/>
          <p:cNvCxnSpPr/>
          <p:nvPr/>
        </p:nvCxnSpPr>
        <p:spPr bwMode="auto">
          <a:xfrm rot="5400000">
            <a:off x="2781300" y="2400300"/>
            <a:ext cx="1067594" cy="76994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0" name="TextBox 69"/>
          <p:cNvSpPr txBox="1"/>
          <p:nvPr/>
        </p:nvSpPr>
        <p:spPr>
          <a:xfrm>
            <a:off x="6324600" y="1219200"/>
            <a:ext cx="21336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7-bit </a:t>
            </a:r>
            <a:r>
              <a:rPr lang="en-US" sz="2400" dirty="0" err="1">
                <a:solidFill>
                  <a:srgbClr val="000000"/>
                </a:solidFill>
              </a:rPr>
              <a:t>opcode</a:t>
            </a:r>
            <a:r>
              <a:rPr lang="en-US" sz="2400" dirty="0">
                <a:solidFill>
                  <a:srgbClr val="000000"/>
                </a:solidFill>
              </a:rPr>
              <a:t> field (but low 2 bits =11</a:t>
            </a:r>
            <a:r>
              <a:rPr lang="en-US" sz="2400" baseline="-25000" dirty="0">
                <a:solidFill>
                  <a:srgbClr val="000000"/>
                </a:solidFill>
              </a:rPr>
              <a:t>2</a:t>
            </a:r>
            <a:r>
              <a:rPr lang="en-US" sz="2400" dirty="0">
                <a:solidFill>
                  <a:srgbClr val="000000"/>
                </a:solidFill>
              </a:rPr>
              <a:t>)</a:t>
            </a:r>
          </a:p>
        </p:txBody>
      </p:sp>
      <p:cxnSp>
        <p:nvCxnSpPr>
          <p:cNvPr id="71" name="Straight Arrow Connector 70"/>
          <p:cNvCxnSpPr/>
          <p:nvPr/>
        </p:nvCxnSpPr>
        <p:spPr bwMode="auto">
          <a:xfrm rot="5400000">
            <a:off x="6819106" y="2476500"/>
            <a:ext cx="1067594" cy="76994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2" name="TextBox 71"/>
          <p:cNvSpPr txBox="1"/>
          <p:nvPr/>
        </p:nvSpPr>
        <p:spPr>
          <a:xfrm>
            <a:off x="4191794" y="1143000"/>
            <a:ext cx="1980406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Additional </a:t>
            </a:r>
            <a:r>
              <a:rPr lang="en-US" sz="2400" dirty="0" err="1">
                <a:solidFill>
                  <a:srgbClr val="000000"/>
                </a:solidFill>
              </a:rPr>
              <a:t>opcode</a:t>
            </a:r>
            <a:r>
              <a:rPr lang="en-US" sz="2400" dirty="0">
                <a:solidFill>
                  <a:srgbClr val="000000"/>
                </a:solidFill>
              </a:rPr>
              <a:t> bits/immediate</a:t>
            </a:r>
          </a:p>
        </p:txBody>
      </p:sp>
      <p:cxnSp>
        <p:nvCxnSpPr>
          <p:cNvPr id="73" name="Straight Arrow Connector 72"/>
          <p:cNvCxnSpPr/>
          <p:nvPr/>
        </p:nvCxnSpPr>
        <p:spPr bwMode="auto">
          <a:xfrm rot="5400000">
            <a:off x="4533503" y="2629297"/>
            <a:ext cx="610394" cy="76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R-Type/I-Type/R4-Type Formats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16FE6-D586-C649-BA6E-AD2DBC84A05F}" type="slidenum">
              <a:rPr lang="en-US" smtClean="0"/>
              <a:pPr/>
              <a:t>25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95400"/>
            <a:ext cx="8804876" cy="768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655403"/>
            <a:ext cx="8763000" cy="838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05400" y="5569803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Reg. Source 3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rot="10800000">
            <a:off x="5257800" y="5265003"/>
            <a:ext cx="533400" cy="457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641937"/>
            <a:ext cx="87630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48200" y="3429000"/>
            <a:ext cx="388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12-bit signed immediate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rot="10800000">
            <a:off x="4267200" y="3200400"/>
            <a:ext cx="609600" cy="3048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334000" y="1981200"/>
            <a:ext cx="3606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</a:rPr>
              <a:t>Reg-Reg</a:t>
            </a:r>
            <a:r>
              <a:rPr lang="en-US" sz="2400" dirty="0">
                <a:solidFill>
                  <a:srgbClr val="000000"/>
                </a:solidFill>
              </a:rPr>
              <a:t> ALU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3327737"/>
            <a:ext cx="66766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000000"/>
                </a:solidFill>
              </a:rPr>
              <a:t>Reg-Imm</a:t>
            </a:r>
            <a:r>
              <a:rPr lang="en-US" sz="2400" dirty="0">
                <a:solidFill>
                  <a:srgbClr val="000000"/>
                </a:solidFill>
              </a:rPr>
              <a:t> ALU operations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Load instructions, (rs1 + immediate) addressing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" y="5417403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Only used for floating-point fused multiply-add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B-Type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16FE6-D586-C649-BA6E-AD2DBC84A05F}" type="slidenum">
              <a:rPr lang="en-US" smtClean="0"/>
              <a:pPr/>
              <a:t>26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9091749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200" y="12954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12-bit signed immediate split across two fields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 rot="10800000" flipV="1">
            <a:off x="1143000" y="1676400"/>
            <a:ext cx="990600" cy="457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rot="16200000" flipH="1">
            <a:off x="4419600" y="1828800"/>
            <a:ext cx="457200" cy="3048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81000" y="3327737"/>
            <a:ext cx="801072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Branches, compare two registers, </a:t>
            </a:r>
            <a:r>
              <a:rPr lang="en-US" sz="2400" dirty="0" err="1">
                <a:solidFill>
                  <a:srgbClr val="000000"/>
                </a:solidFill>
              </a:rPr>
              <a:t>PC+immediate</a:t>
            </a:r>
            <a:r>
              <a:rPr lang="en-US" sz="2400" dirty="0">
                <a:solidFill>
                  <a:srgbClr val="000000"/>
                </a:solidFill>
              </a:rPr>
              <a:t> target</a:t>
            </a:r>
          </a:p>
          <a:p>
            <a:r>
              <a:rPr lang="en-US" sz="2400" i="1" dirty="0">
                <a:solidFill>
                  <a:srgbClr val="000000"/>
                </a:solidFill>
              </a:rPr>
              <a:t>	(Branches do not have delay slot)</a:t>
            </a:r>
          </a:p>
          <a:p>
            <a:r>
              <a:rPr lang="en-US" sz="2400" dirty="0">
                <a:solidFill>
                  <a:srgbClr val="000000"/>
                </a:solidFill>
              </a:rPr>
              <a:t>Store instructions, (rs1 + immediate) addressing, rs2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L-Type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16FE6-D586-C649-BA6E-AD2DBC84A05F}" type="slidenum">
              <a:rPr lang="en-US" smtClean="0"/>
              <a:pPr/>
              <a:t>27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295400"/>
            <a:ext cx="8839200" cy="9821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819400"/>
            <a:ext cx="8001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Writes 20-bit immediate to top of destination register.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Used to build large </a:t>
            </a:r>
            <a:r>
              <a:rPr lang="en-US" sz="2400" dirty="0" err="1">
                <a:solidFill>
                  <a:srgbClr val="000000"/>
                </a:solidFill>
              </a:rPr>
              <a:t>immediates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12-bit </a:t>
            </a:r>
            <a:r>
              <a:rPr lang="en-US" sz="2400" dirty="0" err="1">
                <a:solidFill>
                  <a:srgbClr val="000000"/>
                </a:solidFill>
              </a:rPr>
              <a:t>immediates</a:t>
            </a:r>
            <a:r>
              <a:rPr lang="en-US" sz="2400" dirty="0">
                <a:solidFill>
                  <a:srgbClr val="000000"/>
                </a:solidFill>
              </a:rPr>
              <a:t> are signed, so have to account for sign when building 32-bit </a:t>
            </a:r>
            <a:r>
              <a:rPr lang="en-US" sz="2400" dirty="0" err="1">
                <a:solidFill>
                  <a:srgbClr val="000000"/>
                </a:solidFill>
              </a:rPr>
              <a:t>immediates</a:t>
            </a:r>
            <a:r>
              <a:rPr lang="en-US" sz="2400" dirty="0">
                <a:solidFill>
                  <a:srgbClr val="000000"/>
                </a:solidFill>
              </a:rPr>
              <a:t> in 2-instruction sequence (LUI high-20b, ADDI low-12b)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J-Type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16FE6-D586-C649-BA6E-AD2DBC84A05F}" type="slidenum">
              <a:rPr lang="en-US" smtClean="0"/>
              <a:pPr/>
              <a:t>28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819400"/>
            <a:ext cx="77724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“J” Unconditional jump, </a:t>
            </a:r>
            <a:r>
              <a:rPr lang="en-US" sz="2400" dirty="0" err="1">
                <a:solidFill>
                  <a:srgbClr val="000000"/>
                </a:solidFill>
              </a:rPr>
              <a:t>PC+offset</a:t>
            </a:r>
            <a:r>
              <a:rPr lang="en-US" sz="2400" dirty="0">
                <a:solidFill>
                  <a:srgbClr val="000000"/>
                </a:solidFill>
              </a:rPr>
              <a:t> target</a:t>
            </a:r>
          </a:p>
          <a:p>
            <a:r>
              <a:rPr lang="en-US" sz="2400" dirty="0">
                <a:solidFill>
                  <a:srgbClr val="000000"/>
                </a:solidFill>
              </a:rPr>
              <a:t>“JAL” Jump and link, also writes PC+4 to </a:t>
            </a:r>
            <a:r>
              <a:rPr lang="en-US" sz="2400" b="1" dirty="0">
                <a:solidFill>
                  <a:srgbClr val="000000"/>
                </a:solidFill>
                <a:latin typeface="Courier New"/>
                <a:cs typeface="Courier New"/>
              </a:rPr>
              <a:t>x1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Offset scaled by 1-bit left shift – can jump to 16-bit instruction boundary (Same for branches)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910918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9FFFB8-F710-4F4C-BACE-798B96DEEBF0}" type="slidenum">
              <a:rPr lang="en-US"/>
              <a:pPr/>
              <a:t>29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2344738"/>
            <a:ext cx="7543800" cy="1143000"/>
          </a:xfrm>
          <a:noFill/>
        </p:spPr>
        <p:txBody>
          <a:bodyPr lIns="90488" tIns="44450" rIns="90488" bIns="44450"/>
          <a:lstStyle/>
          <a:p>
            <a:pPr algn="ctr"/>
            <a:r>
              <a:rPr lang="en-US" dirty="0"/>
              <a:t>Implementing RISC-V: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Single-cycle per instruction</a:t>
            </a:r>
            <a:br>
              <a:rPr lang="en-US" sz="2800" dirty="0"/>
            </a:br>
            <a:r>
              <a:rPr lang="en-US" sz="2800" dirty="0" err="1"/>
              <a:t>datapath</a:t>
            </a:r>
            <a:r>
              <a:rPr lang="en-US" sz="2800" dirty="0"/>
              <a:t> &amp; control logic</a:t>
            </a:r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6C384F3-5666-6D45-AE9A-B3107EF68D37}" type="slidenum">
              <a:rPr lang="en-US"/>
              <a:pPr/>
              <a:t>30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469900"/>
            <a:ext cx="7162800" cy="800100"/>
          </a:xfrm>
          <a:noFill/>
        </p:spPr>
        <p:txBody>
          <a:bodyPr lIns="90488" tIns="44450" rIns="90488" bIns="44450"/>
          <a:lstStyle/>
          <a:p>
            <a:r>
              <a:rPr lang="en-US"/>
              <a:t>Instruction Execution</a:t>
            </a:r>
          </a:p>
        </p:txBody>
      </p:sp>
      <p:sp>
        <p:nvSpPr>
          <p:cNvPr id="56326" name="Rectangle 3"/>
          <p:cNvSpPr>
            <a:spLocks noChangeArrowheads="1"/>
          </p:cNvSpPr>
          <p:nvPr/>
        </p:nvSpPr>
        <p:spPr bwMode="auto">
          <a:xfrm>
            <a:off x="1444625" y="1751013"/>
            <a:ext cx="5673725" cy="3257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Execution of an instruction involves</a:t>
            </a:r>
          </a:p>
          <a:p>
            <a:pPr>
              <a:spcBef>
                <a:spcPct val="0"/>
              </a:spcBef>
            </a:pPr>
            <a:endParaRPr lang="en-US" sz="2400">
              <a:solidFill>
                <a:schemeClr val="tx1"/>
              </a:solidFill>
              <a:latin typeface="Verdana" charset="0"/>
            </a:endParaRPr>
          </a:p>
          <a:p>
            <a:pPr lvl="2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1. instruction fetch</a:t>
            </a:r>
          </a:p>
          <a:p>
            <a:pPr lvl="2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2. decode and register fetch</a:t>
            </a:r>
          </a:p>
          <a:p>
            <a:pPr lvl="2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3. ALU operation</a:t>
            </a:r>
          </a:p>
          <a:p>
            <a:pPr lvl="2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4. memory operation (optional)</a:t>
            </a:r>
          </a:p>
          <a:p>
            <a:pPr lvl="2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5. write back</a:t>
            </a:r>
          </a:p>
          <a:p>
            <a:pPr lvl="2">
              <a:spcBef>
                <a:spcPct val="0"/>
              </a:spcBef>
            </a:pPr>
            <a:endParaRPr lang="en-US" sz="2000">
              <a:solidFill>
                <a:srgbClr val="56127A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and the computation of the address of the </a:t>
            </a:r>
          </a:p>
          <a:p>
            <a:pPr>
              <a:spcBef>
                <a:spcPct val="0"/>
              </a:spcBef>
            </a:pPr>
            <a:r>
              <a:rPr lang="en-US" sz="2000" i="1">
                <a:solidFill>
                  <a:srgbClr val="56127A"/>
                </a:solidFill>
                <a:latin typeface="Verdana" charset="0"/>
              </a:rPr>
              <a:t>next instruction</a:t>
            </a:r>
            <a:endParaRPr lang="en-US" sz="2000">
              <a:solidFill>
                <a:srgbClr val="56127A"/>
              </a:solidFill>
              <a:latin typeface="Verdana" charset="0"/>
            </a:endParaRP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0800"/>
            <a:ext cx="1905000" cy="292100"/>
          </a:xfrm>
          <a:noFill/>
        </p:spPr>
        <p:txBody>
          <a:bodyPr/>
          <a:lstStyle/>
          <a:p>
            <a:fld id="{42AFC9E9-65A4-0243-9B3B-309555E9108A}" type="slidenum">
              <a:rPr lang="en-US"/>
              <a:pPr/>
              <a:t>31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218562" name="Freeform 2"/>
          <p:cNvSpPr>
            <a:spLocks/>
          </p:cNvSpPr>
          <p:nvPr/>
        </p:nvSpPr>
        <p:spPr bwMode="auto">
          <a:xfrm>
            <a:off x="3124200" y="2894013"/>
            <a:ext cx="1347788" cy="1587"/>
          </a:xfrm>
          <a:custGeom>
            <a:avLst/>
            <a:gdLst>
              <a:gd name="T0" fmla="*/ 0 w 849"/>
              <a:gd name="T1" fmla="*/ 0 h 1"/>
              <a:gd name="T2" fmla="*/ 849 w 849"/>
              <a:gd name="T3" fmla="*/ 0 h 1"/>
              <a:gd name="T4" fmla="*/ 0 60000 65536"/>
              <a:gd name="T5" fmla="*/ 0 60000 65536"/>
              <a:gd name="T6" fmla="*/ 0 w 849"/>
              <a:gd name="T7" fmla="*/ 0 h 1"/>
              <a:gd name="T8" fmla="*/ 849 w 84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49" h="1">
                <a:moveTo>
                  <a:pt x="0" y="0"/>
                </a:moveTo>
                <a:lnTo>
                  <a:pt x="849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3" name="Freeform 3"/>
          <p:cNvSpPr>
            <a:spLocks/>
          </p:cNvSpPr>
          <p:nvPr/>
        </p:nvSpPr>
        <p:spPr bwMode="auto">
          <a:xfrm>
            <a:off x="4068763" y="2846388"/>
            <a:ext cx="3440112" cy="2090737"/>
          </a:xfrm>
          <a:custGeom>
            <a:avLst/>
            <a:gdLst>
              <a:gd name="T0" fmla="*/ 2167 w 2167"/>
              <a:gd name="T1" fmla="*/ 0 h 1317"/>
              <a:gd name="T2" fmla="*/ 2167 w 2167"/>
              <a:gd name="T3" fmla="*/ 1317 h 1317"/>
              <a:gd name="T4" fmla="*/ 0 w 2167"/>
              <a:gd name="T5" fmla="*/ 1317 h 1317"/>
              <a:gd name="T6" fmla="*/ 0 w 2167"/>
              <a:gd name="T7" fmla="*/ 144 h 1317"/>
              <a:gd name="T8" fmla="*/ 238 w 2167"/>
              <a:gd name="T9" fmla="*/ 144 h 13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67"/>
              <a:gd name="T16" fmla="*/ 0 h 1317"/>
              <a:gd name="T17" fmla="*/ 2167 w 2167"/>
              <a:gd name="T18" fmla="*/ 1317 h 13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7" h="1317">
                <a:moveTo>
                  <a:pt x="2167" y="0"/>
                </a:moveTo>
                <a:lnTo>
                  <a:pt x="2167" y="1317"/>
                </a:lnTo>
                <a:lnTo>
                  <a:pt x="0" y="1317"/>
                </a:lnTo>
                <a:lnTo>
                  <a:pt x="0" y="144"/>
                </a:lnTo>
                <a:lnTo>
                  <a:pt x="238" y="144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4" name="Freeform 4"/>
          <p:cNvSpPr>
            <a:spLocks/>
          </p:cNvSpPr>
          <p:nvPr/>
        </p:nvSpPr>
        <p:spPr bwMode="auto">
          <a:xfrm>
            <a:off x="3151188" y="2857500"/>
            <a:ext cx="4370387" cy="1195388"/>
          </a:xfrm>
          <a:custGeom>
            <a:avLst/>
            <a:gdLst>
              <a:gd name="T0" fmla="*/ 0 w 2753"/>
              <a:gd name="T1" fmla="*/ 753 h 753"/>
              <a:gd name="T2" fmla="*/ 2249 w 2753"/>
              <a:gd name="T3" fmla="*/ 749 h 753"/>
              <a:gd name="T4" fmla="*/ 2249 w 2753"/>
              <a:gd name="T5" fmla="*/ 0 h 753"/>
              <a:gd name="T6" fmla="*/ 2753 w 2753"/>
              <a:gd name="T7" fmla="*/ 0 h 753"/>
              <a:gd name="T8" fmla="*/ 0 60000 65536"/>
              <a:gd name="T9" fmla="*/ 0 60000 65536"/>
              <a:gd name="T10" fmla="*/ 0 60000 65536"/>
              <a:gd name="T11" fmla="*/ 0 60000 65536"/>
              <a:gd name="T12" fmla="*/ 0 w 2753"/>
              <a:gd name="T13" fmla="*/ 0 h 753"/>
              <a:gd name="T14" fmla="*/ 2753 w 2753"/>
              <a:gd name="T15" fmla="*/ 753 h 7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53" h="753">
                <a:moveTo>
                  <a:pt x="0" y="753"/>
                </a:moveTo>
                <a:lnTo>
                  <a:pt x="2249" y="749"/>
                </a:lnTo>
                <a:lnTo>
                  <a:pt x="2249" y="0"/>
                </a:lnTo>
                <a:lnTo>
                  <a:pt x="2753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5" name="Freeform 5"/>
          <p:cNvSpPr>
            <a:spLocks/>
          </p:cNvSpPr>
          <p:nvPr/>
        </p:nvSpPr>
        <p:spPr bwMode="auto">
          <a:xfrm>
            <a:off x="1039813" y="1417638"/>
            <a:ext cx="1771650" cy="1336675"/>
          </a:xfrm>
          <a:custGeom>
            <a:avLst/>
            <a:gdLst>
              <a:gd name="T0" fmla="*/ 324 w 1116"/>
              <a:gd name="T1" fmla="*/ 842 h 842"/>
              <a:gd name="T2" fmla="*/ 7 w 1116"/>
              <a:gd name="T3" fmla="*/ 842 h 842"/>
              <a:gd name="T4" fmla="*/ 0 w 1116"/>
              <a:gd name="T5" fmla="*/ 0 h 842"/>
              <a:gd name="T6" fmla="*/ 1116 w 1116"/>
              <a:gd name="T7" fmla="*/ 7 h 842"/>
              <a:gd name="T8" fmla="*/ 0 60000 65536"/>
              <a:gd name="T9" fmla="*/ 0 60000 65536"/>
              <a:gd name="T10" fmla="*/ 0 60000 65536"/>
              <a:gd name="T11" fmla="*/ 0 60000 65536"/>
              <a:gd name="T12" fmla="*/ 0 w 1116"/>
              <a:gd name="T13" fmla="*/ 0 h 842"/>
              <a:gd name="T14" fmla="*/ 1116 w 1116"/>
              <a:gd name="T15" fmla="*/ 842 h 8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116" h="842">
                <a:moveTo>
                  <a:pt x="324" y="842"/>
                </a:moveTo>
                <a:lnTo>
                  <a:pt x="7" y="842"/>
                </a:lnTo>
                <a:lnTo>
                  <a:pt x="0" y="0"/>
                </a:lnTo>
                <a:lnTo>
                  <a:pt x="1116" y="7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6" name="Freeform 6"/>
          <p:cNvSpPr>
            <a:spLocks/>
          </p:cNvSpPr>
          <p:nvPr/>
        </p:nvSpPr>
        <p:spPr bwMode="auto">
          <a:xfrm>
            <a:off x="1854200" y="1417638"/>
            <a:ext cx="957263" cy="1362075"/>
          </a:xfrm>
          <a:custGeom>
            <a:avLst/>
            <a:gdLst>
              <a:gd name="T0" fmla="*/ 0 w 603"/>
              <a:gd name="T1" fmla="*/ 858 h 858"/>
              <a:gd name="T2" fmla="*/ 6 w 603"/>
              <a:gd name="T3" fmla="*/ 504 h 858"/>
              <a:gd name="T4" fmla="*/ 207 w 603"/>
              <a:gd name="T5" fmla="*/ 511 h 858"/>
              <a:gd name="T6" fmla="*/ 294 w 603"/>
              <a:gd name="T7" fmla="*/ 410 h 858"/>
              <a:gd name="T8" fmla="*/ 603 w 603"/>
              <a:gd name="T9" fmla="*/ 403 h 858"/>
              <a:gd name="T10" fmla="*/ 603 w 603"/>
              <a:gd name="T11" fmla="*/ 0 h 85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03"/>
              <a:gd name="T19" fmla="*/ 0 h 858"/>
              <a:gd name="T20" fmla="*/ 603 w 603"/>
              <a:gd name="T21" fmla="*/ 858 h 85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03" h="858">
                <a:moveTo>
                  <a:pt x="0" y="858"/>
                </a:moveTo>
                <a:lnTo>
                  <a:pt x="6" y="504"/>
                </a:lnTo>
                <a:lnTo>
                  <a:pt x="207" y="511"/>
                </a:lnTo>
                <a:lnTo>
                  <a:pt x="294" y="410"/>
                </a:lnTo>
                <a:lnTo>
                  <a:pt x="603" y="403"/>
                </a:lnTo>
                <a:lnTo>
                  <a:pt x="603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7" name="Freeform 7"/>
          <p:cNvSpPr>
            <a:spLocks/>
          </p:cNvSpPr>
          <p:nvPr/>
        </p:nvSpPr>
        <p:spPr bwMode="auto">
          <a:xfrm>
            <a:off x="1749425" y="2754313"/>
            <a:ext cx="1393825" cy="138112"/>
          </a:xfrm>
          <a:custGeom>
            <a:avLst/>
            <a:gdLst>
              <a:gd name="T0" fmla="*/ 0 w 878"/>
              <a:gd name="T1" fmla="*/ 8 h 87"/>
              <a:gd name="T2" fmla="*/ 352 w 878"/>
              <a:gd name="T3" fmla="*/ 0 h 87"/>
              <a:gd name="T4" fmla="*/ 468 w 878"/>
              <a:gd name="T5" fmla="*/ 87 h 87"/>
              <a:gd name="T6" fmla="*/ 878 w 878"/>
              <a:gd name="T7" fmla="*/ 87 h 87"/>
              <a:gd name="T8" fmla="*/ 0 60000 65536"/>
              <a:gd name="T9" fmla="*/ 0 60000 65536"/>
              <a:gd name="T10" fmla="*/ 0 60000 65536"/>
              <a:gd name="T11" fmla="*/ 0 60000 65536"/>
              <a:gd name="T12" fmla="*/ 0 w 878"/>
              <a:gd name="T13" fmla="*/ 0 h 87"/>
              <a:gd name="T14" fmla="*/ 878 w 878"/>
              <a:gd name="T15" fmla="*/ 87 h 8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78" h="87">
                <a:moveTo>
                  <a:pt x="0" y="8"/>
                </a:moveTo>
                <a:lnTo>
                  <a:pt x="352" y="0"/>
                </a:lnTo>
                <a:lnTo>
                  <a:pt x="468" y="87"/>
                </a:lnTo>
                <a:lnTo>
                  <a:pt x="878" y="87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8" name="Freeform 8"/>
          <p:cNvSpPr>
            <a:spLocks/>
          </p:cNvSpPr>
          <p:nvPr/>
        </p:nvSpPr>
        <p:spPr bwMode="auto">
          <a:xfrm>
            <a:off x="3143250" y="2600325"/>
            <a:ext cx="3451225" cy="450850"/>
          </a:xfrm>
          <a:custGeom>
            <a:avLst/>
            <a:gdLst>
              <a:gd name="T0" fmla="*/ 0 w 2174"/>
              <a:gd name="T1" fmla="*/ 0 h 284"/>
              <a:gd name="T2" fmla="*/ 900 w 2174"/>
              <a:gd name="T3" fmla="*/ 0 h 284"/>
              <a:gd name="T4" fmla="*/ 1145 w 2174"/>
              <a:gd name="T5" fmla="*/ 284 h 284"/>
              <a:gd name="T6" fmla="*/ 2174 w 2174"/>
              <a:gd name="T7" fmla="*/ 284 h 284"/>
              <a:gd name="T8" fmla="*/ 0 60000 65536"/>
              <a:gd name="T9" fmla="*/ 0 60000 65536"/>
              <a:gd name="T10" fmla="*/ 0 60000 65536"/>
              <a:gd name="T11" fmla="*/ 0 60000 65536"/>
              <a:gd name="T12" fmla="*/ 0 w 2174"/>
              <a:gd name="T13" fmla="*/ 0 h 284"/>
              <a:gd name="T14" fmla="*/ 2174 w 2174"/>
              <a:gd name="T15" fmla="*/ 284 h 28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74" h="284">
                <a:moveTo>
                  <a:pt x="0" y="0"/>
                </a:moveTo>
                <a:lnTo>
                  <a:pt x="900" y="0"/>
                </a:lnTo>
                <a:lnTo>
                  <a:pt x="1145" y="284"/>
                </a:lnTo>
                <a:lnTo>
                  <a:pt x="2174" y="284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8569" name="Freeform 9"/>
          <p:cNvSpPr>
            <a:spLocks/>
          </p:cNvSpPr>
          <p:nvPr/>
        </p:nvSpPr>
        <p:spPr bwMode="auto">
          <a:xfrm>
            <a:off x="3149600" y="2459038"/>
            <a:ext cx="3614738" cy="468312"/>
          </a:xfrm>
          <a:custGeom>
            <a:avLst/>
            <a:gdLst>
              <a:gd name="T0" fmla="*/ 0 w 2277"/>
              <a:gd name="T1" fmla="*/ 0 h 295"/>
              <a:gd name="T2" fmla="*/ 849 w 2277"/>
              <a:gd name="T3" fmla="*/ 0 h 295"/>
              <a:gd name="T4" fmla="*/ 1058 w 2277"/>
              <a:gd name="T5" fmla="*/ 187 h 295"/>
              <a:gd name="T6" fmla="*/ 2172 w 2277"/>
              <a:gd name="T7" fmla="*/ 194 h 295"/>
              <a:gd name="T8" fmla="*/ 2277 w 2277"/>
              <a:gd name="T9" fmla="*/ 295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7"/>
              <a:gd name="T16" fmla="*/ 0 h 295"/>
              <a:gd name="T17" fmla="*/ 2277 w 2277"/>
              <a:gd name="T18" fmla="*/ 295 h 2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7" h="295">
                <a:moveTo>
                  <a:pt x="0" y="0"/>
                </a:moveTo>
                <a:lnTo>
                  <a:pt x="849" y="0"/>
                </a:lnTo>
                <a:lnTo>
                  <a:pt x="1058" y="187"/>
                </a:lnTo>
                <a:lnTo>
                  <a:pt x="2172" y="194"/>
                </a:lnTo>
                <a:lnTo>
                  <a:pt x="2277" y="295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81" name="Rectangle 10"/>
          <p:cNvSpPr>
            <a:spLocks noGrp="1" noChangeArrowheads="1"/>
          </p:cNvSpPr>
          <p:nvPr>
            <p:ph type="title"/>
          </p:nvPr>
        </p:nvSpPr>
        <p:spPr>
          <a:xfrm>
            <a:off x="177800" y="393700"/>
            <a:ext cx="8648700" cy="838200"/>
          </a:xfrm>
          <a:noFill/>
        </p:spPr>
        <p:txBody>
          <a:bodyPr lIns="90488" tIns="44450" rIns="90488" bIns="44450"/>
          <a:lstStyle/>
          <a:p>
            <a:r>
              <a:rPr lang="en-US" dirty="0" err="1"/>
              <a:t>Datapath</a:t>
            </a:r>
            <a:r>
              <a:rPr lang="en-US" dirty="0"/>
              <a:t>: </a:t>
            </a:r>
            <a:r>
              <a:rPr lang="en-US" dirty="0" err="1"/>
              <a:t>Reg-Reg</a:t>
            </a:r>
            <a:r>
              <a:rPr lang="en-US" dirty="0"/>
              <a:t> ALU Instructions</a:t>
            </a:r>
          </a:p>
        </p:txBody>
      </p:sp>
      <p:sp>
        <p:nvSpPr>
          <p:cNvPr id="1218571" name="Rectangle 11"/>
          <p:cNvSpPr>
            <a:spLocks noChangeArrowheads="1"/>
          </p:cNvSpPr>
          <p:nvPr/>
        </p:nvSpPr>
        <p:spPr bwMode="auto">
          <a:xfrm>
            <a:off x="6248400" y="5105400"/>
            <a:ext cx="2619375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i="1" dirty="0" err="1">
                <a:solidFill>
                  <a:srgbClr val="FF0000"/>
                </a:solidFill>
              </a:rPr>
              <a:t>RegWrite</a:t>
            </a:r>
            <a:r>
              <a:rPr lang="en-US" sz="2400" i="1" dirty="0">
                <a:solidFill>
                  <a:srgbClr val="FF0000"/>
                </a:solidFill>
              </a:rPr>
              <a:t> Timing?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09600" y="5562600"/>
            <a:ext cx="7972423" cy="904875"/>
            <a:chOff x="599" y="3721"/>
            <a:chExt cx="5022" cy="570"/>
          </a:xfrm>
        </p:grpSpPr>
        <p:grpSp>
          <p:nvGrpSpPr>
            <p:cNvPr id="3" name="Group 13"/>
            <p:cNvGrpSpPr>
              <a:grpSpLocks/>
            </p:cNvGrpSpPr>
            <p:nvPr/>
          </p:nvGrpSpPr>
          <p:grpSpPr bwMode="auto">
            <a:xfrm>
              <a:off x="621" y="3721"/>
              <a:ext cx="5000" cy="471"/>
              <a:chOff x="621" y="3721"/>
              <a:chExt cx="5000" cy="471"/>
            </a:xfrm>
          </p:grpSpPr>
          <p:sp>
            <p:nvSpPr>
              <p:cNvPr id="58448" name="Rectangle 14"/>
              <p:cNvSpPr>
                <a:spLocks noChangeArrowheads="1"/>
              </p:cNvSpPr>
              <p:nvPr/>
            </p:nvSpPr>
            <p:spPr bwMode="auto">
              <a:xfrm>
                <a:off x="3752" y="3961"/>
                <a:ext cx="170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" name="Group 15"/>
              <p:cNvGrpSpPr>
                <a:grpSpLocks/>
              </p:cNvGrpSpPr>
              <p:nvPr/>
            </p:nvGrpSpPr>
            <p:grpSpPr bwMode="auto">
              <a:xfrm>
                <a:off x="621" y="3721"/>
                <a:ext cx="5000" cy="407"/>
                <a:chOff x="621" y="3721"/>
                <a:chExt cx="5000" cy="407"/>
              </a:xfrm>
            </p:grpSpPr>
            <p:sp>
              <p:nvSpPr>
                <p:cNvPr id="58450" name="Rectangle 16"/>
                <p:cNvSpPr>
                  <a:spLocks noChangeArrowheads="1"/>
                </p:cNvSpPr>
                <p:nvPr/>
              </p:nvSpPr>
              <p:spPr bwMode="auto">
                <a:xfrm>
                  <a:off x="621" y="3721"/>
                  <a:ext cx="5000" cy="406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 </a:t>
                  </a:r>
                  <a:r>
                    <a:rPr lang="en-US" sz="1800" dirty="0">
                      <a:solidFill>
                        <a:schemeClr val="tx1"/>
                      </a:solidFill>
                      <a:latin typeface="Verdana" charset="0"/>
                    </a:rPr>
                    <a:t>5	   5	 5          10             7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rd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	  rs1	rs2    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func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opcode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rd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Symbol" charset="2"/>
                    </a:rPr>
                    <a:t>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(rs1)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func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(rs2)</a:t>
                  </a:r>
                </a:p>
              </p:txBody>
            </p:sp>
            <p:sp>
              <p:nvSpPr>
                <p:cNvPr id="58451" name="Rectangle 17"/>
                <p:cNvSpPr>
                  <a:spLocks noChangeArrowheads="1"/>
                </p:cNvSpPr>
                <p:nvPr/>
              </p:nvSpPr>
              <p:spPr bwMode="auto">
                <a:xfrm>
                  <a:off x="630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52" name="Rectangle 18"/>
                <p:cNvSpPr>
                  <a:spLocks noChangeArrowheads="1"/>
                </p:cNvSpPr>
                <p:nvPr/>
              </p:nvSpPr>
              <p:spPr bwMode="auto">
                <a:xfrm>
                  <a:off x="2142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53" name="Line 19"/>
                <p:cNvSpPr>
                  <a:spLocks noChangeShapeType="1"/>
                </p:cNvSpPr>
                <p:nvPr/>
              </p:nvSpPr>
              <p:spPr bwMode="auto">
                <a:xfrm>
                  <a:off x="1702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54" name="Line 20"/>
                <p:cNvSpPr>
                  <a:spLocks noChangeShapeType="1"/>
                </p:cNvSpPr>
                <p:nvPr/>
              </p:nvSpPr>
              <p:spPr bwMode="auto">
                <a:xfrm>
                  <a:off x="1198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56" name="Line 22"/>
                <p:cNvSpPr>
                  <a:spLocks noChangeShapeType="1"/>
                </p:cNvSpPr>
                <p:nvPr/>
              </p:nvSpPr>
              <p:spPr bwMode="auto">
                <a:xfrm>
                  <a:off x="3070" y="3911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57" name="Rectangle 23"/>
                <p:cNvSpPr>
                  <a:spLocks noChangeArrowheads="1"/>
                </p:cNvSpPr>
                <p:nvPr/>
              </p:nvSpPr>
              <p:spPr bwMode="auto">
                <a:xfrm>
                  <a:off x="3760" y="3897"/>
                  <a:ext cx="1336" cy="2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58447" name="Rectangle 24"/>
            <p:cNvSpPr>
              <a:spLocks noChangeArrowheads="1"/>
            </p:cNvSpPr>
            <p:nvPr/>
          </p:nvSpPr>
          <p:spPr bwMode="auto">
            <a:xfrm>
              <a:off x="599" y="4118"/>
              <a:ext cx="3139" cy="1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chemeClr val="tx1"/>
                  </a:solidFill>
                  <a:latin typeface="Verdana" charset="0"/>
                </a:rPr>
                <a:t>31        27  26      22 21     17 16                     7 6             0</a:t>
              </a: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055688" y="1412875"/>
            <a:ext cx="2081212" cy="2114550"/>
            <a:chOff x="665" y="890"/>
            <a:chExt cx="1311" cy="1332"/>
          </a:xfrm>
        </p:grpSpPr>
        <p:sp>
          <p:nvSpPr>
            <p:cNvPr id="58426" name="Line 26"/>
            <p:cNvSpPr>
              <a:spLocks noChangeShapeType="1"/>
            </p:cNvSpPr>
            <p:nvPr/>
          </p:nvSpPr>
          <p:spPr bwMode="auto">
            <a:xfrm>
              <a:off x="1816" y="183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27" name="Rectangle 27"/>
            <p:cNvSpPr>
              <a:spLocks noChangeArrowheads="1"/>
            </p:cNvSpPr>
            <p:nvPr/>
          </p:nvSpPr>
          <p:spPr bwMode="auto">
            <a:xfrm>
              <a:off x="1071" y="1070"/>
              <a:ext cx="269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0x4</a:t>
              </a:r>
            </a:p>
          </p:txBody>
        </p:sp>
        <p:sp>
          <p:nvSpPr>
            <p:cNvPr id="58428" name="Freeform 28"/>
            <p:cNvSpPr>
              <a:spLocks/>
            </p:cNvSpPr>
            <p:nvPr/>
          </p:nvSpPr>
          <p:spPr bwMode="auto">
            <a:xfrm>
              <a:off x="1336" y="1096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29" name="Line 29"/>
            <p:cNvSpPr>
              <a:spLocks noChangeShapeType="1"/>
            </p:cNvSpPr>
            <p:nvPr/>
          </p:nvSpPr>
          <p:spPr bwMode="auto">
            <a:xfrm>
              <a:off x="1292" y="1144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30" name="Rectangle 30"/>
            <p:cNvSpPr>
              <a:spLocks noChangeArrowheads="1"/>
            </p:cNvSpPr>
            <p:nvPr/>
          </p:nvSpPr>
          <p:spPr bwMode="auto">
            <a:xfrm>
              <a:off x="1351" y="1228"/>
              <a:ext cx="256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Add</a:t>
              </a:r>
            </a:p>
          </p:txBody>
        </p:sp>
        <p:sp>
          <p:nvSpPr>
            <p:cNvPr id="58431" name="Rectangle 31"/>
            <p:cNvSpPr>
              <a:spLocks noChangeArrowheads="1"/>
            </p:cNvSpPr>
            <p:nvPr/>
          </p:nvSpPr>
          <p:spPr bwMode="auto">
            <a:xfrm>
              <a:off x="935" y="1966"/>
              <a:ext cx="21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58432" name="Line 32"/>
            <p:cNvSpPr>
              <a:spLocks noChangeShapeType="1"/>
            </p:cNvSpPr>
            <p:nvPr/>
          </p:nvSpPr>
          <p:spPr bwMode="auto">
            <a:xfrm>
              <a:off x="1061" y="1920"/>
              <a:ext cx="0" cy="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" name="Group 33"/>
            <p:cNvGrpSpPr>
              <a:grpSpLocks/>
            </p:cNvGrpSpPr>
            <p:nvPr/>
          </p:nvGrpSpPr>
          <p:grpSpPr bwMode="auto">
            <a:xfrm>
              <a:off x="942" y="1554"/>
              <a:ext cx="892" cy="668"/>
              <a:chOff x="942" y="1554"/>
              <a:chExt cx="892" cy="668"/>
            </a:xfrm>
          </p:grpSpPr>
          <p:sp>
            <p:nvSpPr>
              <p:cNvPr id="58436" name="Freeform 34"/>
              <p:cNvSpPr>
                <a:spLocks/>
              </p:cNvSpPr>
              <p:nvPr/>
            </p:nvSpPr>
            <p:spPr bwMode="auto">
              <a:xfrm>
                <a:off x="1127" y="1738"/>
                <a:ext cx="193" cy="1"/>
              </a:xfrm>
              <a:custGeom>
                <a:avLst/>
                <a:gdLst>
                  <a:gd name="T0" fmla="*/ 0 w 193"/>
                  <a:gd name="T1" fmla="*/ 0 h 1"/>
                  <a:gd name="T2" fmla="*/ 144 w 193"/>
                  <a:gd name="T3" fmla="*/ 0 h 1"/>
                  <a:gd name="T4" fmla="*/ 192 w 1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3"/>
                  <a:gd name="T10" fmla="*/ 0 h 1"/>
                  <a:gd name="T11" fmla="*/ 193 w 1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" h="1">
                    <a:moveTo>
                      <a:pt x="0" y="0"/>
                    </a:moveTo>
                    <a:lnTo>
                      <a:pt x="144" y="0"/>
                    </a:lnTo>
                    <a:lnTo>
                      <a:pt x="192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7" name="Group 35"/>
              <p:cNvGrpSpPr>
                <a:grpSpLocks/>
              </p:cNvGrpSpPr>
              <p:nvPr/>
            </p:nvGrpSpPr>
            <p:grpSpPr bwMode="auto">
              <a:xfrm>
                <a:off x="1298" y="1621"/>
                <a:ext cx="536" cy="601"/>
                <a:chOff x="1298" y="1621"/>
                <a:chExt cx="536" cy="601"/>
              </a:xfrm>
            </p:grpSpPr>
            <p:sp>
              <p:nvSpPr>
                <p:cNvPr id="58442" name="Rectangle 36"/>
                <p:cNvSpPr>
                  <a:spLocks noChangeArrowheads="1"/>
                </p:cNvSpPr>
                <p:nvPr/>
              </p:nvSpPr>
              <p:spPr bwMode="auto">
                <a:xfrm>
                  <a:off x="1331" y="1623"/>
                  <a:ext cx="472" cy="584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443" name="Rectangle 37"/>
                <p:cNvSpPr>
                  <a:spLocks noChangeArrowheads="1"/>
                </p:cNvSpPr>
                <p:nvPr/>
              </p:nvSpPr>
              <p:spPr bwMode="auto">
                <a:xfrm>
                  <a:off x="1298" y="1621"/>
                  <a:ext cx="306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addr</a:t>
                  </a:r>
                </a:p>
              </p:txBody>
            </p:sp>
            <p:sp>
              <p:nvSpPr>
                <p:cNvPr id="58444" name="Rectangle 38"/>
                <p:cNvSpPr>
                  <a:spLocks noChangeArrowheads="1"/>
                </p:cNvSpPr>
                <p:nvPr/>
              </p:nvSpPr>
              <p:spPr bwMode="auto">
                <a:xfrm>
                  <a:off x="1571" y="1725"/>
                  <a:ext cx="263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inst</a:t>
                  </a:r>
                </a:p>
              </p:txBody>
            </p:sp>
            <p:sp>
              <p:nvSpPr>
                <p:cNvPr id="58445" name="Rectangle 39"/>
                <p:cNvSpPr>
                  <a:spLocks noChangeArrowheads="1"/>
                </p:cNvSpPr>
                <p:nvPr/>
              </p:nvSpPr>
              <p:spPr bwMode="auto">
                <a:xfrm>
                  <a:off x="1305" y="1898"/>
                  <a:ext cx="518" cy="32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Inst.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Memory</a:t>
                  </a:r>
                </a:p>
              </p:txBody>
            </p:sp>
          </p:grpSp>
          <p:sp>
            <p:nvSpPr>
              <p:cNvPr id="58438" name="Rectangle 40"/>
              <p:cNvSpPr>
                <a:spLocks noChangeArrowheads="1"/>
              </p:cNvSpPr>
              <p:nvPr/>
            </p:nvSpPr>
            <p:spPr bwMode="auto">
              <a:xfrm>
                <a:off x="991" y="1554"/>
                <a:ext cx="128" cy="368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39" name="Line 41"/>
              <p:cNvSpPr>
                <a:spLocks noChangeShapeType="1"/>
              </p:cNvSpPr>
              <p:nvPr/>
            </p:nvSpPr>
            <p:spPr bwMode="auto">
              <a:xfrm>
                <a:off x="1135" y="1738"/>
                <a:ext cx="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40" name="Rectangle 42"/>
              <p:cNvSpPr>
                <a:spLocks noChangeArrowheads="1"/>
              </p:cNvSpPr>
              <p:nvPr/>
            </p:nvSpPr>
            <p:spPr bwMode="auto">
              <a:xfrm>
                <a:off x="942" y="1664"/>
                <a:ext cx="247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PC</a:t>
                </a:r>
              </a:p>
            </p:txBody>
          </p:sp>
          <p:sp>
            <p:nvSpPr>
              <p:cNvPr id="58441" name="Freeform 43"/>
              <p:cNvSpPr>
                <a:spLocks/>
              </p:cNvSpPr>
              <p:nvPr/>
            </p:nvSpPr>
            <p:spPr bwMode="auto">
              <a:xfrm>
                <a:off x="1031" y="1874"/>
                <a:ext cx="49" cy="49"/>
              </a:xfrm>
              <a:custGeom>
                <a:avLst/>
                <a:gdLst>
                  <a:gd name="T0" fmla="*/ 0 w 49"/>
                  <a:gd name="T1" fmla="*/ 48 h 49"/>
                  <a:gd name="T2" fmla="*/ 24 w 49"/>
                  <a:gd name="T3" fmla="*/ 0 h 49"/>
                  <a:gd name="T4" fmla="*/ 48 w 49"/>
                  <a:gd name="T5" fmla="*/ 48 h 49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49"/>
                  <a:gd name="T11" fmla="*/ 49 w 49"/>
                  <a:gd name="T12" fmla="*/ 49 h 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8434" name="Freeform 44"/>
            <p:cNvSpPr>
              <a:spLocks/>
            </p:cNvSpPr>
            <p:nvPr/>
          </p:nvSpPr>
          <p:spPr bwMode="auto">
            <a:xfrm>
              <a:off x="665" y="890"/>
              <a:ext cx="1106" cy="845"/>
            </a:xfrm>
            <a:custGeom>
              <a:avLst/>
              <a:gdLst>
                <a:gd name="T0" fmla="*/ 921 w 1106"/>
                <a:gd name="T1" fmla="*/ 410 h 845"/>
                <a:gd name="T2" fmla="*/ 1104 w 1106"/>
                <a:gd name="T3" fmla="*/ 409 h 845"/>
                <a:gd name="T4" fmla="*/ 1106 w 1106"/>
                <a:gd name="T5" fmla="*/ 1 h 845"/>
                <a:gd name="T6" fmla="*/ 775 w 1106"/>
                <a:gd name="T7" fmla="*/ 0 h 845"/>
                <a:gd name="T8" fmla="*/ 2 w 1106"/>
                <a:gd name="T9" fmla="*/ 1 h 845"/>
                <a:gd name="T10" fmla="*/ 0 w 1106"/>
                <a:gd name="T11" fmla="*/ 845 h 845"/>
                <a:gd name="T12" fmla="*/ 335 w 1106"/>
                <a:gd name="T13" fmla="*/ 845 h 8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06"/>
                <a:gd name="T22" fmla="*/ 0 h 845"/>
                <a:gd name="T23" fmla="*/ 1106 w 1106"/>
                <a:gd name="T24" fmla="*/ 845 h 8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06" h="845">
                  <a:moveTo>
                    <a:pt x="921" y="410"/>
                  </a:moveTo>
                  <a:lnTo>
                    <a:pt x="1104" y="409"/>
                  </a:lnTo>
                  <a:lnTo>
                    <a:pt x="1106" y="1"/>
                  </a:lnTo>
                  <a:lnTo>
                    <a:pt x="775" y="0"/>
                  </a:lnTo>
                  <a:lnTo>
                    <a:pt x="2" y="1"/>
                  </a:lnTo>
                  <a:lnTo>
                    <a:pt x="0" y="845"/>
                  </a:lnTo>
                  <a:lnTo>
                    <a:pt x="335" y="84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35" name="Freeform 45"/>
            <p:cNvSpPr>
              <a:spLocks/>
            </p:cNvSpPr>
            <p:nvPr/>
          </p:nvSpPr>
          <p:spPr bwMode="auto">
            <a:xfrm>
              <a:off x="1168" y="1410"/>
              <a:ext cx="168" cy="333"/>
            </a:xfrm>
            <a:custGeom>
              <a:avLst/>
              <a:gdLst>
                <a:gd name="T0" fmla="*/ 1 w 168"/>
                <a:gd name="T1" fmla="*/ 333 h 333"/>
                <a:gd name="T2" fmla="*/ 0 w 168"/>
                <a:gd name="T3" fmla="*/ 5 h 333"/>
                <a:gd name="T4" fmla="*/ 5 w 168"/>
                <a:gd name="T5" fmla="*/ 0 h 333"/>
                <a:gd name="T6" fmla="*/ 168 w 168"/>
                <a:gd name="T7" fmla="*/ 4 h 3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333"/>
                <a:gd name="T14" fmla="*/ 168 w 168"/>
                <a:gd name="T15" fmla="*/ 333 h 3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333">
                  <a:moveTo>
                    <a:pt x="1" y="333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68" y="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18606" name="Freeform 46"/>
          <p:cNvSpPr>
            <a:spLocks/>
          </p:cNvSpPr>
          <p:nvPr/>
        </p:nvSpPr>
        <p:spPr bwMode="auto">
          <a:xfrm>
            <a:off x="4064000" y="2863850"/>
            <a:ext cx="3459163" cy="2068513"/>
          </a:xfrm>
          <a:custGeom>
            <a:avLst/>
            <a:gdLst>
              <a:gd name="T0" fmla="*/ 1769 w 2179"/>
              <a:gd name="T1" fmla="*/ 0 h 1303"/>
              <a:gd name="T2" fmla="*/ 2178 w 2179"/>
              <a:gd name="T3" fmla="*/ 0 h 1303"/>
              <a:gd name="T4" fmla="*/ 2178 w 2179"/>
              <a:gd name="T5" fmla="*/ 1302 h 1303"/>
              <a:gd name="T6" fmla="*/ 0 w 2179"/>
              <a:gd name="T7" fmla="*/ 1302 h 1303"/>
              <a:gd name="T8" fmla="*/ 0 w 2179"/>
              <a:gd name="T9" fmla="*/ 133 h 1303"/>
              <a:gd name="T10" fmla="*/ 242 w 2179"/>
              <a:gd name="T11" fmla="*/ 133 h 13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79"/>
              <a:gd name="T19" fmla="*/ 0 h 1303"/>
              <a:gd name="T20" fmla="*/ 2179 w 2179"/>
              <a:gd name="T21" fmla="*/ 1303 h 13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79" h="1303">
                <a:moveTo>
                  <a:pt x="1769" y="0"/>
                </a:moveTo>
                <a:lnTo>
                  <a:pt x="2178" y="0"/>
                </a:lnTo>
                <a:lnTo>
                  <a:pt x="2178" y="1302"/>
                </a:lnTo>
                <a:lnTo>
                  <a:pt x="0" y="1302"/>
                </a:lnTo>
                <a:lnTo>
                  <a:pt x="0" y="133"/>
                </a:lnTo>
                <a:lnTo>
                  <a:pt x="242" y="1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2843213" y="1517650"/>
            <a:ext cx="4535487" cy="4000500"/>
            <a:chOff x="1791" y="956"/>
            <a:chExt cx="2857" cy="2520"/>
          </a:xfrm>
        </p:grpSpPr>
        <p:sp>
          <p:nvSpPr>
            <p:cNvPr id="58387" name="Freeform 48"/>
            <p:cNvSpPr>
              <a:spLocks/>
            </p:cNvSpPr>
            <p:nvPr/>
          </p:nvSpPr>
          <p:spPr bwMode="auto">
            <a:xfrm>
              <a:off x="1984" y="1544"/>
              <a:ext cx="817" cy="193"/>
            </a:xfrm>
            <a:custGeom>
              <a:avLst/>
              <a:gdLst>
                <a:gd name="T0" fmla="*/ 0 w 817"/>
                <a:gd name="T1" fmla="*/ 192 h 193"/>
                <a:gd name="T2" fmla="*/ 0 w 817"/>
                <a:gd name="T3" fmla="*/ 0 h 193"/>
                <a:gd name="T4" fmla="*/ 816 w 817"/>
                <a:gd name="T5" fmla="*/ 0 h 193"/>
                <a:gd name="T6" fmla="*/ 0 60000 65536"/>
                <a:gd name="T7" fmla="*/ 0 60000 65536"/>
                <a:gd name="T8" fmla="*/ 0 60000 65536"/>
                <a:gd name="T9" fmla="*/ 0 w 817"/>
                <a:gd name="T10" fmla="*/ 0 h 193"/>
                <a:gd name="T11" fmla="*/ 817 w 817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7" h="193">
                  <a:moveTo>
                    <a:pt x="0" y="192"/>
                  </a:moveTo>
                  <a:lnTo>
                    <a:pt x="0" y="0"/>
                  </a:ln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88" name="Freeform 49"/>
            <p:cNvSpPr>
              <a:spLocks/>
            </p:cNvSpPr>
            <p:nvPr/>
          </p:nvSpPr>
          <p:spPr bwMode="auto">
            <a:xfrm>
              <a:off x="1984" y="1640"/>
              <a:ext cx="817" cy="1"/>
            </a:xfrm>
            <a:custGeom>
              <a:avLst/>
              <a:gdLst>
                <a:gd name="T0" fmla="*/ 0 w 817"/>
                <a:gd name="T1" fmla="*/ 0 h 1"/>
                <a:gd name="T2" fmla="*/ 816 w 817"/>
                <a:gd name="T3" fmla="*/ 0 h 1"/>
                <a:gd name="T4" fmla="*/ 0 60000 65536"/>
                <a:gd name="T5" fmla="*/ 0 60000 65536"/>
                <a:gd name="T6" fmla="*/ 0 w 817"/>
                <a:gd name="T7" fmla="*/ 0 h 1"/>
                <a:gd name="T8" fmla="*/ 817 w 8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89" name="Freeform 50"/>
            <p:cNvSpPr>
              <a:spLocks/>
            </p:cNvSpPr>
            <p:nvPr/>
          </p:nvSpPr>
          <p:spPr bwMode="auto">
            <a:xfrm>
              <a:off x="3200" y="1736"/>
              <a:ext cx="897" cy="1"/>
            </a:xfrm>
            <a:custGeom>
              <a:avLst/>
              <a:gdLst>
                <a:gd name="T0" fmla="*/ 0 w 897"/>
                <a:gd name="T1" fmla="*/ 0 h 1"/>
                <a:gd name="T2" fmla="*/ 896 w 897"/>
                <a:gd name="T3" fmla="*/ 0 h 1"/>
                <a:gd name="T4" fmla="*/ 0 60000 65536"/>
                <a:gd name="T5" fmla="*/ 0 60000 65536"/>
                <a:gd name="T6" fmla="*/ 0 w 897"/>
                <a:gd name="T7" fmla="*/ 0 h 1"/>
                <a:gd name="T8" fmla="*/ 897 w 89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7" h="1">
                  <a:moveTo>
                    <a:pt x="0" y="0"/>
                  </a:moveTo>
                  <a:lnTo>
                    <a:pt x="896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0" name="Freeform 51"/>
            <p:cNvSpPr>
              <a:spLocks/>
            </p:cNvSpPr>
            <p:nvPr/>
          </p:nvSpPr>
          <p:spPr bwMode="auto">
            <a:xfrm>
              <a:off x="1984" y="2312"/>
              <a:ext cx="1345" cy="241"/>
            </a:xfrm>
            <a:custGeom>
              <a:avLst/>
              <a:gdLst>
                <a:gd name="T0" fmla="*/ 0 w 1345"/>
                <a:gd name="T1" fmla="*/ 0 h 241"/>
                <a:gd name="T2" fmla="*/ 0 w 1345"/>
                <a:gd name="T3" fmla="*/ 240 h 241"/>
                <a:gd name="T4" fmla="*/ 1344 w 1345"/>
                <a:gd name="T5" fmla="*/ 240 h 241"/>
                <a:gd name="T6" fmla="*/ 0 60000 65536"/>
                <a:gd name="T7" fmla="*/ 0 60000 65536"/>
                <a:gd name="T8" fmla="*/ 0 60000 65536"/>
                <a:gd name="T9" fmla="*/ 0 w 1345"/>
                <a:gd name="T10" fmla="*/ 0 h 241"/>
                <a:gd name="T11" fmla="*/ 1345 w 1345"/>
                <a:gd name="T12" fmla="*/ 241 h 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5" h="241">
                  <a:moveTo>
                    <a:pt x="0" y="0"/>
                  </a:moveTo>
                  <a:lnTo>
                    <a:pt x="0" y="240"/>
                  </a:lnTo>
                  <a:lnTo>
                    <a:pt x="1344" y="24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1" name="Freeform 52"/>
            <p:cNvSpPr>
              <a:spLocks/>
            </p:cNvSpPr>
            <p:nvPr/>
          </p:nvSpPr>
          <p:spPr bwMode="auto">
            <a:xfrm>
              <a:off x="3696" y="1947"/>
              <a:ext cx="545" cy="598"/>
            </a:xfrm>
            <a:custGeom>
              <a:avLst/>
              <a:gdLst>
                <a:gd name="T0" fmla="*/ 0 w 545"/>
                <a:gd name="T1" fmla="*/ 597 h 598"/>
                <a:gd name="T2" fmla="*/ 544 w 545"/>
                <a:gd name="T3" fmla="*/ 597 h 598"/>
                <a:gd name="T4" fmla="*/ 544 w 545"/>
                <a:gd name="T5" fmla="*/ 0 h 598"/>
                <a:gd name="T6" fmla="*/ 0 60000 65536"/>
                <a:gd name="T7" fmla="*/ 0 60000 65536"/>
                <a:gd name="T8" fmla="*/ 0 60000 65536"/>
                <a:gd name="T9" fmla="*/ 0 w 545"/>
                <a:gd name="T10" fmla="*/ 0 h 598"/>
                <a:gd name="T11" fmla="*/ 545 w 545"/>
                <a:gd name="T12" fmla="*/ 598 h 5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5" h="598">
                  <a:moveTo>
                    <a:pt x="0" y="597"/>
                  </a:moveTo>
                  <a:lnTo>
                    <a:pt x="544" y="597"/>
                  </a:lnTo>
                  <a:lnTo>
                    <a:pt x="544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2" name="Freeform 53"/>
            <p:cNvSpPr>
              <a:spLocks/>
            </p:cNvSpPr>
            <p:nvPr/>
          </p:nvSpPr>
          <p:spPr bwMode="auto">
            <a:xfrm>
              <a:off x="3208" y="1928"/>
              <a:ext cx="873" cy="1"/>
            </a:xfrm>
            <a:custGeom>
              <a:avLst/>
              <a:gdLst>
                <a:gd name="T0" fmla="*/ 0 w 873"/>
                <a:gd name="T1" fmla="*/ 0 h 1"/>
                <a:gd name="T2" fmla="*/ 872 w 873"/>
                <a:gd name="T3" fmla="*/ 0 h 1"/>
                <a:gd name="T4" fmla="*/ 0 60000 65536"/>
                <a:gd name="T5" fmla="*/ 0 60000 65536"/>
                <a:gd name="T6" fmla="*/ 0 w 873"/>
                <a:gd name="T7" fmla="*/ 0 h 1"/>
                <a:gd name="T8" fmla="*/ 873 w 87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73" h="1">
                  <a:moveTo>
                    <a:pt x="0" y="0"/>
                  </a:moveTo>
                  <a:lnTo>
                    <a:pt x="87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3" name="Rectangle 54"/>
            <p:cNvSpPr>
              <a:spLocks noChangeArrowheads="1"/>
            </p:cNvSpPr>
            <p:nvPr/>
          </p:nvSpPr>
          <p:spPr bwMode="auto">
            <a:xfrm>
              <a:off x="1968" y="1392"/>
              <a:ext cx="6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Inst</a:t>
              </a:r>
              <a:r>
                <a:rPr lang="en-US" sz="1200" dirty="0">
                  <a:solidFill>
                    <a:srgbClr val="56127A"/>
                  </a:solidFill>
                </a:rPr>
                <a:t>&lt;26:22&gt;</a:t>
              </a:r>
            </a:p>
          </p:txBody>
        </p:sp>
        <p:sp>
          <p:nvSpPr>
            <p:cNvPr id="58394" name="Rectangle 55"/>
            <p:cNvSpPr>
              <a:spLocks noChangeArrowheads="1"/>
            </p:cNvSpPr>
            <p:nvPr/>
          </p:nvSpPr>
          <p:spPr bwMode="auto">
            <a:xfrm>
              <a:off x="1973" y="1493"/>
              <a:ext cx="62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Inst&lt;21:17&gt;</a:t>
              </a:r>
            </a:p>
          </p:txBody>
        </p:sp>
        <p:sp>
          <p:nvSpPr>
            <p:cNvPr id="58395" name="Rectangle 56"/>
            <p:cNvSpPr>
              <a:spLocks noChangeArrowheads="1"/>
            </p:cNvSpPr>
            <p:nvPr/>
          </p:nvSpPr>
          <p:spPr bwMode="auto">
            <a:xfrm>
              <a:off x="1953" y="1686"/>
              <a:ext cx="627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Inst</a:t>
              </a:r>
              <a:r>
                <a:rPr lang="en-US" sz="1200" dirty="0">
                  <a:solidFill>
                    <a:srgbClr val="56127A"/>
                  </a:solidFill>
                </a:rPr>
                <a:t>&lt;31:27&gt;</a:t>
              </a:r>
            </a:p>
          </p:txBody>
        </p:sp>
        <p:sp>
          <p:nvSpPr>
            <p:cNvPr id="58396" name="Rectangle 57"/>
            <p:cNvSpPr>
              <a:spLocks noChangeArrowheads="1"/>
            </p:cNvSpPr>
            <p:nvPr/>
          </p:nvSpPr>
          <p:spPr bwMode="auto">
            <a:xfrm>
              <a:off x="1961" y="2414"/>
              <a:ext cx="573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Inst</a:t>
              </a:r>
              <a:r>
                <a:rPr lang="en-US" sz="1200" dirty="0">
                  <a:solidFill>
                    <a:srgbClr val="56127A"/>
                  </a:solidFill>
                </a:rPr>
                <a:t>&lt;16:0&gt;</a:t>
              </a:r>
            </a:p>
          </p:txBody>
        </p:sp>
        <p:sp>
          <p:nvSpPr>
            <p:cNvPr id="58397" name="Line 58"/>
            <p:cNvSpPr>
              <a:spLocks noChangeShapeType="1"/>
            </p:cNvSpPr>
            <p:nvPr/>
          </p:nvSpPr>
          <p:spPr bwMode="auto">
            <a:xfrm>
              <a:off x="1984" y="1548"/>
              <a:ext cx="0" cy="1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8" name="Rectangle 59"/>
            <p:cNvSpPr>
              <a:spLocks noChangeArrowheads="1"/>
            </p:cNvSpPr>
            <p:nvPr/>
          </p:nvSpPr>
          <p:spPr bwMode="auto">
            <a:xfrm>
              <a:off x="1791" y="3305"/>
              <a:ext cx="47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OpCode</a:t>
              </a:r>
            </a:p>
          </p:txBody>
        </p:sp>
        <p:sp>
          <p:nvSpPr>
            <p:cNvPr id="58399" name="Line 60"/>
            <p:cNvSpPr>
              <a:spLocks noChangeShapeType="1"/>
            </p:cNvSpPr>
            <p:nvPr/>
          </p:nvSpPr>
          <p:spPr bwMode="auto">
            <a:xfrm flipH="1">
              <a:off x="3806" y="1928"/>
              <a:ext cx="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00" name="Freeform 61"/>
            <p:cNvSpPr>
              <a:spLocks/>
            </p:cNvSpPr>
            <p:nvPr/>
          </p:nvSpPr>
          <p:spPr bwMode="auto">
            <a:xfrm>
              <a:off x="1976" y="1824"/>
              <a:ext cx="817" cy="1"/>
            </a:xfrm>
            <a:custGeom>
              <a:avLst/>
              <a:gdLst>
                <a:gd name="T0" fmla="*/ 0 w 817"/>
                <a:gd name="T1" fmla="*/ 0 h 1"/>
                <a:gd name="T2" fmla="*/ 816 w 817"/>
                <a:gd name="T3" fmla="*/ 0 h 1"/>
                <a:gd name="T4" fmla="*/ 0 60000 65536"/>
                <a:gd name="T5" fmla="*/ 0 60000 65536"/>
                <a:gd name="T6" fmla="*/ 0 w 817"/>
                <a:gd name="T7" fmla="*/ 0 h 1"/>
                <a:gd name="T8" fmla="*/ 817 w 8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" name="Group 62"/>
            <p:cNvGrpSpPr>
              <a:grpSpLocks/>
            </p:cNvGrpSpPr>
            <p:nvPr/>
          </p:nvGrpSpPr>
          <p:grpSpPr bwMode="auto">
            <a:xfrm>
              <a:off x="4063" y="1630"/>
              <a:ext cx="301" cy="385"/>
              <a:chOff x="4063" y="1630"/>
              <a:chExt cx="301" cy="385"/>
            </a:xfrm>
          </p:grpSpPr>
          <p:sp>
            <p:nvSpPr>
              <p:cNvPr id="58424" name="Freeform 65"/>
              <p:cNvSpPr>
                <a:spLocks/>
              </p:cNvSpPr>
              <p:nvPr/>
            </p:nvSpPr>
            <p:spPr bwMode="auto">
              <a:xfrm>
                <a:off x="4085" y="1630"/>
                <a:ext cx="241" cy="385"/>
              </a:xfrm>
              <a:custGeom>
                <a:avLst/>
                <a:gdLst>
                  <a:gd name="T0" fmla="*/ 0 w 241"/>
                  <a:gd name="T1" fmla="*/ 0 h 385"/>
                  <a:gd name="T2" fmla="*/ 0 w 241"/>
                  <a:gd name="T3" fmla="*/ 160 h 385"/>
                  <a:gd name="T4" fmla="*/ 48 w 241"/>
                  <a:gd name="T5" fmla="*/ 192 h 385"/>
                  <a:gd name="T6" fmla="*/ 0 w 241"/>
                  <a:gd name="T7" fmla="*/ 224 h 385"/>
                  <a:gd name="T8" fmla="*/ 0 w 241"/>
                  <a:gd name="T9" fmla="*/ 384 h 385"/>
                  <a:gd name="T10" fmla="*/ 240 w 241"/>
                  <a:gd name="T11" fmla="*/ 288 h 385"/>
                  <a:gd name="T12" fmla="*/ 240 w 241"/>
                  <a:gd name="T13" fmla="*/ 96 h 385"/>
                  <a:gd name="T14" fmla="*/ 0 w 241"/>
                  <a:gd name="T15" fmla="*/ 0 h 3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1"/>
                  <a:gd name="T25" fmla="*/ 0 h 385"/>
                  <a:gd name="T26" fmla="*/ 241 w 241"/>
                  <a:gd name="T27" fmla="*/ 385 h 38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1" h="385">
                    <a:moveTo>
                      <a:pt x="0" y="0"/>
                    </a:moveTo>
                    <a:lnTo>
                      <a:pt x="0" y="160"/>
                    </a:lnTo>
                    <a:lnTo>
                      <a:pt x="48" y="192"/>
                    </a:lnTo>
                    <a:lnTo>
                      <a:pt x="0" y="224"/>
                    </a:lnTo>
                    <a:lnTo>
                      <a:pt x="0" y="384"/>
                    </a:lnTo>
                    <a:lnTo>
                      <a:pt x="240" y="288"/>
                    </a:lnTo>
                    <a:lnTo>
                      <a:pt x="240" y="96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25" name="Rectangle 66"/>
              <p:cNvSpPr>
                <a:spLocks noChangeArrowheads="1"/>
              </p:cNvSpPr>
              <p:nvPr/>
            </p:nvSpPr>
            <p:spPr bwMode="auto">
              <a:xfrm>
                <a:off x="4063" y="1749"/>
                <a:ext cx="301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ALU</a:t>
                </a:r>
              </a:p>
            </p:txBody>
          </p:sp>
        </p:grpSp>
        <p:grpSp>
          <p:nvGrpSpPr>
            <p:cNvPr id="10" name="Group 67"/>
            <p:cNvGrpSpPr>
              <a:grpSpLocks/>
            </p:cNvGrpSpPr>
            <p:nvPr/>
          </p:nvGrpSpPr>
          <p:grpSpPr bwMode="auto">
            <a:xfrm>
              <a:off x="3302" y="2417"/>
              <a:ext cx="423" cy="267"/>
              <a:chOff x="3302" y="2417"/>
              <a:chExt cx="423" cy="267"/>
            </a:xfrm>
          </p:grpSpPr>
          <p:sp>
            <p:nvSpPr>
              <p:cNvPr id="58420" name="Rectangle 68"/>
              <p:cNvSpPr>
                <a:spLocks noChangeArrowheads="1"/>
              </p:cNvSpPr>
              <p:nvPr/>
            </p:nvSpPr>
            <p:spPr bwMode="auto">
              <a:xfrm>
                <a:off x="3335" y="2437"/>
                <a:ext cx="368" cy="2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21" name="Rectangle 69"/>
              <p:cNvSpPr>
                <a:spLocks noChangeArrowheads="1"/>
              </p:cNvSpPr>
              <p:nvPr/>
            </p:nvSpPr>
            <p:spPr bwMode="auto">
              <a:xfrm>
                <a:off x="3302" y="2417"/>
                <a:ext cx="423" cy="26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ALU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Control</a:t>
                </a:r>
              </a:p>
            </p:txBody>
          </p:sp>
        </p:grpSp>
        <p:grpSp>
          <p:nvGrpSpPr>
            <p:cNvPr id="11" name="Group 70"/>
            <p:cNvGrpSpPr>
              <a:grpSpLocks/>
            </p:cNvGrpSpPr>
            <p:nvPr/>
          </p:nvGrpSpPr>
          <p:grpSpPr bwMode="auto">
            <a:xfrm>
              <a:off x="2758" y="956"/>
              <a:ext cx="637" cy="1205"/>
              <a:chOff x="2758" y="956"/>
              <a:chExt cx="637" cy="1205"/>
            </a:xfrm>
          </p:grpSpPr>
          <p:sp>
            <p:nvSpPr>
              <p:cNvPr id="58405" name="Rectangle 71"/>
              <p:cNvSpPr>
                <a:spLocks noChangeArrowheads="1"/>
              </p:cNvSpPr>
              <p:nvPr/>
            </p:nvSpPr>
            <p:spPr bwMode="auto">
              <a:xfrm>
                <a:off x="2759" y="956"/>
                <a:ext cx="636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RegWriteEn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58406" name="Rectangle 72"/>
              <p:cNvSpPr>
                <a:spLocks noChangeArrowheads="1"/>
              </p:cNvSpPr>
              <p:nvPr/>
            </p:nvSpPr>
            <p:spPr bwMode="auto">
              <a:xfrm>
                <a:off x="2758" y="1196"/>
                <a:ext cx="212" cy="1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58407" name="Freeform 73"/>
              <p:cNvSpPr>
                <a:spLocks/>
              </p:cNvSpPr>
              <p:nvPr/>
            </p:nvSpPr>
            <p:spPr bwMode="auto">
              <a:xfrm>
                <a:off x="3023" y="1216"/>
                <a:ext cx="1" cy="233"/>
              </a:xfrm>
              <a:custGeom>
                <a:avLst/>
                <a:gdLst>
                  <a:gd name="T0" fmla="*/ 0 w 1"/>
                  <a:gd name="T1" fmla="*/ 0 h 233"/>
                  <a:gd name="T2" fmla="*/ 0 w 1"/>
                  <a:gd name="T3" fmla="*/ 232 h 233"/>
                  <a:gd name="T4" fmla="*/ 0 60000 65536"/>
                  <a:gd name="T5" fmla="*/ 0 60000 65536"/>
                  <a:gd name="T6" fmla="*/ 0 w 1"/>
                  <a:gd name="T7" fmla="*/ 0 h 233"/>
                  <a:gd name="T8" fmla="*/ 1 w 1"/>
                  <a:gd name="T9" fmla="*/ 233 h 2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33">
                    <a:moveTo>
                      <a:pt x="0" y="0"/>
                    </a:moveTo>
                    <a:lnTo>
                      <a:pt x="0" y="232"/>
                    </a:lnTo>
                  </a:path>
                </a:pathLst>
              </a:custGeom>
              <a:noFill/>
              <a:ln w="12700" cap="rnd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08" name="Rectangle 74"/>
              <p:cNvSpPr>
                <a:spLocks noChangeArrowheads="1"/>
              </p:cNvSpPr>
              <p:nvPr/>
            </p:nvSpPr>
            <p:spPr bwMode="auto">
              <a:xfrm>
                <a:off x="2813" y="1432"/>
                <a:ext cx="368" cy="68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09" name="Rectangle 75"/>
              <p:cNvSpPr>
                <a:spLocks noChangeArrowheads="1"/>
              </p:cNvSpPr>
              <p:nvPr/>
            </p:nvSpPr>
            <p:spPr bwMode="auto">
              <a:xfrm>
                <a:off x="2972" y="1697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rd1</a:t>
                </a:r>
              </a:p>
            </p:txBody>
          </p:sp>
          <p:sp>
            <p:nvSpPr>
              <p:cNvPr id="58410" name="Rectangle 76"/>
              <p:cNvSpPr>
                <a:spLocks noChangeArrowheads="1"/>
              </p:cNvSpPr>
              <p:nvPr/>
            </p:nvSpPr>
            <p:spPr bwMode="auto">
              <a:xfrm>
                <a:off x="2797" y="1971"/>
                <a:ext cx="413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GPRs</a:t>
                </a:r>
              </a:p>
            </p:txBody>
          </p:sp>
          <p:sp>
            <p:nvSpPr>
              <p:cNvPr id="58411" name="Rectangle 77"/>
              <p:cNvSpPr>
                <a:spLocks noChangeArrowheads="1"/>
              </p:cNvSpPr>
              <p:nvPr/>
            </p:nvSpPr>
            <p:spPr bwMode="auto">
              <a:xfrm>
                <a:off x="2780" y="1501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rs1</a:t>
                </a:r>
              </a:p>
            </p:txBody>
          </p:sp>
          <p:sp>
            <p:nvSpPr>
              <p:cNvPr id="58412" name="Rectangle 78"/>
              <p:cNvSpPr>
                <a:spLocks noChangeArrowheads="1"/>
              </p:cNvSpPr>
              <p:nvPr/>
            </p:nvSpPr>
            <p:spPr bwMode="auto">
              <a:xfrm>
                <a:off x="2780" y="1597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rs2</a:t>
                </a:r>
              </a:p>
            </p:txBody>
          </p:sp>
          <p:sp>
            <p:nvSpPr>
              <p:cNvPr id="58413" name="Rectangle 79"/>
              <p:cNvSpPr>
                <a:spLocks noChangeArrowheads="1"/>
              </p:cNvSpPr>
              <p:nvPr/>
            </p:nvSpPr>
            <p:spPr bwMode="auto">
              <a:xfrm>
                <a:off x="2780" y="1781"/>
                <a:ext cx="23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wa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58414" name="Rectangle 80"/>
              <p:cNvSpPr>
                <a:spLocks noChangeArrowheads="1"/>
              </p:cNvSpPr>
              <p:nvPr/>
            </p:nvSpPr>
            <p:spPr bwMode="auto">
              <a:xfrm>
                <a:off x="2780" y="1875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wd</a:t>
                </a:r>
              </a:p>
            </p:txBody>
          </p:sp>
          <p:sp>
            <p:nvSpPr>
              <p:cNvPr id="58415" name="Rectangle 81"/>
              <p:cNvSpPr>
                <a:spLocks noChangeArrowheads="1"/>
              </p:cNvSpPr>
              <p:nvPr/>
            </p:nvSpPr>
            <p:spPr bwMode="auto">
              <a:xfrm>
                <a:off x="2977" y="1876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rd2</a:t>
                </a:r>
              </a:p>
            </p:txBody>
          </p:sp>
          <p:sp>
            <p:nvSpPr>
              <p:cNvPr id="58416" name="Rectangle 82"/>
              <p:cNvSpPr>
                <a:spLocks noChangeArrowheads="1"/>
              </p:cNvSpPr>
              <p:nvPr/>
            </p:nvSpPr>
            <p:spPr bwMode="auto">
              <a:xfrm>
                <a:off x="2908" y="1397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we</a:t>
                </a:r>
              </a:p>
            </p:txBody>
          </p:sp>
          <p:sp>
            <p:nvSpPr>
              <p:cNvPr id="58417" name="Line 83"/>
              <p:cNvSpPr>
                <a:spLocks noChangeShapeType="1"/>
              </p:cNvSpPr>
              <p:nvPr/>
            </p:nvSpPr>
            <p:spPr bwMode="auto">
              <a:xfrm>
                <a:off x="2829" y="1443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18" name="Line 84"/>
              <p:cNvSpPr>
                <a:spLocks noChangeShapeType="1"/>
              </p:cNvSpPr>
              <p:nvPr/>
            </p:nvSpPr>
            <p:spPr bwMode="auto">
              <a:xfrm flipH="1">
                <a:off x="2856" y="1446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419" name="Line 85"/>
              <p:cNvSpPr>
                <a:spLocks noChangeShapeType="1"/>
              </p:cNvSpPr>
              <p:nvPr/>
            </p:nvSpPr>
            <p:spPr bwMode="auto">
              <a:xfrm>
                <a:off x="2856" y="1368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8404" name="Line 86"/>
            <p:cNvSpPr>
              <a:spLocks noChangeShapeType="1"/>
            </p:cNvSpPr>
            <p:nvPr/>
          </p:nvSpPr>
          <p:spPr bwMode="auto">
            <a:xfrm>
              <a:off x="4328" y="1808"/>
              <a:ext cx="3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89946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1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1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121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218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21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1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1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121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21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62" grpId="0" animBg="1"/>
      <p:bldP spid="1218563" grpId="0" animBg="1"/>
      <p:bldP spid="1218564" grpId="0" animBg="1"/>
      <p:bldP spid="1218565" grpId="0" animBg="1"/>
      <p:bldP spid="1218566" grpId="0" animBg="1"/>
      <p:bldP spid="1218567" grpId="0" animBg="1"/>
      <p:bldP spid="1218568" grpId="0" animBg="1"/>
      <p:bldP spid="1218569" grpId="0" animBg="1"/>
      <p:bldP spid="1218571" grpId="0" autoUpdateAnimBg="0"/>
      <p:bldP spid="121860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0" y="6565900"/>
            <a:ext cx="1905000" cy="292100"/>
          </a:xfrm>
          <a:noFill/>
        </p:spPr>
        <p:txBody>
          <a:bodyPr/>
          <a:lstStyle/>
          <a:p>
            <a:fld id="{83ADEB8C-8E1D-2F47-9207-8DA531E56F30}" type="slidenum">
              <a:rPr lang="en-US"/>
              <a:pPr/>
              <a:t>32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431800"/>
            <a:ext cx="8902700" cy="749300"/>
          </a:xfrm>
          <a:noFill/>
        </p:spPr>
        <p:txBody>
          <a:bodyPr lIns="90488" tIns="44450" rIns="90488" bIns="44450"/>
          <a:lstStyle/>
          <a:p>
            <a:r>
              <a:rPr lang="en-US"/>
              <a:t>Datapath: Reg-Imm ALU Instructions</a:t>
            </a:r>
            <a:endParaRPr lang="en-US" sz="2000" i="1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62000" y="5638800"/>
            <a:ext cx="8467721" cy="866775"/>
            <a:chOff x="631" y="3671"/>
            <a:chExt cx="5334" cy="546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681" y="3671"/>
              <a:ext cx="5284" cy="425"/>
              <a:chOff x="681" y="3767"/>
              <a:chExt cx="5284" cy="425"/>
            </a:xfrm>
          </p:grpSpPr>
          <p:sp>
            <p:nvSpPr>
              <p:cNvPr id="60496" name="Rectangle 9"/>
              <p:cNvSpPr>
                <a:spLocks noChangeArrowheads="1"/>
              </p:cNvSpPr>
              <p:nvPr/>
            </p:nvSpPr>
            <p:spPr bwMode="auto">
              <a:xfrm>
                <a:off x="681" y="3767"/>
                <a:ext cx="5284" cy="40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 </a:t>
                </a:r>
                <a:r>
                  <a:rPr lang="en-US" sz="1800" dirty="0">
                    <a:solidFill>
                      <a:schemeClr val="tx1"/>
                    </a:solidFill>
                    <a:latin typeface="Verdana" charset="0"/>
                  </a:rPr>
                  <a:t>5	  5               12        3       7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rd	 rs1     </a:t>
                </a:r>
                <a:r>
                  <a:rPr lang="en-US" dirty="0">
                    <a:solidFill>
                      <a:srgbClr val="56127A"/>
                    </a:solidFill>
                    <a:latin typeface="Verdana" charset="0"/>
                  </a:rPr>
                  <a:t>immediate12  </a:t>
                </a:r>
                <a:r>
                  <a:rPr lang="en-US" dirty="0" err="1">
                    <a:solidFill>
                      <a:srgbClr val="56127A"/>
                    </a:solidFill>
                    <a:latin typeface="Verdana" charset="0"/>
                  </a:rPr>
                  <a:t>func</a:t>
                </a:r>
                <a:r>
                  <a:rPr lang="en-US" dirty="0">
                    <a:solidFill>
                      <a:srgbClr val="56127A"/>
                    </a:solidFill>
                    <a:latin typeface="Verdana" charset="0"/>
                  </a:rPr>
                  <a:t>  </a:t>
                </a:r>
                <a:r>
                  <a:rPr lang="en-US" sz="1800" dirty="0" err="1">
                    <a:solidFill>
                      <a:srgbClr val="56127A"/>
                    </a:solidFill>
                    <a:latin typeface="Verdana" charset="0"/>
                  </a:rPr>
                  <a:t>opcode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 rd </a:t>
                </a:r>
                <a:r>
                  <a:rPr lang="en-US" sz="1800" dirty="0">
                    <a:solidFill>
                      <a:srgbClr val="56127A"/>
                    </a:solidFill>
                    <a:latin typeface="Symbol" charset="2"/>
                  </a:rPr>
                  <a:t>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(rs1) op immediate</a:t>
                </a:r>
              </a:p>
            </p:txBody>
          </p:sp>
          <p:sp>
            <p:nvSpPr>
              <p:cNvPr id="60492" name="Rectangle 5"/>
              <p:cNvSpPr>
                <a:spLocks noChangeArrowheads="1"/>
              </p:cNvSpPr>
              <p:nvPr/>
            </p:nvSpPr>
            <p:spPr bwMode="auto">
              <a:xfrm>
                <a:off x="690" y="3957"/>
                <a:ext cx="3006" cy="2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94" name="Line 7"/>
              <p:cNvSpPr>
                <a:spLocks noChangeShapeType="1"/>
              </p:cNvSpPr>
              <p:nvPr/>
            </p:nvSpPr>
            <p:spPr bwMode="auto">
              <a:xfrm>
                <a:off x="1680" y="3965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95" name="Line 8"/>
              <p:cNvSpPr>
                <a:spLocks noChangeShapeType="1"/>
              </p:cNvSpPr>
              <p:nvPr/>
            </p:nvSpPr>
            <p:spPr bwMode="auto">
              <a:xfrm>
                <a:off x="1248" y="3965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97" name="Rectangle 10"/>
              <p:cNvSpPr>
                <a:spLocks noChangeArrowheads="1"/>
              </p:cNvSpPr>
              <p:nvPr/>
            </p:nvSpPr>
            <p:spPr bwMode="auto">
              <a:xfrm>
                <a:off x="3752" y="3961"/>
                <a:ext cx="170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0491" name="Rectangle 11"/>
            <p:cNvSpPr>
              <a:spLocks noChangeArrowheads="1"/>
            </p:cNvSpPr>
            <p:nvPr/>
          </p:nvSpPr>
          <p:spPr bwMode="auto">
            <a:xfrm>
              <a:off x="631" y="4044"/>
              <a:ext cx="3146" cy="1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chemeClr val="tx1"/>
                  </a:solidFill>
                  <a:latin typeface="Verdana" charset="0"/>
                </a:rPr>
                <a:t>31         27 26    22 21                        10 9     7 6              0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130550" y="3136900"/>
            <a:ext cx="3348038" cy="2343150"/>
            <a:chOff x="1972" y="1976"/>
            <a:chExt cx="2109" cy="1476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1989" y="1976"/>
              <a:ext cx="2092" cy="1476"/>
              <a:chOff x="1989" y="1976"/>
              <a:chExt cx="2092" cy="1476"/>
            </a:xfrm>
          </p:grpSpPr>
          <p:grpSp>
            <p:nvGrpSpPr>
              <p:cNvPr id="6" name="Group 14"/>
              <p:cNvGrpSpPr>
                <a:grpSpLocks/>
              </p:cNvGrpSpPr>
              <p:nvPr/>
            </p:nvGrpSpPr>
            <p:grpSpPr bwMode="auto">
              <a:xfrm>
                <a:off x="1989" y="1976"/>
                <a:ext cx="2092" cy="1322"/>
                <a:chOff x="1989" y="1976"/>
                <a:chExt cx="2092" cy="1322"/>
              </a:xfrm>
            </p:grpSpPr>
            <p:sp>
              <p:nvSpPr>
                <p:cNvPr id="60484" name="Rectangle 15"/>
                <p:cNvSpPr>
                  <a:spLocks noChangeArrowheads="1"/>
                </p:cNvSpPr>
                <p:nvPr/>
              </p:nvSpPr>
              <p:spPr bwMode="auto">
                <a:xfrm>
                  <a:off x="2819" y="2176"/>
                  <a:ext cx="368" cy="20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" name="Group 16"/>
                <p:cNvGrpSpPr>
                  <a:grpSpLocks/>
                </p:cNvGrpSpPr>
                <p:nvPr/>
              </p:nvGrpSpPr>
              <p:grpSpPr bwMode="auto">
                <a:xfrm>
                  <a:off x="1989" y="1976"/>
                  <a:ext cx="2092" cy="1322"/>
                  <a:chOff x="1989" y="1976"/>
                  <a:chExt cx="2092" cy="1322"/>
                </a:xfrm>
              </p:grpSpPr>
              <p:sp>
                <p:nvSpPr>
                  <p:cNvPr id="60486" name="Freeform 17"/>
                  <p:cNvSpPr>
                    <a:spLocks/>
                  </p:cNvSpPr>
                  <p:nvPr/>
                </p:nvSpPr>
                <p:spPr bwMode="auto">
                  <a:xfrm>
                    <a:off x="1989" y="2289"/>
                    <a:ext cx="832" cy="47"/>
                  </a:xfrm>
                  <a:custGeom>
                    <a:avLst/>
                    <a:gdLst>
                      <a:gd name="T0" fmla="*/ 0 w 817"/>
                      <a:gd name="T1" fmla="*/ 0 h 1"/>
                      <a:gd name="T2" fmla="*/ 816 w 817"/>
                      <a:gd name="T3" fmla="*/ 0 h 1"/>
                      <a:gd name="T4" fmla="*/ 0 60000 65536"/>
                      <a:gd name="T5" fmla="*/ 0 60000 65536"/>
                      <a:gd name="T6" fmla="*/ 0 w 817"/>
                      <a:gd name="T7" fmla="*/ 0 h 1"/>
                      <a:gd name="T8" fmla="*/ 817 w 817"/>
                      <a:gd name="T9" fmla="*/ 1 h 1"/>
                    </a:gdLst>
                    <a:ahLst/>
                    <a:cxnLst>
                      <a:cxn ang="T4">
                        <a:pos x="T0" y="T1"/>
                      </a:cxn>
                      <a:cxn ang="T5">
                        <a:pos x="T2" y="T3"/>
                      </a:cxn>
                    </a:cxnLst>
                    <a:rect l="T6" t="T7" r="T8" b="T9"/>
                    <a:pathLst>
                      <a:path w="817" h="1">
                        <a:moveTo>
                          <a:pt x="0" y="0"/>
                        </a:moveTo>
                        <a:lnTo>
                          <a:pt x="816" y="0"/>
                        </a:lnTo>
                      </a:path>
                    </a:pathLst>
                  </a:custGeom>
                  <a:noFill/>
                  <a:ln w="12700" cap="rnd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487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003" y="2378"/>
                    <a:ext cx="0" cy="920"/>
                  </a:xfrm>
                  <a:prstGeom prst="line">
                    <a:avLst/>
                  </a:prstGeom>
                  <a:noFill/>
                  <a:ln w="12700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6048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815" y="2162"/>
                    <a:ext cx="385" cy="23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ctr">
                      <a:lnSpc>
                        <a:spcPct val="75000"/>
                      </a:lnSpc>
                      <a:spcBef>
                        <a:spcPct val="0"/>
                      </a:spcBef>
                    </a:pPr>
                    <a:r>
                      <a:rPr lang="en-US" sz="1200" dirty="0" err="1">
                        <a:solidFill>
                          <a:srgbClr val="56127A"/>
                        </a:solidFill>
                      </a:rPr>
                      <a:t>Imm</a:t>
                    </a:r>
                    <a:endParaRPr lang="en-US" sz="1200" dirty="0">
                      <a:solidFill>
                        <a:srgbClr val="56127A"/>
                      </a:solidFill>
                    </a:endParaRPr>
                  </a:p>
                  <a:p>
                    <a:pPr algn="ctr">
                      <a:lnSpc>
                        <a:spcPct val="75000"/>
                      </a:lnSpc>
                      <a:spcBef>
                        <a:spcPct val="0"/>
                      </a:spcBef>
                    </a:pPr>
                    <a:r>
                      <a:rPr lang="en-US" sz="1200" dirty="0">
                        <a:solidFill>
                          <a:srgbClr val="56127A"/>
                        </a:solidFill>
                      </a:rPr>
                      <a:t>Select</a:t>
                    </a:r>
                  </a:p>
                </p:txBody>
              </p:sp>
              <p:sp>
                <p:nvSpPr>
                  <p:cNvPr id="60489" name="Freeform 20"/>
                  <p:cNvSpPr>
                    <a:spLocks/>
                  </p:cNvSpPr>
                  <p:nvPr/>
                </p:nvSpPr>
                <p:spPr bwMode="auto">
                  <a:xfrm>
                    <a:off x="3192" y="1976"/>
                    <a:ext cx="889" cy="299"/>
                  </a:xfrm>
                  <a:custGeom>
                    <a:avLst/>
                    <a:gdLst>
                      <a:gd name="T0" fmla="*/ 0 w 889"/>
                      <a:gd name="T1" fmla="*/ 298 h 299"/>
                      <a:gd name="T2" fmla="*/ 277 w 889"/>
                      <a:gd name="T3" fmla="*/ 298 h 299"/>
                      <a:gd name="T4" fmla="*/ 277 w 889"/>
                      <a:gd name="T5" fmla="*/ 0 h 299"/>
                      <a:gd name="T6" fmla="*/ 888 w 889"/>
                      <a:gd name="T7" fmla="*/ 0 h 29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89"/>
                      <a:gd name="T13" fmla="*/ 0 h 299"/>
                      <a:gd name="T14" fmla="*/ 889 w 889"/>
                      <a:gd name="T15" fmla="*/ 299 h 29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89" h="299">
                        <a:moveTo>
                          <a:pt x="0" y="298"/>
                        </a:moveTo>
                        <a:lnTo>
                          <a:pt x="277" y="298"/>
                        </a:lnTo>
                        <a:lnTo>
                          <a:pt x="277" y="0"/>
                        </a:lnTo>
                        <a:lnTo>
                          <a:pt x="888" y="0"/>
                        </a:lnTo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60483" name="Rectangle 21"/>
              <p:cNvSpPr>
                <a:spLocks noChangeArrowheads="1"/>
              </p:cNvSpPr>
              <p:nvPr/>
            </p:nvSpPr>
            <p:spPr bwMode="auto">
              <a:xfrm>
                <a:off x="2842" y="3279"/>
                <a:ext cx="444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ImmSel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</p:grpSp>
        <p:sp>
          <p:nvSpPr>
            <p:cNvPr id="60481" name="Rectangle 22"/>
            <p:cNvSpPr>
              <a:spLocks noChangeArrowheads="1"/>
            </p:cNvSpPr>
            <p:nvPr/>
          </p:nvSpPr>
          <p:spPr bwMode="auto">
            <a:xfrm>
              <a:off x="1972" y="2136"/>
              <a:ext cx="6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inst&lt;21:10&gt;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1055688" y="1412875"/>
            <a:ext cx="6467475" cy="4105275"/>
            <a:chOff x="665" y="890"/>
            <a:chExt cx="4074" cy="2586"/>
          </a:xfrm>
        </p:grpSpPr>
        <p:sp>
          <p:nvSpPr>
            <p:cNvPr id="60425" name="Freeform 24"/>
            <p:cNvSpPr>
              <a:spLocks/>
            </p:cNvSpPr>
            <p:nvPr/>
          </p:nvSpPr>
          <p:spPr bwMode="auto">
            <a:xfrm>
              <a:off x="2560" y="1824"/>
              <a:ext cx="2179" cy="1275"/>
            </a:xfrm>
            <a:custGeom>
              <a:avLst/>
              <a:gdLst>
                <a:gd name="T0" fmla="*/ 1769 w 2179"/>
                <a:gd name="T1" fmla="*/ 0 h 1303"/>
                <a:gd name="T2" fmla="*/ 2178 w 2179"/>
                <a:gd name="T3" fmla="*/ 0 h 1303"/>
                <a:gd name="T4" fmla="*/ 2178 w 2179"/>
                <a:gd name="T5" fmla="*/ 1302 h 1303"/>
                <a:gd name="T6" fmla="*/ 0 w 2179"/>
                <a:gd name="T7" fmla="*/ 1302 h 1303"/>
                <a:gd name="T8" fmla="*/ 0 w 2179"/>
                <a:gd name="T9" fmla="*/ 133 h 1303"/>
                <a:gd name="T10" fmla="*/ 242 w 2179"/>
                <a:gd name="T11" fmla="*/ 133 h 130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79"/>
                <a:gd name="T19" fmla="*/ 0 h 1303"/>
                <a:gd name="T20" fmla="*/ 2179 w 2179"/>
                <a:gd name="T21" fmla="*/ 1303 h 130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79" h="1303">
                  <a:moveTo>
                    <a:pt x="1769" y="0"/>
                  </a:moveTo>
                  <a:lnTo>
                    <a:pt x="2178" y="0"/>
                  </a:lnTo>
                  <a:lnTo>
                    <a:pt x="2178" y="1302"/>
                  </a:lnTo>
                  <a:lnTo>
                    <a:pt x="0" y="1302"/>
                  </a:lnTo>
                  <a:lnTo>
                    <a:pt x="0" y="133"/>
                  </a:lnTo>
                  <a:lnTo>
                    <a:pt x="242" y="13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6" name="Line 25"/>
            <p:cNvSpPr>
              <a:spLocks noChangeShapeType="1"/>
            </p:cNvSpPr>
            <p:nvPr/>
          </p:nvSpPr>
          <p:spPr bwMode="auto">
            <a:xfrm>
              <a:off x="1816" y="1832"/>
              <a:ext cx="1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7" name="Line 26"/>
            <p:cNvSpPr>
              <a:spLocks noChangeShapeType="1"/>
            </p:cNvSpPr>
            <p:nvPr/>
          </p:nvSpPr>
          <p:spPr bwMode="auto">
            <a:xfrm>
              <a:off x="1984" y="1548"/>
              <a:ext cx="0" cy="17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8" name="Rectangle 27"/>
            <p:cNvSpPr>
              <a:spLocks noChangeArrowheads="1"/>
            </p:cNvSpPr>
            <p:nvPr/>
          </p:nvSpPr>
          <p:spPr bwMode="auto">
            <a:xfrm>
              <a:off x="1791" y="3305"/>
              <a:ext cx="47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OpCode</a:t>
              </a:r>
            </a:p>
          </p:txBody>
        </p:sp>
        <p:sp>
          <p:nvSpPr>
            <p:cNvPr id="60429" name="Rectangle 28"/>
            <p:cNvSpPr>
              <a:spLocks noChangeArrowheads="1"/>
            </p:cNvSpPr>
            <p:nvPr/>
          </p:nvSpPr>
          <p:spPr bwMode="auto">
            <a:xfrm>
              <a:off x="1071" y="1070"/>
              <a:ext cx="269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0x4</a:t>
              </a:r>
            </a:p>
          </p:txBody>
        </p:sp>
        <p:sp>
          <p:nvSpPr>
            <p:cNvPr id="60430" name="Freeform 29"/>
            <p:cNvSpPr>
              <a:spLocks/>
            </p:cNvSpPr>
            <p:nvPr/>
          </p:nvSpPr>
          <p:spPr bwMode="auto">
            <a:xfrm>
              <a:off x="1336" y="1096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1" name="Line 30"/>
            <p:cNvSpPr>
              <a:spLocks noChangeShapeType="1"/>
            </p:cNvSpPr>
            <p:nvPr/>
          </p:nvSpPr>
          <p:spPr bwMode="auto">
            <a:xfrm>
              <a:off x="1292" y="1144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2" name="Rectangle 31"/>
            <p:cNvSpPr>
              <a:spLocks noChangeArrowheads="1"/>
            </p:cNvSpPr>
            <p:nvPr/>
          </p:nvSpPr>
          <p:spPr bwMode="auto">
            <a:xfrm>
              <a:off x="1351" y="1228"/>
              <a:ext cx="256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Add</a:t>
              </a:r>
            </a:p>
          </p:txBody>
        </p:sp>
        <p:sp>
          <p:nvSpPr>
            <p:cNvPr id="60433" name="Rectangle 32"/>
            <p:cNvSpPr>
              <a:spLocks noChangeArrowheads="1"/>
            </p:cNvSpPr>
            <p:nvPr/>
          </p:nvSpPr>
          <p:spPr bwMode="auto">
            <a:xfrm>
              <a:off x="935" y="1966"/>
              <a:ext cx="21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60434" name="Line 33"/>
            <p:cNvSpPr>
              <a:spLocks noChangeShapeType="1"/>
            </p:cNvSpPr>
            <p:nvPr/>
          </p:nvSpPr>
          <p:spPr bwMode="auto">
            <a:xfrm>
              <a:off x="1061" y="1920"/>
              <a:ext cx="0" cy="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942" y="1554"/>
              <a:ext cx="892" cy="668"/>
              <a:chOff x="942" y="1554"/>
              <a:chExt cx="892" cy="668"/>
            </a:xfrm>
          </p:grpSpPr>
          <p:sp>
            <p:nvSpPr>
              <p:cNvPr id="60470" name="Freeform 35"/>
              <p:cNvSpPr>
                <a:spLocks/>
              </p:cNvSpPr>
              <p:nvPr/>
            </p:nvSpPr>
            <p:spPr bwMode="auto">
              <a:xfrm>
                <a:off x="1127" y="1738"/>
                <a:ext cx="193" cy="1"/>
              </a:xfrm>
              <a:custGeom>
                <a:avLst/>
                <a:gdLst>
                  <a:gd name="T0" fmla="*/ 0 w 193"/>
                  <a:gd name="T1" fmla="*/ 0 h 1"/>
                  <a:gd name="T2" fmla="*/ 144 w 193"/>
                  <a:gd name="T3" fmla="*/ 0 h 1"/>
                  <a:gd name="T4" fmla="*/ 192 w 1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93"/>
                  <a:gd name="T10" fmla="*/ 0 h 1"/>
                  <a:gd name="T11" fmla="*/ 193 w 1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" h="1">
                    <a:moveTo>
                      <a:pt x="0" y="0"/>
                    </a:moveTo>
                    <a:lnTo>
                      <a:pt x="144" y="0"/>
                    </a:lnTo>
                    <a:lnTo>
                      <a:pt x="192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0" name="Group 36"/>
              <p:cNvGrpSpPr>
                <a:grpSpLocks/>
              </p:cNvGrpSpPr>
              <p:nvPr/>
            </p:nvGrpSpPr>
            <p:grpSpPr bwMode="auto">
              <a:xfrm>
                <a:off x="1298" y="1621"/>
                <a:ext cx="536" cy="601"/>
                <a:chOff x="1298" y="1621"/>
                <a:chExt cx="536" cy="601"/>
              </a:xfrm>
            </p:grpSpPr>
            <p:sp>
              <p:nvSpPr>
                <p:cNvPr id="60476" name="Rectangle 37"/>
                <p:cNvSpPr>
                  <a:spLocks noChangeArrowheads="1"/>
                </p:cNvSpPr>
                <p:nvPr/>
              </p:nvSpPr>
              <p:spPr bwMode="auto">
                <a:xfrm>
                  <a:off x="1331" y="1623"/>
                  <a:ext cx="472" cy="584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477" name="Rectangle 38"/>
                <p:cNvSpPr>
                  <a:spLocks noChangeArrowheads="1"/>
                </p:cNvSpPr>
                <p:nvPr/>
              </p:nvSpPr>
              <p:spPr bwMode="auto">
                <a:xfrm>
                  <a:off x="1298" y="1621"/>
                  <a:ext cx="306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addr</a:t>
                  </a:r>
                </a:p>
              </p:txBody>
            </p:sp>
            <p:sp>
              <p:nvSpPr>
                <p:cNvPr id="60478" name="Rectangle 39"/>
                <p:cNvSpPr>
                  <a:spLocks noChangeArrowheads="1"/>
                </p:cNvSpPr>
                <p:nvPr/>
              </p:nvSpPr>
              <p:spPr bwMode="auto">
                <a:xfrm>
                  <a:off x="1571" y="1725"/>
                  <a:ext cx="263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inst</a:t>
                  </a:r>
                </a:p>
              </p:txBody>
            </p:sp>
            <p:sp>
              <p:nvSpPr>
                <p:cNvPr id="60479" name="Rectangle 40"/>
                <p:cNvSpPr>
                  <a:spLocks noChangeArrowheads="1"/>
                </p:cNvSpPr>
                <p:nvPr/>
              </p:nvSpPr>
              <p:spPr bwMode="auto">
                <a:xfrm>
                  <a:off x="1305" y="1898"/>
                  <a:ext cx="518" cy="32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Inst.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Memory</a:t>
                  </a:r>
                </a:p>
              </p:txBody>
            </p:sp>
          </p:grpSp>
          <p:sp>
            <p:nvSpPr>
              <p:cNvPr id="60472" name="Rectangle 41"/>
              <p:cNvSpPr>
                <a:spLocks noChangeArrowheads="1"/>
              </p:cNvSpPr>
              <p:nvPr/>
            </p:nvSpPr>
            <p:spPr bwMode="auto">
              <a:xfrm>
                <a:off x="991" y="1554"/>
                <a:ext cx="128" cy="368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73" name="Line 42"/>
              <p:cNvSpPr>
                <a:spLocks noChangeShapeType="1"/>
              </p:cNvSpPr>
              <p:nvPr/>
            </p:nvSpPr>
            <p:spPr bwMode="auto">
              <a:xfrm>
                <a:off x="1135" y="1738"/>
                <a:ext cx="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74" name="Rectangle 43"/>
              <p:cNvSpPr>
                <a:spLocks noChangeArrowheads="1"/>
              </p:cNvSpPr>
              <p:nvPr/>
            </p:nvSpPr>
            <p:spPr bwMode="auto">
              <a:xfrm>
                <a:off x="942" y="1664"/>
                <a:ext cx="247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PC</a:t>
                </a:r>
              </a:p>
            </p:txBody>
          </p:sp>
          <p:sp>
            <p:nvSpPr>
              <p:cNvPr id="60475" name="Freeform 44"/>
              <p:cNvSpPr>
                <a:spLocks/>
              </p:cNvSpPr>
              <p:nvPr/>
            </p:nvSpPr>
            <p:spPr bwMode="auto">
              <a:xfrm>
                <a:off x="1031" y="1874"/>
                <a:ext cx="49" cy="49"/>
              </a:xfrm>
              <a:custGeom>
                <a:avLst/>
                <a:gdLst>
                  <a:gd name="T0" fmla="*/ 0 w 49"/>
                  <a:gd name="T1" fmla="*/ 48 h 49"/>
                  <a:gd name="T2" fmla="*/ 24 w 49"/>
                  <a:gd name="T3" fmla="*/ 0 h 49"/>
                  <a:gd name="T4" fmla="*/ 48 w 49"/>
                  <a:gd name="T5" fmla="*/ 48 h 49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49"/>
                  <a:gd name="T11" fmla="*/ 49 w 49"/>
                  <a:gd name="T12" fmla="*/ 49 h 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45"/>
            <p:cNvGrpSpPr>
              <a:grpSpLocks/>
            </p:cNvGrpSpPr>
            <p:nvPr/>
          </p:nvGrpSpPr>
          <p:grpSpPr bwMode="auto">
            <a:xfrm>
              <a:off x="4063" y="1630"/>
              <a:ext cx="301" cy="385"/>
              <a:chOff x="4063" y="1630"/>
              <a:chExt cx="301" cy="385"/>
            </a:xfrm>
          </p:grpSpPr>
          <p:sp>
            <p:nvSpPr>
              <p:cNvPr id="60468" name="Freeform 48"/>
              <p:cNvSpPr>
                <a:spLocks/>
              </p:cNvSpPr>
              <p:nvPr/>
            </p:nvSpPr>
            <p:spPr bwMode="auto">
              <a:xfrm>
                <a:off x="4085" y="1630"/>
                <a:ext cx="241" cy="385"/>
              </a:xfrm>
              <a:custGeom>
                <a:avLst/>
                <a:gdLst>
                  <a:gd name="T0" fmla="*/ 0 w 241"/>
                  <a:gd name="T1" fmla="*/ 0 h 385"/>
                  <a:gd name="T2" fmla="*/ 0 w 241"/>
                  <a:gd name="T3" fmla="*/ 160 h 385"/>
                  <a:gd name="T4" fmla="*/ 48 w 241"/>
                  <a:gd name="T5" fmla="*/ 192 h 385"/>
                  <a:gd name="T6" fmla="*/ 0 w 241"/>
                  <a:gd name="T7" fmla="*/ 224 h 385"/>
                  <a:gd name="T8" fmla="*/ 0 w 241"/>
                  <a:gd name="T9" fmla="*/ 384 h 385"/>
                  <a:gd name="T10" fmla="*/ 240 w 241"/>
                  <a:gd name="T11" fmla="*/ 288 h 385"/>
                  <a:gd name="T12" fmla="*/ 240 w 241"/>
                  <a:gd name="T13" fmla="*/ 96 h 385"/>
                  <a:gd name="T14" fmla="*/ 0 w 241"/>
                  <a:gd name="T15" fmla="*/ 0 h 3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1"/>
                  <a:gd name="T25" fmla="*/ 0 h 385"/>
                  <a:gd name="T26" fmla="*/ 241 w 241"/>
                  <a:gd name="T27" fmla="*/ 385 h 38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1" h="385">
                    <a:moveTo>
                      <a:pt x="0" y="0"/>
                    </a:moveTo>
                    <a:lnTo>
                      <a:pt x="0" y="160"/>
                    </a:lnTo>
                    <a:lnTo>
                      <a:pt x="48" y="192"/>
                    </a:lnTo>
                    <a:lnTo>
                      <a:pt x="0" y="224"/>
                    </a:lnTo>
                    <a:lnTo>
                      <a:pt x="0" y="384"/>
                    </a:lnTo>
                    <a:lnTo>
                      <a:pt x="240" y="288"/>
                    </a:lnTo>
                    <a:lnTo>
                      <a:pt x="240" y="96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69" name="Rectangle 49"/>
              <p:cNvSpPr>
                <a:spLocks noChangeArrowheads="1"/>
              </p:cNvSpPr>
              <p:nvPr/>
            </p:nvSpPr>
            <p:spPr bwMode="auto">
              <a:xfrm>
                <a:off x="4063" y="1749"/>
                <a:ext cx="301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ALU</a:t>
                </a:r>
              </a:p>
            </p:txBody>
          </p:sp>
        </p:grpSp>
        <p:sp>
          <p:nvSpPr>
            <p:cNvPr id="60437" name="Rectangle 50"/>
            <p:cNvSpPr>
              <a:spLocks noChangeArrowheads="1"/>
            </p:cNvSpPr>
            <p:nvPr/>
          </p:nvSpPr>
          <p:spPr bwMode="auto">
            <a:xfrm>
              <a:off x="2759" y="956"/>
              <a:ext cx="636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RegWriteEn</a:t>
              </a:r>
              <a:endParaRPr lang="en-US" sz="1200" dirty="0">
                <a:solidFill>
                  <a:srgbClr val="56127A"/>
                </a:solidFill>
              </a:endParaRPr>
            </a:p>
          </p:txBody>
        </p: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2744" y="1160"/>
              <a:ext cx="472" cy="965"/>
              <a:chOff x="2744" y="1160"/>
              <a:chExt cx="472" cy="965"/>
            </a:xfrm>
          </p:grpSpPr>
          <p:sp>
            <p:nvSpPr>
              <p:cNvPr id="60452" name="Rectangle 52"/>
              <p:cNvSpPr>
                <a:spLocks noChangeArrowheads="1"/>
              </p:cNvSpPr>
              <p:nvPr/>
            </p:nvSpPr>
            <p:spPr bwMode="auto">
              <a:xfrm>
                <a:off x="2744" y="1160"/>
                <a:ext cx="212" cy="1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60453" name="Line 53"/>
              <p:cNvSpPr>
                <a:spLocks noChangeShapeType="1"/>
              </p:cNvSpPr>
              <p:nvPr/>
            </p:nvSpPr>
            <p:spPr bwMode="auto">
              <a:xfrm>
                <a:off x="2839" y="1323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54" name="Freeform 54"/>
              <p:cNvSpPr>
                <a:spLocks/>
              </p:cNvSpPr>
              <p:nvPr/>
            </p:nvSpPr>
            <p:spPr bwMode="auto">
              <a:xfrm>
                <a:off x="3009" y="1180"/>
                <a:ext cx="1" cy="233"/>
              </a:xfrm>
              <a:custGeom>
                <a:avLst/>
                <a:gdLst>
                  <a:gd name="T0" fmla="*/ 0 w 1"/>
                  <a:gd name="T1" fmla="*/ 0 h 233"/>
                  <a:gd name="T2" fmla="*/ 0 w 1"/>
                  <a:gd name="T3" fmla="*/ 232 h 233"/>
                  <a:gd name="T4" fmla="*/ 0 60000 65536"/>
                  <a:gd name="T5" fmla="*/ 0 60000 65536"/>
                  <a:gd name="T6" fmla="*/ 0 w 1"/>
                  <a:gd name="T7" fmla="*/ 0 h 233"/>
                  <a:gd name="T8" fmla="*/ 1 w 1"/>
                  <a:gd name="T9" fmla="*/ 233 h 2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33">
                    <a:moveTo>
                      <a:pt x="0" y="0"/>
                    </a:moveTo>
                    <a:lnTo>
                      <a:pt x="0" y="232"/>
                    </a:lnTo>
                  </a:path>
                </a:pathLst>
              </a:custGeom>
              <a:noFill/>
              <a:ln w="12700" cap="rnd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55" name="Rectangle 55"/>
              <p:cNvSpPr>
                <a:spLocks noChangeArrowheads="1"/>
              </p:cNvSpPr>
              <p:nvPr/>
            </p:nvSpPr>
            <p:spPr bwMode="auto">
              <a:xfrm>
                <a:off x="2799" y="1411"/>
                <a:ext cx="368" cy="68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56" name="Rectangle 56"/>
              <p:cNvSpPr>
                <a:spLocks noChangeArrowheads="1"/>
              </p:cNvSpPr>
              <p:nvPr/>
            </p:nvSpPr>
            <p:spPr bwMode="auto">
              <a:xfrm>
                <a:off x="2958" y="1661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rd1</a:t>
                </a:r>
              </a:p>
            </p:txBody>
          </p:sp>
          <p:sp>
            <p:nvSpPr>
              <p:cNvPr id="60457" name="Rectangle 57"/>
              <p:cNvSpPr>
                <a:spLocks noChangeArrowheads="1"/>
              </p:cNvSpPr>
              <p:nvPr/>
            </p:nvSpPr>
            <p:spPr bwMode="auto">
              <a:xfrm>
                <a:off x="2783" y="1935"/>
                <a:ext cx="413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GPRs</a:t>
                </a:r>
              </a:p>
            </p:txBody>
          </p:sp>
          <p:sp>
            <p:nvSpPr>
              <p:cNvPr id="60458" name="Rectangle 58"/>
              <p:cNvSpPr>
                <a:spLocks noChangeArrowheads="1"/>
              </p:cNvSpPr>
              <p:nvPr/>
            </p:nvSpPr>
            <p:spPr bwMode="auto">
              <a:xfrm>
                <a:off x="2766" y="1465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rs1</a:t>
                </a:r>
              </a:p>
            </p:txBody>
          </p:sp>
          <p:sp>
            <p:nvSpPr>
              <p:cNvPr id="60459" name="Rectangle 59"/>
              <p:cNvSpPr>
                <a:spLocks noChangeArrowheads="1"/>
              </p:cNvSpPr>
              <p:nvPr/>
            </p:nvSpPr>
            <p:spPr bwMode="auto">
              <a:xfrm>
                <a:off x="2766" y="1561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rs2</a:t>
                </a:r>
              </a:p>
            </p:txBody>
          </p:sp>
          <p:sp>
            <p:nvSpPr>
              <p:cNvPr id="60460" name="Rectangle 60"/>
              <p:cNvSpPr>
                <a:spLocks noChangeArrowheads="1"/>
              </p:cNvSpPr>
              <p:nvPr/>
            </p:nvSpPr>
            <p:spPr bwMode="auto">
              <a:xfrm>
                <a:off x="2766" y="1745"/>
                <a:ext cx="23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wa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60461" name="Rectangle 61"/>
              <p:cNvSpPr>
                <a:spLocks noChangeArrowheads="1"/>
              </p:cNvSpPr>
              <p:nvPr/>
            </p:nvSpPr>
            <p:spPr bwMode="auto">
              <a:xfrm>
                <a:off x="2766" y="1839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wd</a:t>
                </a:r>
              </a:p>
            </p:txBody>
          </p:sp>
          <p:sp>
            <p:nvSpPr>
              <p:cNvPr id="60462" name="Rectangle 62"/>
              <p:cNvSpPr>
                <a:spLocks noChangeArrowheads="1"/>
              </p:cNvSpPr>
              <p:nvPr/>
            </p:nvSpPr>
            <p:spPr bwMode="auto">
              <a:xfrm>
                <a:off x="2963" y="1840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rd2</a:t>
                </a:r>
              </a:p>
            </p:txBody>
          </p:sp>
          <p:sp>
            <p:nvSpPr>
              <p:cNvPr id="60463" name="Rectangle 63"/>
              <p:cNvSpPr>
                <a:spLocks noChangeArrowheads="1"/>
              </p:cNvSpPr>
              <p:nvPr/>
            </p:nvSpPr>
            <p:spPr bwMode="auto">
              <a:xfrm>
                <a:off x="2894" y="1361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we</a:t>
                </a:r>
              </a:p>
            </p:txBody>
          </p:sp>
          <p:sp>
            <p:nvSpPr>
              <p:cNvPr id="60464" name="Line 64"/>
              <p:cNvSpPr>
                <a:spLocks noChangeShapeType="1"/>
              </p:cNvSpPr>
              <p:nvPr/>
            </p:nvSpPr>
            <p:spPr bwMode="auto">
              <a:xfrm>
                <a:off x="2815" y="1407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465" name="Line 65"/>
              <p:cNvSpPr>
                <a:spLocks noChangeShapeType="1"/>
              </p:cNvSpPr>
              <p:nvPr/>
            </p:nvSpPr>
            <p:spPr bwMode="auto">
              <a:xfrm flipH="1">
                <a:off x="2842" y="1410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0439" name="Freeform 66"/>
            <p:cNvSpPr>
              <a:spLocks/>
            </p:cNvSpPr>
            <p:nvPr/>
          </p:nvSpPr>
          <p:spPr bwMode="auto">
            <a:xfrm>
              <a:off x="1168" y="1410"/>
              <a:ext cx="168" cy="333"/>
            </a:xfrm>
            <a:custGeom>
              <a:avLst/>
              <a:gdLst>
                <a:gd name="T0" fmla="*/ 1 w 168"/>
                <a:gd name="T1" fmla="*/ 333 h 333"/>
                <a:gd name="T2" fmla="*/ 0 w 168"/>
                <a:gd name="T3" fmla="*/ 5 h 333"/>
                <a:gd name="T4" fmla="*/ 5 w 168"/>
                <a:gd name="T5" fmla="*/ 0 h 333"/>
                <a:gd name="T6" fmla="*/ 168 w 168"/>
                <a:gd name="T7" fmla="*/ 4 h 3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333"/>
                <a:gd name="T14" fmla="*/ 168 w 168"/>
                <a:gd name="T15" fmla="*/ 333 h 3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333">
                  <a:moveTo>
                    <a:pt x="1" y="333"/>
                  </a:moveTo>
                  <a:lnTo>
                    <a:pt x="0" y="5"/>
                  </a:lnTo>
                  <a:lnTo>
                    <a:pt x="5" y="0"/>
                  </a:lnTo>
                  <a:lnTo>
                    <a:pt x="168" y="4"/>
                  </a:ln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0" name="Freeform 67"/>
            <p:cNvSpPr>
              <a:spLocks/>
            </p:cNvSpPr>
            <p:nvPr/>
          </p:nvSpPr>
          <p:spPr bwMode="auto">
            <a:xfrm>
              <a:off x="1979" y="1891"/>
              <a:ext cx="817" cy="1"/>
            </a:xfrm>
            <a:custGeom>
              <a:avLst/>
              <a:gdLst>
                <a:gd name="T0" fmla="*/ 0 w 817"/>
                <a:gd name="T1" fmla="*/ 0 h 1"/>
                <a:gd name="T2" fmla="*/ 816 w 817"/>
                <a:gd name="T3" fmla="*/ 0 h 1"/>
                <a:gd name="T4" fmla="*/ 0 60000 65536"/>
                <a:gd name="T5" fmla="*/ 0 60000 65536"/>
                <a:gd name="T6" fmla="*/ 0 w 817"/>
                <a:gd name="T7" fmla="*/ 0 h 1"/>
                <a:gd name="T8" fmla="*/ 817 w 8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1" name="Rectangle 68"/>
            <p:cNvSpPr>
              <a:spLocks noChangeArrowheads="1"/>
            </p:cNvSpPr>
            <p:nvPr/>
          </p:nvSpPr>
          <p:spPr bwMode="auto">
            <a:xfrm>
              <a:off x="1947" y="1396"/>
              <a:ext cx="6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inst</a:t>
              </a:r>
              <a:r>
                <a:rPr lang="en-US" sz="1200" dirty="0">
                  <a:solidFill>
                    <a:srgbClr val="56127A"/>
                  </a:solidFill>
                </a:rPr>
                <a:t>&lt;26:22&gt;</a:t>
              </a:r>
            </a:p>
          </p:txBody>
        </p:sp>
        <p:sp>
          <p:nvSpPr>
            <p:cNvPr id="60442" name="Rectangle 69"/>
            <p:cNvSpPr>
              <a:spLocks noChangeArrowheads="1"/>
            </p:cNvSpPr>
            <p:nvPr/>
          </p:nvSpPr>
          <p:spPr bwMode="auto">
            <a:xfrm>
              <a:off x="1953" y="1747"/>
              <a:ext cx="62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inst&lt;31:27&gt;</a:t>
              </a:r>
            </a:p>
          </p:txBody>
        </p:sp>
        <p:sp>
          <p:nvSpPr>
            <p:cNvPr id="60443" name="Rectangle 70"/>
            <p:cNvSpPr>
              <a:spLocks noChangeArrowheads="1"/>
            </p:cNvSpPr>
            <p:nvPr/>
          </p:nvSpPr>
          <p:spPr bwMode="auto">
            <a:xfrm>
              <a:off x="1972" y="2364"/>
              <a:ext cx="51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inst&lt;9:0&gt;</a:t>
              </a:r>
            </a:p>
          </p:txBody>
        </p:sp>
        <p:sp>
          <p:nvSpPr>
            <p:cNvPr id="60444" name="Line 71"/>
            <p:cNvSpPr>
              <a:spLocks noChangeShapeType="1"/>
            </p:cNvSpPr>
            <p:nvPr/>
          </p:nvSpPr>
          <p:spPr bwMode="auto">
            <a:xfrm>
              <a:off x="2835" y="1955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5" name="Freeform 72"/>
            <p:cNvSpPr>
              <a:spLocks/>
            </p:cNvSpPr>
            <p:nvPr/>
          </p:nvSpPr>
          <p:spPr bwMode="auto">
            <a:xfrm>
              <a:off x="1981" y="1556"/>
              <a:ext cx="817" cy="1"/>
            </a:xfrm>
            <a:custGeom>
              <a:avLst/>
              <a:gdLst>
                <a:gd name="T0" fmla="*/ 0 w 817"/>
                <a:gd name="T1" fmla="*/ 0 h 1"/>
                <a:gd name="T2" fmla="*/ 816 w 817"/>
                <a:gd name="T3" fmla="*/ 0 h 1"/>
                <a:gd name="T4" fmla="*/ 0 60000 65536"/>
                <a:gd name="T5" fmla="*/ 0 60000 65536"/>
                <a:gd name="T6" fmla="*/ 0 w 817"/>
                <a:gd name="T7" fmla="*/ 0 h 1"/>
                <a:gd name="T8" fmla="*/ 817 w 8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6" name="Rectangle 73"/>
            <p:cNvSpPr>
              <a:spLocks noChangeArrowheads="1"/>
            </p:cNvSpPr>
            <p:nvPr/>
          </p:nvSpPr>
          <p:spPr bwMode="auto">
            <a:xfrm>
              <a:off x="3323" y="2438"/>
              <a:ext cx="368" cy="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7" name="Rectangle 74"/>
            <p:cNvSpPr>
              <a:spLocks noChangeArrowheads="1"/>
            </p:cNvSpPr>
            <p:nvPr/>
          </p:nvSpPr>
          <p:spPr bwMode="auto">
            <a:xfrm>
              <a:off x="3297" y="2429"/>
              <a:ext cx="423" cy="2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ALU</a:t>
              </a:r>
            </a:p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Control</a:t>
              </a:r>
            </a:p>
          </p:txBody>
        </p:sp>
        <p:sp>
          <p:nvSpPr>
            <p:cNvPr id="60448" name="Freeform 75"/>
            <p:cNvSpPr>
              <a:spLocks/>
            </p:cNvSpPr>
            <p:nvPr/>
          </p:nvSpPr>
          <p:spPr bwMode="auto">
            <a:xfrm>
              <a:off x="3190" y="1689"/>
              <a:ext cx="897" cy="1"/>
            </a:xfrm>
            <a:custGeom>
              <a:avLst/>
              <a:gdLst>
                <a:gd name="T0" fmla="*/ 0 w 897"/>
                <a:gd name="T1" fmla="*/ 0 h 1"/>
                <a:gd name="T2" fmla="*/ 896 w 897"/>
                <a:gd name="T3" fmla="*/ 0 h 1"/>
                <a:gd name="T4" fmla="*/ 0 60000 65536"/>
                <a:gd name="T5" fmla="*/ 0 60000 65536"/>
                <a:gd name="T6" fmla="*/ 0 w 897"/>
                <a:gd name="T7" fmla="*/ 0 h 1"/>
                <a:gd name="T8" fmla="*/ 897 w 89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7" h="1">
                  <a:moveTo>
                    <a:pt x="0" y="0"/>
                  </a:moveTo>
                  <a:lnTo>
                    <a:pt x="896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9" name="Freeform 76"/>
            <p:cNvSpPr>
              <a:spLocks/>
            </p:cNvSpPr>
            <p:nvPr/>
          </p:nvSpPr>
          <p:spPr bwMode="auto">
            <a:xfrm>
              <a:off x="3686" y="1962"/>
              <a:ext cx="544" cy="535"/>
            </a:xfrm>
            <a:custGeom>
              <a:avLst/>
              <a:gdLst>
                <a:gd name="T0" fmla="*/ 0 w 544"/>
                <a:gd name="T1" fmla="*/ 535 h 535"/>
                <a:gd name="T2" fmla="*/ 544 w 544"/>
                <a:gd name="T3" fmla="*/ 535 h 535"/>
                <a:gd name="T4" fmla="*/ 540 w 544"/>
                <a:gd name="T5" fmla="*/ 0 h 535"/>
                <a:gd name="T6" fmla="*/ 0 60000 65536"/>
                <a:gd name="T7" fmla="*/ 0 60000 65536"/>
                <a:gd name="T8" fmla="*/ 0 60000 65536"/>
                <a:gd name="T9" fmla="*/ 0 w 544"/>
                <a:gd name="T10" fmla="*/ 0 h 535"/>
                <a:gd name="T11" fmla="*/ 544 w 544"/>
                <a:gd name="T12" fmla="*/ 535 h 5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4" h="535">
                  <a:moveTo>
                    <a:pt x="0" y="535"/>
                  </a:moveTo>
                  <a:lnTo>
                    <a:pt x="544" y="535"/>
                  </a:lnTo>
                  <a:lnTo>
                    <a:pt x="54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50" name="Freeform 77"/>
            <p:cNvSpPr>
              <a:spLocks/>
            </p:cNvSpPr>
            <p:nvPr/>
          </p:nvSpPr>
          <p:spPr bwMode="auto">
            <a:xfrm>
              <a:off x="1981" y="2515"/>
              <a:ext cx="1349" cy="47"/>
            </a:xfrm>
            <a:custGeom>
              <a:avLst/>
              <a:gdLst>
                <a:gd name="T0" fmla="*/ 0 w 817"/>
                <a:gd name="T1" fmla="*/ 0 h 1"/>
                <a:gd name="T2" fmla="*/ 816 w 817"/>
                <a:gd name="T3" fmla="*/ 0 h 1"/>
                <a:gd name="T4" fmla="*/ 0 60000 65536"/>
                <a:gd name="T5" fmla="*/ 0 60000 65536"/>
                <a:gd name="T6" fmla="*/ 0 w 817"/>
                <a:gd name="T7" fmla="*/ 0 h 1"/>
                <a:gd name="T8" fmla="*/ 817 w 81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51" name="Freeform 78"/>
            <p:cNvSpPr>
              <a:spLocks/>
            </p:cNvSpPr>
            <p:nvPr/>
          </p:nvSpPr>
          <p:spPr bwMode="auto">
            <a:xfrm>
              <a:off x="665" y="890"/>
              <a:ext cx="1106" cy="845"/>
            </a:xfrm>
            <a:custGeom>
              <a:avLst/>
              <a:gdLst>
                <a:gd name="T0" fmla="*/ 921 w 1106"/>
                <a:gd name="T1" fmla="*/ 410 h 845"/>
                <a:gd name="T2" fmla="*/ 1104 w 1106"/>
                <a:gd name="T3" fmla="*/ 409 h 845"/>
                <a:gd name="T4" fmla="*/ 1106 w 1106"/>
                <a:gd name="T5" fmla="*/ 1 h 845"/>
                <a:gd name="T6" fmla="*/ 775 w 1106"/>
                <a:gd name="T7" fmla="*/ 0 h 845"/>
                <a:gd name="T8" fmla="*/ 2 w 1106"/>
                <a:gd name="T9" fmla="*/ 1 h 845"/>
                <a:gd name="T10" fmla="*/ 0 w 1106"/>
                <a:gd name="T11" fmla="*/ 845 h 845"/>
                <a:gd name="T12" fmla="*/ 335 w 1106"/>
                <a:gd name="T13" fmla="*/ 845 h 8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06"/>
                <a:gd name="T22" fmla="*/ 0 h 845"/>
                <a:gd name="T23" fmla="*/ 1106 w 1106"/>
                <a:gd name="T24" fmla="*/ 845 h 8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06" h="845">
                  <a:moveTo>
                    <a:pt x="921" y="410"/>
                  </a:moveTo>
                  <a:lnTo>
                    <a:pt x="1104" y="409"/>
                  </a:lnTo>
                  <a:lnTo>
                    <a:pt x="1106" y="1"/>
                  </a:lnTo>
                  <a:lnTo>
                    <a:pt x="775" y="0"/>
                  </a:lnTo>
                  <a:lnTo>
                    <a:pt x="2" y="1"/>
                  </a:lnTo>
                  <a:lnTo>
                    <a:pt x="0" y="845"/>
                  </a:lnTo>
                  <a:lnTo>
                    <a:pt x="335" y="845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1" name="Line 7"/>
          <p:cNvSpPr>
            <a:spLocks noChangeShapeType="1"/>
          </p:cNvSpPr>
          <p:nvPr/>
        </p:nvSpPr>
        <p:spPr bwMode="auto">
          <a:xfrm>
            <a:off x="4085882" y="5948625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Line 7"/>
          <p:cNvSpPr>
            <a:spLocks noChangeShapeType="1"/>
          </p:cNvSpPr>
          <p:nvPr/>
        </p:nvSpPr>
        <p:spPr bwMode="auto">
          <a:xfrm>
            <a:off x="4648957" y="5947683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1D3E16-CA93-7A47-A02C-3746297A6C4B}" type="slidenum">
              <a:rPr lang="en-US"/>
              <a:pPr/>
              <a:t>33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20610" name="Oval 2"/>
          <p:cNvSpPr>
            <a:spLocks noChangeArrowheads="1"/>
          </p:cNvSpPr>
          <p:nvPr/>
        </p:nvSpPr>
        <p:spPr bwMode="auto">
          <a:xfrm>
            <a:off x="5384800" y="2838450"/>
            <a:ext cx="1270000" cy="4953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0611" name="Oval 3"/>
          <p:cNvSpPr>
            <a:spLocks noChangeArrowheads="1"/>
          </p:cNvSpPr>
          <p:nvPr/>
        </p:nvSpPr>
        <p:spPr bwMode="auto">
          <a:xfrm>
            <a:off x="2946400" y="3714750"/>
            <a:ext cx="1270000" cy="4953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2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" y="431800"/>
            <a:ext cx="8902700" cy="749300"/>
          </a:xfrm>
          <a:noFill/>
        </p:spPr>
        <p:txBody>
          <a:bodyPr lIns="90488" tIns="44450" rIns="90488" bIns="44450"/>
          <a:lstStyle/>
          <a:p>
            <a:r>
              <a:rPr lang="en-US"/>
              <a:t>Conflicts in Merging Datapath</a:t>
            </a:r>
            <a:endParaRPr lang="en-US" sz="2000" i="1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157538" y="3136900"/>
            <a:ext cx="3321050" cy="2343150"/>
            <a:chOff x="1989" y="1976"/>
            <a:chExt cx="2092" cy="1476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989" y="1976"/>
              <a:ext cx="2092" cy="1322"/>
              <a:chOff x="1989" y="1976"/>
              <a:chExt cx="2092" cy="1322"/>
            </a:xfrm>
          </p:grpSpPr>
          <p:sp>
            <p:nvSpPr>
              <p:cNvPr id="62555" name="Rectangle 8"/>
              <p:cNvSpPr>
                <a:spLocks noChangeArrowheads="1"/>
              </p:cNvSpPr>
              <p:nvPr/>
            </p:nvSpPr>
            <p:spPr bwMode="auto">
              <a:xfrm>
                <a:off x="2819" y="2176"/>
                <a:ext cx="368" cy="2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4" name="Group 9"/>
              <p:cNvGrpSpPr>
                <a:grpSpLocks/>
              </p:cNvGrpSpPr>
              <p:nvPr/>
            </p:nvGrpSpPr>
            <p:grpSpPr bwMode="auto">
              <a:xfrm>
                <a:off x="1989" y="1976"/>
                <a:ext cx="2092" cy="1322"/>
                <a:chOff x="1989" y="1976"/>
                <a:chExt cx="2092" cy="1322"/>
              </a:xfrm>
            </p:grpSpPr>
            <p:sp>
              <p:nvSpPr>
                <p:cNvPr id="62557" name="Freeform 10"/>
                <p:cNvSpPr>
                  <a:spLocks/>
                </p:cNvSpPr>
                <p:nvPr/>
              </p:nvSpPr>
              <p:spPr bwMode="auto">
                <a:xfrm>
                  <a:off x="1989" y="2289"/>
                  <a:ext cx="832" cy="47"/>
                </a:xfrm>
                <a:custGeom>
                  <a:avLst/>
                  <a:gdLst>
                    <a:gd name="T0" fmla="*/ 0 w 817"/>
                    <a:gd name="T1" fmla="*/ 0 h 1"/>
                    <a:gd name="T2" fmla="*/ 816 w 817"/>
                    <a:gd name="T3" fmla="*/ 0 h 1"/>
                    <a:gd name="T4" fmla="*/ 0 60000 65536"/>
                    <a:gd name="T5" fmla="*/ 0 60000 65536"/>
                    <a:gd name="T6" fmla="*/ 0 w 817"/>
                    <a:gd name="T7" fmla="*/ 0 h 1"/>
                    <a:gd name="T8" fmla="*/ 817 w 817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817" h="1">
                      <a:moveTo>
                        <a:pt x="0" y="0"/>
                      </a:moveTo>
                      <a:lnTo>
                        <a:pt x="816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55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003" y="2378"/>
                  <a:ext cx="0" cy="920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559" name="Rectangle 12"/>
                <p:cNvSpPr>
                  <a:spLocks noChangeArrowheads="1"/>
                </p:cNvSpPr>
                <p:nvPr/>
              </p:nvSpPr>
              <p:spPr bwMode="auto">
                <a:xfrm>
                  <a:off x="2818" y="2162"/>
                  <a:ext cx="385" cy="23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lnSpc>
                      <a:spcPct val="75000"/>
                    </a:lnSpc>
                    <a:spcBef>
                      <a:spcPct val="0"/>
                    </a:spcBef>
                  </a:pPr>
                  <a:r>
                    <a:rPr lang="en-US" sz="1200" dirty="0" err="1">
                      <a:solidFill>
                        <a:srgbClr val="56127A"/>
                      </a:solidFill>
                    </a:rPr>
                    <a:t>Imm</a:t>
                  </a:r>
                  <a:endParaRPr lang="en-US" sz="1200" dirty="0">
                    <a:solidFill>
                      <a:srgbClr val="56127A"/>
                    </a:solidFill>
                  </a:endParaRPr>
                </a:p>
                <a:p>
                  <a:pPr algn="ctr">
                    <a:lnSpc>
                      <a:spcPct val="75000"/>
                    </a:lnSpc>
                    <a:spcBef>
                      <a:spcPct val="0"/>
                    </a:spcBef>
                  </a:pPr>
                  <a:r>
                    <a:rPr lang="en-US" sz="1200" dirty="0">
                      <a:solidFill>
                        <a:srgbClr val="56127A"/>
                      </a:solidFill>
                    </a:rPr>
                    <a:t>Select</a:t>
                  </a:r>
                </a:p>
              </p:txBody>
            </p:sp>
            <p:sp>
              <p:nvSpPr>
                <p:cNvPr id="62560" name="Freeform 13"/>
                <p:cNvSpPr>
                  <a:spLocks/>
                </p:cNvSpPr>
                <p:nvPr/>
              </p:nvSpPr>
              <p:spPr bwMode="auto">
                <a:xfrm>
                  <a:off x="3192" y="1976"/>
                  <a:ext cx="889" cy="299"/>
                </a:xfrm>
                <a:custGeom>
                  <a:avLst/>
                  <a:gdLst>
                    <a:gd name="T0" fmla="*/ 0 w 889"/>
                    <a:gd name="T1" fmla="*/ 298 h 299"/>
                    <a:gd name="T2" fmla="*/ 277 w 889"/>
                    <a:gd name="T3" fmla="*/ 298 h 299"/>
                    <a:gd name="T4" fmla="*/ 277 w 889"/>
                    <a:gd name="T5" fmla="*/ 0 h 299"/>
                    <a:gd name="T6" fmla="*/ 888 w 889"/>
                    <a:gd name="T7" fmla="*/ 0 h 29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89"/>
                    <a:gd name="T13" fmla="*/ 0 h 299"/>
                    <a:gd name="T14" fmla="*/ 889 w 889"/>
                    <a:gd name="T15" fmla="*/ 299 h 29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89" h="299">
                      <a:moveTo>
                        <a:pt x="0" y="298"/>
                      </a:moveTo>
                      <a:lnTo>
                        <a:pt x="277" y="298"/>
                      </a:lnTo>
                      <a:lnTo>
                        <a:pt x="277" y="0"/>
                      </a:lnTo>
                      <a:lnTo>
                        <a:pt x="888" y="0"/>
                      </a:lnTo>
                    </a:path>
                  </a:pathLst>
                </a:custGeom>
                <a:noFill/>
                <a:ln w="25400" cap="rnd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sp>
          <p:nvSpPr>
            <p:cNvPr id="62554" name="Rectangle 14"/>
            <p:cNvSpPr>
              <a:spLocks noChangeArrowheads="1"/>
            </p:cNvSpPr>
            <p:nvPr/>
          </p:nvSpPr>
          <p:spPr bwMode="auto">
            <a:xfrm>
              <a:off x="2842" y="3279"/>
              <a:ext cx="444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ImmSel</a:t>
              </a:r>
              <a:endParaRPr lang="en-US" sz="1200" dirty="0">
                <a:solidFill>
                  <a:srgbClr val="56127A"/>
                </a:solidFill>
              </a:endParaRPr>
            </a:p>
          </p:txBody>
        </p:sp>
      </p:grpSp>
      <p:sp>
        <p:nvSpPr>
          <p:cNvPr id="62474" name="Freeform 15"/>
          <p:cNvSpPr>
            <a:spLocks/>
          </p:cNvSpPr>
          <p:nvPr/>
        </p:nvSpPr>
        <p:spPr bwMode="auto">
          <a:xfrm>
            <a:off x="4064000" y="2851150"/>
            <a:ext cx="3459163" cy="2068513"/>
          </a:xfrm>
          <a:custGeom>
            <a:avLst/>
            <a:gdLst>
              <a:gd name="T0" fmla="*/ 1769 w 2179"/>
              <a:gd name="T1" fmla="*/ 0 h 1303"/>
              <a:gd name="T2" fmla="*/ 2178 w 2179"/>
              <a:gd name="T3" fmla="*/ 0 h 1303"/>
              <a:gd name="T4" fmla="*/ 2178 w 2179"/>
              <a:gd name="T5" fmla="*/ 1302 h 1303"/>
              <a:gd name="T6" fmla="*/ 0 w 2179"/>
              <a:gd name="T7" fmla="*/ 1302 h 1303"/>
              <a:gd name="T8" fmla="*/ 0 w 2179"/>
              <a:gd name="T9" fmla="*/ 133 h 1303"/>
              <a:gd name="T10" fmla="*/ 242 w 2179"/>
              <a:gd name="T11" fmla="*/ 133 h 13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79"/>
              <a:gd name="T19" fmla="*/ 0 h 1303"/>
              <a:gd name="T20" fmla="*/ 2179 w 2179"/>
              <a:gd name="T21" fmla="*/ 1303 h 13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79" h="1303">
                <a:moveTo>
                  <a:pt x="1769" y="0"/>
                </a:moveTo>
                <a:lnTo>
                  <a:pt x="2178" y="0"/>
                </a:lnTo>
                <a:lnTo>
                  <a:pt x="2178" y="1302"/>
                </a:lnTo>
                <a:lnTo>
                  <a:pt x="0" y="1302"/>
                </a:lnTo>
                <a:lnTo>
                  <a:pt x="0" y="133"/>
                </a:lnTo>
                <a:lnTo>
                  <a:pt x="242" y="1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5" name="Line 16"/>
          <p:cNvSpPr>
            <a:spLocks noChangeShapeType="1"/>
          </p:cNvSpPr>
          <p:nvPr/>
        </p:nvSpPr>
        <p:spPr bwMode="auto">
          <a:xfrm>
            <a:off x="2882900" y="29083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6" name="Line 17"/>
          <p:cNvSpPr>
            <a:spLocks noChangeShapeType="1"/>
          </p:cNvSpPr>
          <p:nvPr/>
        </p:nvSpPr>
        <p:spPr bwMode="auto">
          <a:xfrm>
            <a:off x="3149600" y="2457450"/>
            <a:ext cx="0" cy="280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77" name="Rectangle 18"/>
          <p:cNvSpPr>
            <a:spLocks noChangeArrowheads="1"/>
          </p:cNvSpPr>
          <p:nvPr/>
        </p:nvSpPr>
        <p:spPr bwMode="auto">
          <a:xfrm>
            <a:off x="2843213" y="5246688"/>
            <a:ext cx="74930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OpCode</a:t>
            </a:r>
          </a:p>
        </p:txBody>
      </p:sp>
      <p:sp>
        <p:nvSpPr>
          <p:cNvPr id="62478" name="Rectangle 19"/>
          <p:cNvSpPr>
            <a:spLocks noChangeArrowheads="1"/>
          </p:cNvSpPr>
          <p:nvPr/>
        </p:nvSpPr>
        <p:spPr bwMode="auto">
          <a:xfrm>
            <a:off x="1700213" y="1698625"/>
            <a:ext cx="427037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0x4</a:t>
            </a:r>
          </a:p>
        </p:txBody>
      </p:sp>
      <p:sp>
        <p:nvSpPr>
          <p:cNvPr id="62479" name="Freeform 20"/>
          <p:cNvSpPr>
            <a:spLocks/>
          </p:cNvSpPr>
          <p:nvPr/>
        </p:nvSpPr>
        <p:spPr bwMode="auto">
          <a:xfrm>
            <a:off x="2120900" y="1739900"/>
            <a:ext cx="382588" cy="611188"/>
          </a:xfrm>
          <a:custGeom>
            <a:avLst/>
            <a:gdLst>
              <a:gd name="T0" fmla="*/ 0 w 241"/>
              <a:gd name="T1" fmla="*/ 0 h 385"/>
              <a:gd name="T2" fmla="*/ 0 w 241"/>
              <a:gd name="T3" fmla="*/ 160 h 385"/>
              <a:gd name="T4" fmla="*/ 48 w 241"/>
              <a:gd name="T5" fmla="*/ 192 h 385"/>
              <a:gd name="T6" fmla="*/ 0 w 241"/>
              <a:gd name="T7" fmla="*/ 224 h 385"/>
              <a:gd name="T8" fmla="*/ 0 w 241"/>
              <a:gd name="T9" fmla="*/ 384 h 385"/>
              <a:gd name="T10" fmla="*/ 240 w 241"/>
              <a:gd name="T11" fmla="*/ 288 h 385"/>
              <a:gd name="T12" fmla="*/ 240 w 241"/>
              <a:gd name="T13" fmla="*/ 96 h 385"/>
              <a:gd name="T14" fmla="*/ 0 w 241"/>
              <a:gd name="T15" fmla="*/ 0 h 38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1"/>
              <a:gd name="T25" fmla="*/ 0 h 385"/>
              <a:gd name="T26" fmla="*/ 241 w 241"/>
              <a:gd name="T27" fmla="*/ 385 h 38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0" name="Line 21"/>
          <p:cNvSpPr>
            <a:spLocks noChangeShapeType="1"/>
          </p:cNvSpPr>
          <p:nvPr/>
        </p:nvSpPr>
        <p:spPr bwMode="auto">
          <a:xfrm>
            <a:off x="2051050" y="18161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1" name="Rectangle 22"/>
          <p:cNvSpPr>
            <a:spLocks noChangeArrowheads="1"/>
          </p:cNvSpPr>
          <p:nvPr/>
        </p:nvSpPr>
        <p:spPr bwMode="auto">
          <a:xfrm>
            <a:off x="2144713" y="1949450"/>
            <a:ext cx="40640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Add</a:t>
            </a:r>
          </a:p>
        </p:txBody>
      </p:sp>
      <p:sp>
        <p:nvSpPr>
          <p:cNvPr id="62482" name="Rectangle 23"/>
          <p:cNvSpPr>
            <a:spLocks noChangeArrowheads="1"/>
          </p:cNvSpPr>
          <p:nvPr/>
        </p:nvSpPr>
        <p:spPr bwMode="auto">
          <a:xfrm>
            <a:off x="1484313" y="3121025"/>
            <a:ext cx="3365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clk</a:t>
            </a:r>
          </a:p>
        </p:txBody>
      </p:sp>
      <p:sp>
        <p:nvSpPr>
          <p:cNvPr id="62483" name="Line 24"/>
          <p:cNvSpPr>
            <a:spLocks noChangeShapeType="1"/>
          </p:cNvSpPr>
          <p:nvPr/>
        </p:nvSpPr>
        <p:spPr bwMode="auto">
          <a:xfrm>
            <a:off x="1684338" y="3048000"/>
            <a:ext cx="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495425" y="2466975"/>
            <a:ext cx="1416050" cy="1060450"/>
            <a:chOff x="942" y="1554"/>
            <a:chExt cx="892" cy="668"/>
          </a:xfrm>
        </p:grpSpPr>
        <p:sp>
          <p:nvSpPr>
            <p:cNvPr id="62543" name="Freeform 26"/>
            <p:cNvSpPr>
              <a:spLocks/>
            </p:cNvSpPr>
            <p:nvPr/>
          </p:nvSpPr>
          <p:spPr bwMode="auto">
            <a:xfrm>
              <a:off x="1127" y="1738"/>
              <a:ext cx="193" cy="1"/>
            </a:xfrm>
            <a:custGeom>
              <a:avLst/>
              <a:gdLst>
                <a:gd name="T0" fmla="*/ 0 w 193"/>
                <a:gd name="T1" fmla="*/ 0 h 1"/>
                <a:gd name="T2" fmla="*/ 144 w 193"/>
                <a:gd name="T3" fmla="*/ 0 h 1"/>
                <a:gd name="T4" fmla="*/ 192 w 193"/>
                <a:gd name="T5" fmla="*/ 0 h 1"/>
                <a:gd name="T6" fmla="*/ 0 60000 65536"/>
                <a:gd name="T7" fmla="*/ 0 60000 65536"/>
                <a:gd name="T8" fmla="*/ 0 60000 65536"/>
                <a:gd name="T9" fmla="*/ 0 w 193"/>
                <a:gd name="T10" fmla="*/ 0 h 1"/>
                <a:gd name="T11" fmla="*/ 193 w 1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1">
                  <a:moveTo>
                    <a:pt x="0" y="0"/>
                  </a:moveTo>
                  <a:lnTo>
                    <a:pt x="144" y="0"/>
                  </a:lnTo>
                  <a:lnTo>
                    <a:pt x="19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1298" y="1621"/>
              <a:ext cx="536" cy="601"/>
              <a:chOff x="1298" y="1621"/>
              <a:chExt cx="536" cy="601"/>
            </a:xfrm>
          </p:grpSpPr>
          <p:sp>
            <p:nvSpPr>
              <p:cNvPr id="62549" name="Rectangle 28"/>
              <p:cNvSpPr>
                <a:spLocks noChangeArrowheads="1"/>
              </p:cNvSpPr>
              <p:nvPr/>
            </p:nvSpPr>
            <p:spPr bwMode="auto">
              <a:xfrm>
                <a:off x="1331" y="1623"/>
                <a:ext cx="472" cy="58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550" name="Rectangle 29"/>
              <p:cNvSpPr>
                <a:spLocks noChangeArrowheads="1"/>
              </p:cNvSpPr>
              <p:nvPr/>
            </p:nvSpPr>
            <p:spPr bwMode="auto">
              <a:xfrm>
                <a:off x="1298" y="1621"/>
                <a:ext cx="30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addr</a:t>
                </a:r>
              </a:p>
            </p:txBody>
          </p:sp>
          <p:sp>
            <p:nvSpPr>
              <p:cNvPr id="62551" name="Rectangle 30"/>
              <p:cNvSpPr>
                <a:spLocks noChangeArrowheads="1"/>
              </p:cNvSpPr>
              <p:nvPr/>
            </p:nvSpPr>
            <p:spPr bwMode="auto">
              <a:xfrm>
                <a:off x="1571" y="1725"/>
                <a:ext cx="26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inst</a:t>
                </a:r>
              </a:p>
            </p:txBody>
          </p:sp>
          <p:sp>
            <p:nvSpPr>
              <p:cNvPr id="62552" name="Rectangle 31"/>
              <p:cNvSpPr>
                <a:spLocks noChangeArrowheads="1"/>
              </p:cNvSpPr>
              <p:nvPr/>
            </p:nvSpPr>
            <p:spPr bwMode="auto">
              <a:xfrm>
                <a:off x="1305" y="1898"/>
                <a:ext cx="518" cy="32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Inst.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Memory</a:t>
                </a:r>
              </a:p>
            </p:txBody>
          </p:sp>
        </p:grpSp>
        <p:sp>
          <p:nvSpPr>
            <p:cNvPr id="62545" name="Rectangle 32"/>
            <p:cNvSpPr>
              <a:spLocks noChangeArrowheads="1"/>
            </p:cNvSpPr>
            <p:nvPr/>
          </p:nvSpPr>
          <p:spPr bwMode="auto">
            <a:xfrm>
              <a:off x="991" y="1554"/>
              <a:ext cx="12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6" name="Line 33"/>
            <p:cNvSpPr>
              <a:spLocks noChangeShapeType="1"/>
            </p:cNvSpPr>
            <p:nvPr/>
          </p:nvSpPr>
          <p:spPr bwMode="auto">
            <a:xfrm>
              <a:off x="1135" y="1738"/>
              <a:ext cx="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7" name="Rectangle 34"/>
            <p:cNvSpPr>
              <a:spLocks noChangeArrowheads="1"/>
            </p:cNvSpPr>
            <p:nvPr/>
          </p:nvSpPr>
          <p:spPr bwMode="auto">
            <a:xfrm>
              <a:off x="942" y="1664"/>
              <a:ext cx="247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PC</a:t>
              </a:r>
            </a:p>
          </p:txBody>
        </p:sp>
        <p:sp>
          <p:nvSpPr>
            <p:cNvPr id="62548" name="Freeform 35"/>
            <p:cNvSpPr>
              <a:spLocks/>
            </p:cNvSpPr>
            <p:nvPr/>
          </p:nvSpPr>
          <p:spPr bwMode="auto">
            <a:xfrm>
              <a:off x="1031" y="1874"/>
              <a:ext cx="49" cy="49"/>
            </a:xfrm>
            <a:custGeom>
              <a:avLst/>
              <a:gdLst>
                <a:gd name="T0" fmla="*/ 0 w 49"/>
                <a:gd name="T1" fmla="*/ 48 h 49"/>
                <a:gd name="T2" fmla="*/ 24 w 49"/>
                <a:gd name="T3" fmla="*/ 0 h 49"/>
                <a:gd name="T4" fmla="*/ 48 w 49"/>
                <a:gd name="T5" fmla="*/ 48 h 49"/>
                <a:gd name="T6" fmla="*/ 0 60000 65536"/>
                <a:gd name="T7" fmla="*/ 0 60000 65536"/>
                <a:gd name="T8" fmla="*/ 0 60000 65536"/>
                <a:gd name="T9" fmla="*/ 0 w 49"/>
                <a:gd name="T10" fmla="*/ 0 h 49"/>
                <a:gd name="T11" fmla="*/ 49 w 4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6450018" y="2587625"/>
            <a:ext cx="658813" cy="617538"/>
            <a:chOff x="4063" y="1630"/>
            <a:chExt cx="415" cy="389"/>
          </a:xfrm>
        </p:grpSpPr>
        <p:sp>
          <p:nvSpPr>
            <p:cNvPr id="62539" name="Rectangle 37"/>
            <p:cNvSpPr>
              <a:spLocks noChangeArrowheads="1"/>
            </p:cNvSpPr>
            <p:nvPr/>
          </p:nvSpPr>
          <p:spPr bwMode="auto">
            <a:xfrm>
              <a:off x="4363" y="1846"/>
              <a:ext cx="11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endParaRPr lang="en-US" sz="1200" dirty="0">
                <a:solidFill>
                  <a:srgbClr val="56127A"/>
                </a:solidFill>
              </a:endParaRPr>
            </a:p>
          </p:txBody>
        </p:sp>
        <p:sp>
          <p:nvSpPr>
            <p:cNvPr id="62541" name="Freeform 39"/>
            <p:cNvSpPr>
              <a:spLocks/>
            </p:cNvSpPr>
            <p:nvPr/>
          </p:nvSpPr>
          <p:spPr bwMode="auto">
            <a:xfrm>
              <a:off x="4085" y="1630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2" name="Rectangle 40"/>
            <p:cNvSpPr>
              <a:spLocks noChangeArrowheads="1"/>
            </p:cNvSpPr>
            <p:nvPr/>
          </p:nvSpPr>
          <p:spPr bwMode="auto">
            <a:xfrm>
              <a:off x="4063" y="1749"/>
              <a:ext cx="301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ALU</a:t>
              </a:r>
            </a:p>
          </p:txBody>
        </p:sp>
      </p:grpSp>
      <p:sp>
        <p:nvSpPr>
          <p:cNvPr id="62486" name="Rectangle 41"/>
          <p:cNvSpPr>
            <a:spLocks noChangeArrowheads="1"/>
          </p:cNvSpPr>
          <p:nvPr/>
        </p:nvSpPr>
        <p:spPr bwMode="auto">
          <a:xfrm>
            <a:off x="4379913" y="1517650"/>
            <a:ext cx="81597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RegWrite</a:t>
            </a:r>
          </a:p>
        </p:txBody>
      </p: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4356100" y="1841500"/>
            <a:ext cx="749300" cy="1531938"/>
            <a:chOff x="2744" y="1160"/>
            <a:chExt cx="472" cy="965"/>
          </a:xfrm>
        </p:grpSpPr>
        <p:sp>
          <p:nvSpPr>
            <p:cNvPr id="62525" name="Rectangle 43"/>
            <p:cNvSpPr>
              <a:spLocks noChangeArrowheads="1"/>
            </p:cNvSpPr>
            <p:nvPr/>
          </p:nvSpPr>
          <p:spPr bwMode="auto">
            <a:xfrm>
              <a:off x="2744" y="1160"/>
              <a:ext cx="212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62526" name="Line 44"/>
            <p:cNvSpPr>
              <a:spLocks noChangeShapeType="1"/>
            </p:cNvSpPr>
            <p:nvPr/>
          </p:nvSpPr>
          <p:spPr bwMode="auto">
            <a:xfrm>
              <a:off x="2839" y="1323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7" name="Freeform 45"/>
            <p:cNvSpPr>
              <a:spLocks/>
            </p:cNvSpPr>
            <p:nvPr/>
          </p:nvSpPr>
          <p:spPr bwMode="auto">
            <a:xfrm>
              <a:off x="3009" y="1180"/>
              <a:ext cx="1" cy="233"/>
            </a:xfrm>
            <a:custGeom>
              <a:avLst/>
              <a:gdLst>
                <a:gd name="T0" fmla="*/ 0 w 1"/>
                <a:gd name="T1" fmla="*/ 0 h 233"/>
                <a:gd name="T2" fmla="*/ 0 w 1"/>
                <a:gd name="T3" fmla="*/ 232 h 233"/>
                <a:gd name="T4" fmla="*/ 0 60000 65536"/>
                <a:gd name="T5" fmla="*/ 0 60000 65536"/>
                <a:gd name="T6" fmla="*/ 0 w 1"/>
                <a:gd name="T7" fmla="*/ 0 h 233"/>
                <a:gd name="T8" fmla="*/ 1 w 1"/>
                <a:gd name="T9" fmla="*/ 233 h 2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33">
                  <a:moveTo>
                    <a:pt x="0" y="0"/>
                  </a:moveTo>
                  <a:lnTo>
                    <a:pt x="0" y="232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8" name="Rectangle 46"/>
            <p:cNvSpPr>
              <a:spLocks noChangeArrowheads="1"/>
            </p:cNvSpPr>
            <p:nvPr/>
          </p:nvSpPr>
          <p:spPr bwMode="auto">
            <a:xfrm>
              <a:off x="2799" y="1411"/>
              <a:ext cx="368" cy="6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9" name="Rectangle 47"/>
            <p:cNvSpPr>
              <a:spLocks noChangeArrowheads="1"/>
            </p:cNvSpPr>
            <p:nvPr/>
          </p:nvSpPr>
          <p:spPr bwMode="auto">
            <a:xfrm>
              <a:off x="2958" y="1661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rd1</a:t>
              </a:r>
            </a:p>
          </p:txBody>
        </p:sp>
        <p:sp>
          <p:nvSpPr>
            <p:cNvPr id="62530" name="Rectangle 48"/>
            <p:cNvSpPr>
              <a:spLocks noChangeArrowheads="1"/>
            </p:cNvSpPr>
            <p:nvPr/>
          </p:nvSpPr>
          <p:spPr bwMode="auto">
            <a:xfrm>
              <a:off x="2783" y="1935"/>
              <a:ext cx="413" cy="1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GPRs</a:t>
              </a:r>
            </a:p>
          </p:txBody>
        </p:sp>
        <p:sp>
          <p:nvSpPr>
            <p:cNvPr id="62531" name="Rectangle 49"/>
            <p:cNvSpPr>
              <a:spLocks noChangeArrowheads="1"/>
            </p:cNvSpPr>
            <p:nvPr/>
          </p:nvSpPr>
          <p:spPr bwMode="auto">
            <a:xfrm>
              <a:off x="2766" y="1465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rs1</a:t>
              </a:r>
            </a:p>
          </p:txBody>
        </p:sp>
        <p:sp>
          <p:nvSpPr>
            <p:cNvPr id="62532" name="Rectangle 50"/>
            <p:cNvSpPr>
              <a:spLocks noChangeArrowheads="1"/>
            </p:cNvSpPr>
            <p:nvPr/>
          </p:nvSpPr>
          <p:spPr bwMode="auto">
            <a:xfrm>
              <a:off x="2766" y="1561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rs2</a:t>
              </a:r>
            </a:p>
          </p:txBody>
        </p:sp>
        <p:sp>
          <p:nvSpPr>
            <p:cNvPr id="62533" name="Rectangle 51"/>
            <p:cNvSpPr>
              <a:spLocks noChangeArrowheads="1"/>
            </p:cNvSpPr>
            <p:nvPr/>
          </p:nvSpPr>
          <p:spPr bwMode="auto">
            <a:xfrm>
              <a:off x="2766" y="1745"/>
              <a:ext cx="23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wa</a:t>
              </a:r>
              <a:endParaRPr lang="en-US" sz="1200" dirty="0">
                <a:solidFill>
                  <a:srgbClr val="56127A"/>
                </a:solidFill>
              </a:endParaRPr>
            </a:p>
          </p:txBody>
        </p:sp>
        <p:sp>
          <p:nvSpPr>
            <p:cNvPr id="62534" name="Rectangle 52"/>
            <p:cNvSpPr>
              <a:spLocks noChangeArrowheads="1"/>
            </p:cNvSpPr>
            <p:nvPr/>
          </p:nvSpPr>
          <p:spPr bwMode="auto">
            <a:xfrm>
              <a:off x="2766" y="1839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wd</a:t>
              </a:r>
            </a:p>
          </p:txBody>
        </p:sp>
        <p:sp>
          <p:nvSpPr>
            <p:cNvPr id="62535" name="Rectangle 53"/>
            <p:cNvSpPr>
              <a:spLocks noChangeArrowheads="1"/>
            </p:cNvSpPr>
            <p:nvPr/>
          </p:nvSpPr>
          <p:spPr bwMode="auto">
            <a:xfrm>
              <a:off x="2963" y="1840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rd2</a:t>
              </a:r>
            </a:p>
          </p:txBody>
        </p:sp>
        <p:sp>
          <p:nvSpPr>
            <p:cNvPr id="62536" name="Rectangle 54"/>
            <p:cNvSpPr>
              <a:spLocks noChangeArrowheads="1"/>
            </p:cNvSpPr>
            <p:nvPr/>
          </p:nvSpPr>
          <p:spPr bwMode="auto">
            <a:xfrm>
              <a:off x="2894" y="1361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we</a:t>
              </a:r>
            </a:p>
          </p:txBody>
        </p:sp>
        <p:sp>
          <p:nvSpPr>
            <p:cNvPr id="62537" name="Line 55"/>
            <p:cNvSpPr>
              <a:spLocks noChangeShapeType="1"/>
            </p:cNvSpPr>
            <p:nvPr/>
          </p:nvSpPr>
          <p:spPr bwMode="auto">
            <a:xfrm>
              <a:off x="2815" y="1407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38" name="Line 56"/>
            <p:cNvSpPr>
              <a:spLocks noChangeShapeType="1"/>
            </p:cNvSpPr>
            <p:nvPr/>
          </p:nvSpPr>
          <p:spPr bwMode="auto">
            <a:xfrm flipH="1">
              <a:off x="2842" y="1410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2488" name="Freeform 57"/>
          <p:cNvSpPr>
            <a:spLocks/>
          </p:cNvSpPr>
          <p:nvPr/>
        </p:nvSpPr>
        <p:spPr bwMode="auto">
          <a:xfrm>
            <a:off x="1854200" y="2238375"/>
            <a:ext cx="266700" cy="528638"/>
          </a:xfrm>
          <a:custGeom>
            <a:avLst/>
            <a:gdLst>
              <a:gd name="T0" fmla="*/ 1 w 168"/>
              <a:gd name="T1" fmla="*/ 333 h 333"/>
              <a:gd name="T2" fmla="*/ 0 w 168"/>
              <a:gd name="T3" fmla="*/ 5 h 333"/>
              <a:gd name="T4" fmla="*/ 5 w 168"/>
              <a:gd name="T5" fmla="*/ 0 h 333"/>
              <a:gd name="T6" fmla="*/ 168 w 168"/>
              <a:gd name="T7" fmla="*/ 4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333"/>
              <a:gd name="T14" fmla="*/ 168 w 168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333">
                <a:moveTo>
                  <a:pt x="1" y="333"/>
                </a:moveTo>
                <a:lnTo>
                  <a:pt x="0" y="5"/>
                </a:lnTo>
                <a:lnTo>
                  <a:pt x="5" y="0"/>
                </a:lnTo>
                <a:lnTo>
                  <a:pt x="168" y="4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89" name="Freeform 58"/>
          <p:cNvSpPr>
            <a:spLocks/>
          </p:cNvSpPr>
          <p:nvPr/>
        </p:nvSpPr>
        <p:spPr bwMode="auto">
          <a:xfrm>
            <a:off x="3141663" y="2913063"/>
            <a:ext cx="1296987" cy="1587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0" name="Rectangle 59"/>
          <p:cNvSpPr>
            <a:spLocks noChangeArrowheads="1"/>
          </p:cNvSpPr>
          <p:nvPr/>
        </p:nvSpPr>
        <p:spPr bwMode="auto">
          <a:xfrm>
            <a:off x="3090863" y="2216150"/>
            <a:ext cx="98705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inst</a:t>
            </a:r>
            <a:r>
              <a:rPr lang="en-US" sz="1200" dirty="0">
                <a:solidFill>
                  <a:srgbClr val="56127A"/>
                </a:solidFill>
              </a:rPr>
              <a:t>&lt;26:22&gt;</a:t>
            </a:r>
          </a:p>
        </p:txBody>
      </p:sp>
      <p:sp>
        <p:nvSpPr>
          <p:cNvPr id="62491" name="Rectangle 60"/>
          <p:cNvSpPr>
            <a:spLocks noChangeArrowheads="1"/>
          </p:cNvSpPr>
          <p:nvPr/>
        </p:nvSpPr>
        <p:spPr bwMode="auto">
          <a:xfrm>
            <a:off x="3100388" y="2660650"/>
            <a:ext cx="99561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Inst</a:t>
            </a:r>
            <a:r>
              <a:rPr lang="en-US" sz="1200" dirty="0">
                <a:solidFill>
                  <a:srgbClr val="56127A"/>
                </a:solidFill>
              </a:rPr>
              <a:t>&lt;31:27&gt;</a:t>
            </a:r>
          </a:p>
        </p:txBody>
      </p:sp>
      <p:sp>
        <p:nvSpPr>
          <p:cNvPr id="62492" name="Rectangle 61"/>
          <p:cNvSpPr>
            <a:spLocks noChangeArrowheads="1"/>
          </p:cNvSpPr>
          <p:nvPr/>
        </p:nvSpPr>
        <p:spPr bwMode="auto">
          <a:xfrm>
            <a:off x="3130550" y="3390900"/>
            <a:ext cx="99561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Inst</a:t>
            </a:r>
            <a:r>
              <a:rPr lang="en-US" sz="1200" dirty="0">
                <a:solidFill>
                  <a:srgbClr val="56127A"/>
                </a:solidFill>
              </a:rPr>
              <a:t>&lt;21:10&gt;</a:t>
            </a:r>
          </a:p>
        </p:txBody>
      </p:sp>
      <p:sp>
        <p:nvSpPr>
          <p:cNvPr id="62493" name="Rectangle 62"/>
          <p:cNvSpPr>
            <a:spLocks noChangeArrowheads="1"/>
          </p:cNvSpPr>
          <p:nvPr/>
        </p:nvSpPr>
        <p:spPr bwMode="auto">
          <a:xfrm>
            <a:off x="3130550" y="3752850"/>
            <a:ext cx="910031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Inst</a:t>
            </a:r>
            <a:r>
              <a:rPr lang="en-US" sz="1200" dirty="0">
                <a:solidFill>
                  <a:srgbClr val="56127A"/>
                </a:solidFill>
              </a:rPr>
              <a:t>&lt;16:0&gt;</a:t>
            </a:r>
          </a:p>
        </p:txBody>
      </p:sp>
      <p:sp>
        <p:nvSpPr>
          <p:cNvPr id="62494" name="Line 63"/>
          <p:cNvSpPr>
            <a:spLocks noChangeShapeType="1"/>
          </p:cNvSpPr>
          <p:nvPr/>
        </p:nvSpPr>
        <p:spPr bwMode="auto">
          <a:xfrm>
            <a:off x="4500563" y="3103563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5" name="Freeform 64"/>
          <p:cNvSpPr>
            <a:spLocks/>
          </p:cNvSpPr>
          <p:nvPr/>
        </p:nvSpPr>
        <p:spPr bwMode="auto">
          <a:xfrm>
            <a:off x="3144838" y="2470150"/>
            <a:ext cx="1296987" cy="1588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6" name="Rectangle 65"/>
          <p:cNvSpPr>
            <a:spLocks noChangeArrowheads="1"/>
          </p:cNvSpPr>
          <p:nvPr/>
        </p:nvSpPr>
        <p:spPr bwMode="auto">
          <a:xfrm>
            <a:off x="5275263" y="3870325"/>
            <a:ext cx="584200" cy="317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7" name="Rectangle 66"/>
          <p:cNvSpPr>
            <a:spLocks noChangeArrowheads="1"/>
          </p:cNvSpPr>
          <p:nvPr/>
        </p:nvSpPr>
        <p:spPr bwMode="auto">
          <a:xfrm>
            <a:off x="5233988" y="3856038"/>
            <a:ext cx="671512" cy="3619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ALU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Control</a:t>
            </a:r>
          </a:p>
        </p:txBody>
      </p:sp>
      <p:sp>
        <p:nvSpPr>
          <p:cNvPr id="62498" name="Freeform 67"/>
          <p:cNvSpPr>
            <a:spLocks/>
          </p:cNvSpPr>
          <p:nvPr/>
        </p:nvSpPr>
        <p:spPr bwMode="auto">
          <a:xfrm>
            <a:off x="5064125" y="2681288"/>
            <a:ext cx="1423988" cy="1587"/>
          </a:xfrm>
          <a:custGeom>
            <a:avLst/>
            <a:gdLst>
              <a:gd name="T0" fmla="*/ 0 w 897"/>
              <a:gd name="T1" fmla="*/ 0 h 1"/>
              <a:gd name="T2" fmla="*/ 896 w 897"/>
              <a:gd name="T3" fmla="*/ 0 h 1"/>
              <a:gd name="T4" fmla="*/ 0 60000 65536"/>
              <a:gd name="T5" fmla="*/ 0 60000 65536"/>
              <a:gd name="T6" fmla="*/ 0 w 897"/>
              <a:gd name="T7" fmla="*/ 0 h 1"/>
              <a:gd name="T8" fmla="*/ 897 w 89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7" h="1">
                <a:moveTo>
                  <a:pt x="0" y="0"/>
                </a:moveTo>
                <a:lnTo>
                  <a:pt x="89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499" name="Freeform 68"/>
          <p:cNvSpPr>
            <a:spLocks/>
          </p:cNvSpPr>
          <p:nvPr/>
        </p:nvSpPr>
        <p:spPr bwMode="auto">
          <a:xfrm>
            <a:off x="5851525" y="3114675"/>
            <a:ext cx="863600" cy="849313"/>
          </a:xfrm>
          <a:custGeom>
            <a:avLst/>
            <a:gdLst>
              <a:gd name="T0" fmla="*/ 0 w 544"/>
              <a:gd name="T1" fmla="*/ 535 h 535"/>
              <a:gd name="T2" fmla="*/ 544 w 544"/>
              <a:gd name="T3" fmla="*/ 535 h 535"/>
              <a:gd name="T4" fmla="*/ 540 w 544"/>
              <a:gd name="T5" fmla="*/ 0 h 535"/>
              <a:gd name="T6" fmla="*/ 0 60000 65536"/>
              <a:gd name="T7" fmla="*/ 0 60000 65536"/>
              <a:gd name="T8" fmla="*/ 0 60000 65536"/>
              <a:gd name="T9" fmla="*/ 0 w 544"/>
              <a:gd name="T10" fmla="*/ 0 h 535"/>
              <a:gd name="T11" fmla="*/ 544 w 544"/>
              <a:gd name="T12" fmla="*/ 535 h 5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4" h="535">
                <a:moveTo>
                  <a:pt x="0" y="535"/>
                </a:moveTo>
                <a:lnTo>
                  <a:pt x="544" y="535"/>
                </a:lnTo>
                <a:lnTo>
                  <a:pt x="540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0" name="Freeform 69"/>
          <p:cNvSpPr>
            <a:spLocks/>
          </p:cNvSpPr>
          <p:nvPr/>
        </p:nvSpPr>
        <p:spPr bwMode="auto">
          <a:xfrm>
            <a:off x="3144838" y="3992563"/>
            <a:ext cx="2141537" cy="74612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1" name="Freeform 70"/>
          <p:cNvSpPr>
            <a:spLocks/>
          </p:cNvSpPr>
          <p:nvPr/>
        </p:nvSpPr>
        <p:spPr bwMode="auto">
          <a:xfrm>
            <a:off x="1055688" y="1412875"/>
            <a:ext cx="1755775" cy="1341438"/>
          </a:xfrm>
          <a:custGeom>
            <a:avLst/>
            <a:gdLst>
              <a:gd name="T0" fmla="*/ 921 w 1106"/>
              <a:gd name="T1" fmla="*/ 410 h 845"/>
              <a:gd name="T2" fmla="*/ 1104 w 1106"/>
              <a:gd name="T3" fmla="*/ 409 h 845"/>
              <a:gd name="T4" fmla="*/ 1106 w 1106"/>
              <a:gd name="T5" fmla="*/ 1 h 845"/>
              <a:gd name="T6" fmla="*/ 775 w 1106"/>
              <a:gd name="T7" fmla="*/ 0 h 845"/>
              <a:gd name="T8" fmla="*/ 2 w 1106"/>
              <a:gd name="T9" fmla="*/ 1 h 845"/>
              <a:gd name="T10" fmla="*/ 0 w 1106"/>
              <a:gd name="T11" fmla="*/ 845 h 845"/>
              <a:gd name="T12" fmla="*/ 335 w 1106"/>
              <a:gd name="T13" fmla="*/ 845 h 8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6"/>
              <a:gd name="T22" fmla="*/ 0 h 845"/>
              <a:gd name="T23" fmla="*/ 1106 w 1106"/>
              <a:gd name="T24" fmla="*/ 845 h 8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6" h="845">
                <a:moveTo>
                  <a:pt x="921" y="410"/>
                </a:moveTo>
                <a:lnTo>
                  <a:pt x="1104" y="409"/>
                </a:lnTo>
                <a:lnTo>
                  <a:pt x="1106" y="1"/>
                </a:lnTo>
                <a:lnTo>
                  <a:pt x="775" y="0"/>
                </a:lnTo>
                <a:lnTo>
                  <a:pt x="2" y="1"/>
                </a:lnTo>
                <a:lnTo>
                  <a:pt x="0" y="845"/>
                </a:lnTo>
                <a:lnTo>
                  <a:pt x="335" y="84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503" name="Rectangle 72"/>
          <p:cNvSpPr>
            <a:spLocks noChangeArrowheads="1"/>
          </p:cNvSpPr>
          <p:nvPr/>
        </p:nvSpPr>
        <p:spPr bwMode="auto">
          <a:xfrm>
            <a:off x="3122613" y="3952875"/>
            <a:ext cx="824445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Inst</a:t>
            </a:r>
            <a:r>
              <a:rPr lang="en-US" sz="1200" dirty="0">
                <a:solidFill>
                  <a:srgbClr val="56127A"/>
                </a:solidFill>
              </a:rPr>
              <a:t>&lt;9:0&gt;</a:t>
            </a:r>
          </a:p>
        </p:txBody>
      </p:sp>
      <p:sp>
        <p:nvSpPr>
          <p:cNvPr id="62504" name="Line 73"/>
          <p:cNvSpPr>
            <a:spLocks noChangeShapeType="1"/>
          </p:cNvSpPr>
          <p:nvPr/>
        </p:nvSpPr>
        <p:spPr bwMode="auto">
          <a:xfrm>
            <a:off x="5041900" y="3035300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0701" name="Text Box 93"/>
          <p:cNvSpPr txBox="1">
            <a:spLocks noChangeArrowheads="1"/>
          </p:cNvSpPr>
          <p:nvPr/>
        </p:nvSpPr>
        <p:spPr bwMode="auto">
          <a:xfrm>
            <a:off x="7362825" y="1568450"/>
            <a:ext cx="14176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2000">
                <a:solidFill>
                  <a:srgbClr val="FF0000"/>
                </a:solidFill>
                <a:latin typeface="Verdana" charset="0"/>
              </a:rPr>
              <a:t>Introduce</a:t>
            </a:r>
          </a:p>
          <a:p>
            <a:pPr eaLnBrk="1" hangingPunct="1">
              <a:spcBef>
                <a:spcPct val="0"/>
              </a:spcBef>
            </a:pPr>
            <a:r>
              <a:rPr lang="en-US" sz="2000">
                <a:solidFill>
                  <a:srgbClr val="FF0000"/>
                </a:solidFill>
                <a:latin typeface="Verdana" charset="0"/>
              </a:rPr>
              <a:t>muxes</a:t>
            </a:r>
          </a:p>
        </p:txBody>
      </p:sp>
      <p:sp>
        <p:nvSpPr>
          <p:cNvPr id="96" name="Rectangle 10"/>
          <p:cNvSpPr>
            <a:spLocks noChangeArrowheads="1"/>
          </p:cNvSpPr>
          <p:nvPr/>
        </p:nvSpPr>
        <p:spPr bwMode="auto">
          <a:xfrm>
            <a:off x="992188" y="6183313"/>
            <a:ext cx="800099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   </a:t>
            </a:r>
            <a:r>
              <a:rPr lang="en-US" sz="1800" dirty="0" err="1">
                <a:solidFill>
                  <a:srgbClr val="56127A"/>
                </a:solidFill>
                <a:latin typeface="Verdana" charset="0"/>
              </a:rPr>
              <a:t>rd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	  rs1   </a:t>
            </a:r>
            <a:r>
              <a:rPr lang="en-US" dirty="0">
                <a:solidFill>
                  <a:srgbClr val="56127A"/>
                </a:solidFill>
                <a:latin typeface="Verdana" charset="0"/>
              </a:rPr>
              <a:t>immediate12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dirty="0">
                <a:solidFill>
                  <a:srgbClr val="56127A"/>
                </a:solidFill>
                <a:latin typeface="Verdana" charset="0"/>
              </a:rPr>
              <a:t>func3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 </a:t>
            </a:r>
            <a:r>
              <a:rPr lang="en-US" sz="1800" dirty="0" err="1">
                <a:solidFill>
                  <a:srgbClr val="56127A"/>
                </a:solidFill>
                <a:latin typeface="Verdana" charset="0"/>
              </a:rPr>
              <a:t>opcode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   </a:t>
            </a:r>
            <a:r>
              <a:rPr lang="en-US" sz="1800" dirty="0" err="1">
                <a:solidFill>
                  <a:srgbClr val="56127A"/>
                </a:solidFill>
                <a:latin typeface="Verdana" charset="0"/>
              </a:rPr>
              <a:t>rd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1800" dirty="0">
                <a:solidFill>
                  <a:srgbClr val="56127A"/>
                </a:solidFill>
                <a:latin typeface="Symbol" charset="2"/>
              </a:rPr>
              <a:t>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(rs1) op immediate</a:t>
            </a:r>
          </a:p>
        </p:txBody>
      </p:sp>
      <p:grpSp>
        <p:nvGrpSpPr>
          <p:cNvPr id="9" name="Group 5"/>
          <p:cNvGrpSpPr>
            <a:grpSpLocks/>
          </p:cNvGrpSpPr>
          <p:nvPr/>
        </p:nvGrpSpPr>
        <p:grpSpPr bwMode="auto">
          <a:xfrm>
            <a:off x="1016000" y="6230938"/>
            <a:ext cx="4808536" cy="317500"/>
            <a:chOff x="677" y="3989"/>
            <a:chExt cx="3029" cy="200"/>
          </a:xfrm>
        </p:grpSpPr>
        <p:sp>
          <p:nvSpPr>
            <p:cNvPr id="109" name="Rectangle 7"/>
            <p:cNvSpPr>
              <a:spLocks noChangeArrowheads="1"/>
            </p:cNvSpPr>
            <p:nvPr/>
          </p:nvSpPr>
          <p:spPr bwMode="auto">
            <a:xfrm>
              <a:off x="677" y="3989"/>
              <a:ext cx="3029" cy="2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Line 8"/>
            <p:cNvSpPr>
              <a:spLocks noChangeShapeType="1"/>
            </p:cNvSpPr>
            <p:nvPr/>
          </p:nvSpPr>
          <p:spPr bwMode="auto">
            <a:xfrm>
              <a:off x="1746" y="3997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9"/>
            <p:cNvSpPr>
              <a:spLocks noChangeShapeType="1"/>
            </p:cNvSpPr>
            <p:nvPr/>
          </p:nvSpPr>
          <p:spPr bwMode="auto">
            <a:xfrm>
              <a:off x="1242" y="3997"/>
              <a:ext cx="0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8" name="Rectangle 11"/>
          <p:cNvSpPr>
            <a:spLocks noChangeArrowheads="1"/>
          </p:cNvSpPr>
          <p:nvPr/>
        </p:nvSpPr>
        <p:spPr bwMode="auto">
          <a:xfrm>
            <a:off x="5930899" y="6338888"/>
            <a:ext cx="2705099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12"/>
          <p:cNvGrpSpPr>
            <a:grpSpLocks/>
          </p:cNvGrpSpPr>
          <p:nvPr/>
        </p:nvGrpSpPr>
        <p:grpSpPr bwMode="auto">
          <a:xfrm>
            <a:off x="1011238" y="5526088"/>
            <a:ext cx="7675561" cy="747712"/>
            <a:chOff x="621" y="3721"/>
            <a:chExt cx="4835" cy="471"/>
          </a:xfrm>
        </p:grpSpPr>
        <p:sp>
          <p:nvSpPr>
            <p:cNvPr id="100" name="Rectangle 13"/>
            <p:cNvSpPr>
              <a:spLocks noChangeArrowheads="1"/>
            </p:cNvSpPr>
            <p:nvPr/>
          </p:nvSpPr>
          <p:spPr bwMode="auto">
            <a:xfrm>
              <a:off x="3752" y="3961"/>
              <a:ext cx="170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621" y="3721"/>
              <a:ext cx="4827" cy="407"/>
              <a:chOff x="621" y="3721"/>
              <a:chExt cx="4827" cy="407"/>
            </a:xfrm>
          </p:grpSpPr>
          <p:sp>
            <p:nvSpPr>
              <p:cNvPr id="102" name="Rectangle 15"/>
              <p:cNvSpPr>
                <a:spLocks noChangeArrowheads="1"/>
              </p:cNvSpPr>
              <p:nvPr/>
            </p:nvSpPr>
            <p:spPr bwMode="auto">
              <a:xfrm>
                <a:off x="621" y="3721"/>
                <a:ext cx="4827" cy="406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 </a:t>
                </a:r>
                <a:r>
                  <a:rPr lang="en-US" sz="1800" dirty="0">
                    <a:solidFill>
                      <a:schemeClr val="tx1"/>
                    </a:solidFill>
                    <a:latin typeface="Verdana" charset="0"/>
                  </a:rPr>
                  <a:t>5	   5	 5           10            7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</a:t>
                </a:r>
                <a:r>
                  <a:rPr lang="en-US" sz="1800" dirty="0" err="1">
                    <a:solidFill>
                      <a:srgbClr val="56127A"/>
                    </a:solidFill>
                    <a:latin typeface="Verdana" charset="0"/>
                  </a:rPr>
                  <a:t>rd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	  rs1	rs2     func10      </a:t>
                </a:r>
                <a:r>
                  <a:rPr lang="en-US" sz="1800" dirty="0" err="1">
                    <a:solidFill>
                      <a:srgbClr val="56127A"/>
                    </a:solidFill>
                    <a:latin typeface="Verdana" charset="0"/>
                  </a:rPr>
                  <a:t>opcode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   </a:t>
                </a:r>
                <a:r>
                  <a:rPr lang="en-US" sz="1800" dirty="0" err="1">
                    <a:solidFill>
                      <a:srgbClr val="56127A"/>
                    </a:solidFill>
                    <a:latin typeface="Verdana" charset="0"/>
                  </a:rPr>
                  <a:t>rd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</a:t>
                </a:r>
                <a:r>
                  <a:rPr lang="en-US" sz="1800" dirty="0">
                    <a:solidFill>
                      <a:srgbClr val="56127A"/>
                    </a:solidFill>
                    <a:latin typeface="Symbol" charset="2"/>
                  </a:rPr>
                  <a:t>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(rs1) </a:t>
                </a:r>
                <a:r>
                  <a:rPr lang="en-US" sz="1800" dirty="0" err="1">
                    <a:solidFill>
                      <a:srgbClr val="56127A"/>
                    </a:solidFill>
                    <a:latin typeface="Verdana" charset="0"/>
                  </a:rPr>
                  <a:t>func</a:t>
                </a:r>
                <a:r>
                  <a:rPr lang="en-US" sz="1800" dirty="0">
                    <a:solidFill>
                      <a:srgbClr val="56127A"/>
                    </a:solidFill>
                    <a:latin typeface="Verdana" charset="0"/>
                  </a:rPr>
                  <a:t> (rs2)</a:t>
                </a:r>
              </a:p>
            </p:txBody>
          </p:sp>
          <p:sp>
            <p:nvSpPr>
              <p:cNvPr id="103" name="Rectangle 16"/>
              <p:cNvSpPr>
                <a:spLocks noChangeArrowheads="1"/>
              </p:cNvSpPr>
              <p:nvPr/>
            </p:nvSpPr>
            <p:spPr bwMode="auto">
              <a:xfrm>
                <a:off x="624" y="3911"/>
                <a:ext cx="1520" cy="2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Rectangle 17"/>
              <p:cNvSpPr>
                <a:spLocks noChangeArrowheads="1"/>
              </p:cNvSpPr>
              <p:nvPr/>
            </p:nvSpPr>
            <p:spPr bwMode="auto">
              <a:xfrm>
                <a:off x="2144" y="3911"/>
                <a:ext cx="1520" cy="2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Line 18"/>
              <p:cNvSpPr>
                <a:spLocks noChangeShapeType="1"/>
              </p:cNvSpPr>
              <p:nvPr/>
            </p:nvSpPr>
            <p:spPr bwMode="auto">
              <a:xfrm>
                <a:off x="1702" y="3919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Line 19"/>
              <p:cNvSpPr>
                <a:spLocks noChangeShapeType="1"/>
              </p:cNvSpPr>
              <p:nvPr/>
            </p:nvSpPr>
            <p:spPr bwMode="auto">
              <a:xfrm>
                <a:off x="1198" y="3919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Line 21"/>
              <p:cNvSpPr>
                <a:spLocks noChangeShapeType="1"/>
              </p:cNvSpPr>
              <p:nvPr/>
            </p:nvSpPr>
            <p:spPr bwMode="auto">
              <a:xfrm>
                <a:off x="3008" y="3916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Rectangle 22"/>
              <p:cNvSpPr>
                <a:spLocks noChangeArrowheads="1"/>
              </p:cNvSpPr>
              <p:nvPr/>
            </p:nvSpPr>
            <p:spPr bwMode="auto">
              <a:xfrm>
                <a:off x="3760" y="3897"/>
                <a:ext cx="1336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12" name="Line 21"/>
          <p:cNvSpPr>
            <a:spLocks noChangeShapeType="1"/>
          </p:cNvSpPr>
          <p:nvPr/>
        </p:nvSpPr>
        <p:spPr bwMode="auto">
          <a:xfrm>
            <a:off x="4800600" y="62420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1"/>
          <p:cNvSpPr>
            <a:spLocks noChangeShapeType="1"/>
          </p:cNvSpPr>
          <p:nvPr/>
        </p:nvSpPr>
        <p:spPr bwMode="auto">
          <a:xfrm>
            <a:off x="4114800" y="62420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Freeform 81"/>
          <p:cNvSpPr>
            <a:spLocks/>
          </p:cNvSpPr>
          <p:nvPr/>
        </p:nvSpPr>
        <p:spPr bwMode="auto">
          <a:xfrm>
            <a:off x="3141663" y="2633663"/>
            <a:ext cx="1296987" cy="1587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Rectangle 83"/>
          <p:cNvSpPr>
            <a:spLocks noChangeArrowheads="1"/>
          </p:cNvSpPr>
          <p:nvPr/>
        </p:nvSpPr>
        <p:spPr bwMode="auto">
          <a:xfrm>
            <a:off x="3100388" y="2419350"/>
            <a:ext cx="1029805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Inst&lt;21:17&gt;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2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0610" grpId="0" animBg="1"/>
      <p:bldP spid="1220611" grpId="0" animBg="1"/>
      <p:bldP spid="122070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FA53219-C13B-6E40-B57B-07700731C2D2}" type="slidenum">
              <a:rPr lang="en-US"/>
              <a:pPr/>
              <a:t>34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64517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431800"/>
            <a:ext cx="7988300" cy="749300"/>
          </a:xfrm>
          <a:noFill/>
        </p:spPr>
        <p:txBody>
          <a:bodyPr lIns="90488" tIns="44450" rIns="90488" bIns="44450"/>
          <a:lstStyle/>
          <a:p>
            <a:r>
              <a:rPr lang="en-US" dirty="0" err="1"/>
              <a:t>Datapath</a:t>
            </a:r>
            <a:r>
              <a:rPr lang="en-US" dirty="0"/>
              <a:t> for ALU Instructions</a:t>
            </a:r>
          </a:p>
        </p:txBody>
      </p:sp>
      <p:sp>
        <p:nvSpPr>
          <p:cNvPr id="1221635" name="Rectangle 3"/>
          <p:cNvSpPr>
            <a:spLocks noChangeArrowheads="1"/>
          </p:cNvSpPr>
          <p:nvPr/>
        </p:nvSpPr>
        <p:spPr bwMode="auto">
          <a:xfrm>
            <a:off x="3092450" y="3790950"/>
            <a:ext cx="661991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&lt;16:0&gt;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992188" y="5526088"/>
            <a:ext cx="8000998" cy="1179512"/>
            <a:chOff x="625" y="3481"/>
            <a:chExt cx="5040" cy="743"/>
          </a:xfrm>
        </p:grpSpPr>
        <p:sp>
          <p:nvSpPr>
            <p:cNvPr id="64598" name="Rectangle 10"/>
            <p:cNvSpPr>
              <a:spLocks noChangeArrowheads="1"/>
            </p:cNvSpPr>
            <p:nvPr/>
          </p:nvSpPr>
          <p:spPr bwMode="auto">
            <a:xfrm>
              <a:off x="625" y="3895"/>
              <a:ext cx="50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  </a:t>
              </a: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rd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	  rs1   </a:t>
              </a:r>
              <a:r>
                <a:rPr lang="en-US" dirty="0">
                  <a:solidFill>
                    <a:srgbClr val="56127A"/>
                  </a:solidFill>
                  <a:latin typeface="Verdana" charset="0"/>
                </a:rPr>
                <a:t>immediate12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</a:t>
              </a:r>
              <a:r>
                <a:rPr lang="en-US" dirty="0">
                  <a:solidFill>
                    <a:srgbClr val="56127A"/>
                  </a:solidFill>
                  <a:latin typeface="Verdana" charset="0"/>
                </a:rPr>
                <a:t>func3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</a:t>
              </a: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opcode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  </a:t>
              </a: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rd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</a:t>
              </a:r>
              <a:r>
                <a:rPr lang="en-US" sz="1800" dirty="0">
                  <a:solidFill>
                    <a:srgbClr val="56127A"/>
                  </a:solidFill>
                  <a:latin typeface="Symbol" charset="2"/>
                </a:rPr>
                <a:t>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(rs1) op immediate</a:t>
              </a: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640" y="3925"/>
              <a:ext cx="3029" cy="200"/>
              <a:chOff x="677" y="3989"/>
              <a:chExt cx="3029" cy="200"/>
            </a:xfrm>
          </p:grpSpPr>
          <p:sp>
            <p:nvSpPr>
              <p:cNvPr id="64612" name="Rectangle 7"/>
              <p:cNvSpPr>
                <a:spLocks noChangeArrowheads="1"/>
              </p:cNvSpPr>
              <p:nvPr/>
            </p:nvSpPr>
            <p:spPr bwMode="auto">
              <a:xfrm>
                <a:off x="677" y="3989"/>
                <a:ext cx="3029" cy="2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613" name="Line 8"/>
              <p:cNvSpPr>
                <a:spLocks noChangeShapeType="1"/>
              </p:cNvSpPr>
              <p:nvPr/>
            </p:nvSpPr>
            <p:spPr bwMode="auto">
              <a:xfrm>
                <a:off x="1746" y="3997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614" name="Line 9"/>
              <p:cNvSpPr>
                <a:spLocks noChangeShapeType="1"/>
              </p:cNvSpPr>
              <p:nvPr/>
            </p:nvSpPr>
            <p:spPr bwMode="auto">
              <a:xfrm>
                <a:off x="1242" y="3997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599" name="Rectangle 11"/>
            <p:cNvSpPr>
              <a:spLocks noChangeArrowheads="1"/>
            </p:cNvSpPr>
            <p:nvPr/>
          </p:nvSpPr>
          <p:spPr bwMode="auto">
            <a:xfrm>
              <a:off x="3736" y="3993"/>
              <a:ext cx="170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637" y="3481"/>
              <a:ext cx="4835" cy="471"/>
              <a:chOff x="621" y="3721"/>
              <a:chExt cx="4835" cy="471"/>
            </a:xfrm>
          </p:grpSpPr>
          <p:sp>
            <p:nvSpPr>
              <p:cNvPr id="64601" name="Rectangle 13"/>
              <p:cNvSpPr>
                <a:spLocks noChangeArrowheads="1"/>
              </p:cNvSpPr>
              <p:nvPr/>
            </p:nvSpPr>
            <p:spPr bwMode="auto">
              <a:xfrm>
                <a:off x="3752" y="3961"/>
                <a:ext cx="170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" name="Group 14"/>
              <p:cNvGrpSpPr>
                <a:grpSpLocks/>
              </p:cNvGrpSpPr>
              <p:nvPr/>
            </p:nvGrpSpPr>
            <p:grpSpPr bwMode="auto">
              <a:xfrm>
                <a:off x="621" y="3721"/>
                <a:ext cx="4827" cy="407"/>
                <a:chOff x="621" y="3721"/>
                <a:chExt cx="4827" cy="407"/>
              </a:xfrm>
            </p:grpSpPr>
            <p:sp>
              <p:nvSpPr>
                <p:cNvPr id="64603" name="Rectangle 15"/>
                <p:cNvSpPr>
                  <a:spLocks noChangeArrowheads="1"/>
                </p:cNvSpPr>
                <p:nvPr/>
              </p:nvSpPr>
              <p:spPr bwMode="auto">
                <a:xfrm>
                  <a:off x="621" y="3721"/>
                  <a:ext cx="4827" cy="406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 </a:t>
                  </a:r>
                  <a:r>
                    <a:rPr lang="en-US" sz="1800" dirty="0">
                      <a:solidFill>
                        <a:schemeClr val="tx1"/>
                      </a:solidFill>
                      <a:latin typeface="Verdana" charset="0"/>
                    </a:rPr>
                    <a:t>5	   5	 5           10            7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rd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	  rs1	rs2     func10  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opcode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rd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Symbol" charset="2"/>
                    </a:rPr>
                    <a:t>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(rs1)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func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(rs2)</a:t>
                  </a:r>
                </a:p>
              </p:txBody>
            </p:sp>
            <p:sp>
              <p:nvSpPr>
                <p:cNvPr id="64604" name="Rectangle 16"/>
                <p:cNvSpPr>
                  <a:spLocks noChangeArrowheads="1"/>
                </p:cNvSpPr>
                <p:nvPr/>
              </p:nvSpPr>
              <p:spPr bwMode="auto">
                <a:xfrm>
                  <a:off x="624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05" name="Rectangle 17"/>
                <p:cNvSpPr>
                  <a:spLocks noChangeArrowheads="1"/>
                </p:cNvSpPr>
                <p:nvPr/>
              </p:nvSpPr>
              <p:spPr bwMode="auto">
                <a:xfrm>
                  <a:off x="2144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06" name="Line 18"/>
                <p:cNvSpPr>
                  <a:spLocks noChangeShapeType="1"/>
                </p:cNvSpPr>
                <p:nvPr/>
              </p:nvSpPr>
              <p:spPr bwMode="auto">
                <a:xfrm>
                  <a:off x="1702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07" name="Line 19"/>
                <p:cNvSpPr>
                  <a:spLocks noChangeShapeType="1"/>
                </p:cNvSpPr>
                <p:nvPr/>
              </p:nvSpPr>
              <p:spPr bwMode="auto">
                <a:xfrm>
                  <a:off x="1198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09" name="Line 21"/>
                <p:cNvSpPr>
                  <a:spLocks noChangeShapeType="1"/>
                </p:cNvSpPr>
                <p:nvPr/>
              </p:nvSpPr>
              <p:spPr bwMode="auto">
                <a:xfrm>
                  <a:off x="3008" y="391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610" name="Rectangle 22"/>
                <p:cNvSpPr>
                  <a:spLocks noChangeArrowheads="1"/>
                </p:cNvSpPr>
                <p:nvPr/>
              </p:nvSpPr>
              <p:spPr bwMode="auto">
                <a:xfrm>
                  <a:off x="3760" y="3897"/>
                  <a:ext cx="1336" cy="2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221655" name="Rectangle 23"/>
          <p:cNvSpPr>
            <a:spLocks noChangeArrowheads="1"/>
          </p:cNvSpPr>
          <p:nvPr/>
        </p:nvSpPr>
        <p:spPr bwMode="auto">
          <a:xfrm>
            <a:off x="6397054" y="5255900"/>
            <a:ext cx="91814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b="1" dirty="0">
                <a:solidFill>
                  <a:srgbClr val="56127A"/>
                </a:solidFill>
              </a:rPr>
              <a:t>Op2Sel</a:t>
            </a:r>
          </a:p>
          <a:p>
            <a:pPr>
              <a:spcBef>
                <a:spcPct val="0"/>
              </a:spcBef>
            </a:pPr>
            <a:r>
              <a:rPr lang="en-US" sz="1200" b="1" dirty="0" err="1">
                <a:solidFill>
                  <a:srgbClr val="56127A"/>
                </a:solidFill>
              </a:rPr>
              <a:t>Reg</a:t>
            </a:r>
            <a:r>
              <a:rPr lang="en-US" sz="1200" b="1" dirty="0">
                <a:solidFill>
                  <a:srgbClr val="56127A"/>
                </a:solidFill>
              </a:rPr>
              <a:t> / </a:t>
            </a:r>
            <a:r>
              <a:rPr lang="en-US" sz="1200" b="1" dirty="0" err="1">
                <a:solidFill>
                  <a:srgbClr val="56127A"/>
                </a:solidFill>
              </a:rPr>
              <a:t>Imm</a:t>
            </a:r>
            <a:endParaRPr lang="en-US" sz="1200" b="1" dirty="0">
              <a:solidFill>
                <a:srgbClr val="56127A"/>
              </a:solidFill>
            </a:endParaRP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6426200" y="2928938"/>
            <a:ext cx="355600" cy="2266950"/>
            <a:chOff x="3858" y="1845"/>
            <a:chExt cx="224" cy="1428"/>
          </a:xfrm>
        </p:grpSpPr>
        <p:sp>
          <p:nvSpPr>
            <p:cNvPr id="64594" name="Freeform 25"/>
            <p:cNvSpPr>
              <a:spLocks/>
            </p:cNvSpPr>
            <p:nvPr/>
          </p:nvSpPr>
          <p:spPr bwMode="auto">
            <a:xfrm>
              <a:off x="3858" y="1845"/>
              <a:ext cx="145" cy="289"/>
            </a:xfrm>
            <a:custGeom>
              <a:avLst/>
              <a:gdLst>
                <a:gd name="T0" fmla="*/ 144 w 145"/>
                <a:gd name="T1" fmla="*/ 48 h 289"/>
                <a:gd name="T2" fmla="*/ 144 w 145"/>
                <a:gd name="T3" fmla="*/ 240 h 289"/>
                <a:gd name="T4" fmla="*/ 0 w 145"/>
                <a:gd name="T5" fmla="*/ 288 h 289"/>
                <a:gd name="T6" fmla="*/ 0 w 145"/>
                <a:gd name="T7" fmla="*/ 0 h 289"/>
                <a:gd name="T8" fmla="*/ 144 w 145"/>
                <a:gd name="T9" fmla="*/ 48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289"/>
                <a:gd name="T17" fmla="*/ 145 w 145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289">
                  <a:moveTo>
                    <a:pt x="144" y="48"/>
                  </a:moveTo>
                  <a:lnTo>
                    <a:pt x="144" y="240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accent1"/>
            </a:solidFill>
            <a:ln w="9525" cap="rnd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95" name="Line 26"/>
            <p:cNvSpPr>
              <a:spLocks noChangeShapeType="1"/>
            </p:cNvSpPr>
            <p:nvPr/>
          </p:nvSpPr>
          <p:spPr bwMode="auto">
            <a:xfrm flipH="1">
              <a:off x="3994" y="1965"/>
              <a:ext cx="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96" name="Line 27"/>
            <p:cNvSpPr>
              <a:spLocks noChangeShapeType="1"/>
            </p:cNvSpPr>
            <p:nvPr/>
          </p:nvSpPr>
          <p:spPr bwMode="auto">
            <a:xfrm>
              <a:off x="3950" y="2121"/>
              <a:ext cx="0" cy="115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524" name="Rectangle 33"/>
          <p:cNvSpPr>
            <a:spLocks noChangeArrowheads="1"/>
          </p:cNvSpPr>
          <p:nvPr/>
        </p:nvSpPr>
        <p:spPr bwMode="auto">
          <a:xfrm>
            <a:off x="4475163" y="3454400"/>
            <a:ext cx="584200" cy="317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5" name="Freeform 34"/>
          <p:cNvSpPr>
            <a:spLocks/>
          </p:cNvSpPr>
          <p:nvPr/>
        </p:nvSpPr>
        <p:spPr bwMode="auto">
          <a:xfrm>
            <a:off x="3157538" y="3633788"/>
            <a:ext cx="1320800" cy="74612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6" name="Line 35"/>
          <p:cNvSpPr>
            <a:spLocks noChangeShapeType="1"/>
          </p:cNvSpPr>
          <p:nvPr/>
        </p:nvSpPr>
        <p:spPr bwMode="auto">
          <a:xfrm flipV="1">
            <a:off x="4767263" y="3775075"/>
            <a:ext cx="0" cy="14605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27" name="Rectangle 36"/>
          <p:cNvSpPr>
            <a:spLocks noChangeArrowheads="1"/>
          </p:cNvSpPr>
          <p:nvPr/>
        </p:nvSpPr>
        <p:spPr bwMode="auto">
          <a:xfrm>
            <a:off x="4470531" y="3432175"/>
            <a:ext cx="610445" cy="3744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Imm</a:t>
            </a:r>
            <a:endParaRPr lang="en-US" sz="1200" dirty="0">
              <a:solidFill>
                <a:srgbClr val="56127A"/>
              </a:solidFill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Select</a:t>
            </a:r>
          </a:p>
        </p:txBody>
      </p:sp>
      <p:sp>
        <p:nvSpPr>
          <p:cNvPr id="64528" name="Rectangle 37"/>
          <p:cNvSpPr>
            <a:spLocks noChangeArrowheads="1"/>
          </p:cNvSpPr>
          <p:nvPr/>
        </p:nvSpPr>
        <p:spPr bwMode="auto">
          <a:xfrm>
            <a:off x="4511675" y="5205413"/>
            <a:ext cx="704295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ImmSel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64529" name="Freeform 38"/>
          <p:cNvSpPr>
            <a:spLocks/>
          </p:cNvSpPr>
          <p:nvPr/>
        </p:nvSpPr>
        <p:spPr bwMode="auto">
          <a:xfrm>
            <a:off x="4064000" y="2851150"/>
            <a:ext cx="3459163" cy="2068513"/>
          </a:xfrm>
          <a:custGeom>
            <a:avLst/>
            <a:gdLst>
              <a:gd name="T0" fmla="*/ 1769 w 2179"/>
              <a:gd name="T1" fmla="*/ 0 h 1303"/>
              <a:gd name="T2" fmla="*/ 2178 w 2179"/>
              <a:gd name="T3" fmla="*/ 0 h 1303"/>
              <a:gd name="T4" fmla="*/ 2178 w 2179"/>
              <a:gd name="T5" fmla="*/ 1302 h 1303"/>
              <a:gd name="T6" fmla="*/ 0 w 2179"/>
              <a:gd name="T7" fmla="*/ 1302 h 1303"/>
              <a:gd name="T8" fmla="*/ 0 w 2179"/>
              <a:gd name="T9" fmla="*/ 133 h 1303"/>
              <a:gd name="T10" fmla="*/ 242 w 2179"/>
              <a:gd name="T11" fmla="*/ 133 h 130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179"/>
              <a:gd name="T19" fmla="*/ 0 h 1303"/>
              <a:gd name="T20" fmla="*/ 2179 w 2179"/>
              <a:gd name="T21" fmla="*/ 1303 h 130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79" h="1303">
                <a:moveTo>
                  <a:pt x="1769" y="0"/>
                </a:moveTo>
                <a:lnTo>
                  <a:pt x="2178" y="0"/>
                </a:lnTo>
                <a:lnTo>
                  <a:pt x="2178" y="1302"/>
                </a:lnTo>
                <a:lnTo>
                  <a:pt x="0" y="1302"/>
                </a:lnTo>
                <a:lnTo>
                  <a:pt x="0" y="133"/>
                </a:lnTo>
                <a:lnTo>
                  <a:pt x="242" y="133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0" name="Line 39"/>
          <p:cNvSpPr>
            <a:spLocks noChangeShapeType="1"/>
          </p:cNvSpPr>
          <p:nvPr/>
        </p:nvSpPr>
        <p:spPr bwMode="auto">
          <a:xfrm>
            <a:off x="2882900" y="29083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1" name="Line 40"/>
          <p:cNvSpPr>
            <a:spLocks noChangeShapeType="1"/>
          </p:cNvSpPr>
          <p:nvPr/>
        </p:nvSpPr>
        <p:spPr bwMode="auto">
          <a:xfrm>
            <a:off x="3149600" y="2457450"/>
            <a:ext cx="0" cy="2806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2" name="Rectangle 41"/>
          <p:cNvSpPr>
            <a:spLocks noChangeArrowheads="1"/>
          </p:cNvSpPr>
          <p:nvPr/>
        </p:nvSpPr>
        <p:spPr bwMode="auto">
          <a:xfrm>
            <a:off x="2843213" y="5246688"/>
            <a:ext cx="74930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OpCode</a:t>
            </a:r>
          </a:p>
        </p:txBody>
      </p:sp>
      <p:sp>
        <p:nvSpPr>
          <p:cNvPr id="64533" name="Rectangle 42"/>
          <p:cNvSpPr>
            <a:spLocks noChangeArrowheads="1"/>
          </p:cNvSpPr>
          <p:nvPr/>
        </p:nvSpPr>
        <p:spPr bwMode="auto">
          <a:xfrm>
            <a:off x="1700213" y="1698625"/>
            <a:ext cx="427037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0x4</a:t>
            </a:r>
          </a:p>
        </p:txBody>
      </p:sp>
      <p:sp>
        <p:nvSpPr>
          <p:cNvPr id="64534" name="Freeform 43"/>
          <p:cNvSpPr>
            <a:spLocks/>
          </p:cNvSpPr>
          <p:nvPr/>
        </p:nvSpPr>
        <p:spPr bwMode="auto">
          <a:xfrm>
            <a:off x="2120900" y="1739900"/>
            <a:ext cx="382588" cy="611188"/>
          </a:xfrm>
          <a:custGeom>
            <a:avLst/>
            <a:gdLst>
              <a:gd name="T0" fmla="*/ 0 w 241"/>
              <a:gd name="T1" fmla="*/ 0 h 385"/>
              <a:gd name="T2" fmla="*/ 0 w 241"/>
              <a:gd name="T3" fmla="*/ 160 h 385"/>
              <a:gd name="T4" fmla="*/ 48 w 241"/>
              <a:gd name="T5" fmla="*/ 192 h 385"/>
              <a:gd name="T6" fmla="*/ 0 w 241"/>
              <a:gd name="T7" fmla="*/ 224 h 385"/>
              <a:gd name="T8" fmla="*/ 0 w 241"/>
              <a:gd name="T9" fmla="*/ 384 h 385"/>
              <a:gd name="T10" fmla="*/ 240 w 241"/>
              <a:gd name="T11" fmla="*/ 288 h 385"/>
              <a:gd name="T12" fmla="*/ 240 w 241"/>
              <a:gd name="T13" fmla="*/ 96 h 385"/>
              <a:gd name="T14" fmla="*/ 0 w 241"/>
              <a:gd name="T15" fmla="*/ 0 h 38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1"/>
              <a:gd name="T25" fmla="*/ 0 h 385"/>
              <a:gd name="T26" fmla="*/ 241 w 241"/>
              <a:gd name="T27" fmla="*/ 385 h 38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5" name="Line 44"/>
          <p:cNvSpPr>
            <a:spLocks noChangeShapeType="1"/>
          </p:cNvSpPr>
          <p:nvPr/>
        </p:nvSpPr>
        <p:spPr bwMode="auto">
          <a:xfrm>
            <a:off x="2051050" y="18161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36" name="Rectangle 45"/>
          <p:cNvSpPr>
            <a:spLocks noChangeArrowheads="1"/>
          </p:cNvSpPr>
          <p:nvPr/>
        </p:nvSpPr>
        <p:spPr bwMode="auto">
          <a:xfrm>
            <a:off x="2144713" y="1949450"/>
            <a:ext cx="40640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Add</a:t>
            </a:r>
          </a:p>
        </p:txBody>
      </p:sp>
      <p:sp>
        <p:nvSpPr>
          <p:cNvPr id="64537" name="Rectangle 46"/>
          <p:cNvSpPr>
            <a:spLocks noChangeArrowheads="1"/>
          </p:cNvSpPr>
          <p:nvPr/>
        </p:nvSpPr>
        <p:spPr bwMode="auto">
          <a:xfrm>
            <a:off x="1484313" y="3121025"/>
            <a:ext cx="3365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clk</a:t>
            </a:r>
          </a:p>
        </p:txBody>
      </p:sp>
      <p:sp>
        <p:nvSpPr>
          <p:cNvPr id="64538" name="Line 47"/>
          <p:cNvSpPr>
            <a:spLocks noChangeShapeType="1"/>
          </p:cNvSpPr>
          <p:nvPr/>
        </p:nvSpPr>
        <p:spPr bwMode="auto">
          <a:xfrm>
            <a:off x="1684338" y="3048000"/>
            <a:ext cx="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1495425" y="2466975"/>
            <a:ext cx="1416050" cy="1060450"/>
            <a:chOff x="942" y="1554"/>
            <a:chExt cx="892" cy="668"/>
          </a:xfrm>
        </p:grpSpPr>
        <p:sp>
          <p:nvSpPr>
            <p:cNvPr id="64581" name="Freeform 49"/>
            <p:cNvSpPr>
              <a:spLocks/>
            </p:cNvSpPr>
            <p:nvPr/>
          </p:nvSpPr>
          <p:spPr bwMode="auto">
            <a:xfrm>
              <a:off x="1127" y="1738"/>
              <a:ext cx="193" cy="1"/>
            </a:xfrm>
            <a:custGeom>
              <a:avLst/>
              <a:gdLst>
                <a:gd name="T0" fmla="*/ 0 w 193"/>
                <a:gd name="T1" fmla="*/ 0 h 1"/>
                <a:gd name="T2" fmla="*/ 144 w 193"/>
                <a:gd name="T3" fmla="*/ 0 h 1"/>
                <a:gd name="T4" fmla="*/ 192 w 193"/>
                <a:gd name="T5" fmla="*/ 0 h 1"/>
                <a:gd name="T6" fmla="*/ 0 60000 65536"/>
                <a:gd name="T7" fmla="*/ 0 60000 65536"/>
                <a:gd name="T8" fmla="*/ 0 60000 65536"/>
                <a:gd name="T9" fmla="*/ 0 w 193"/>
                <a:gd name="T10" fmla="*/ 0 h 1"/>
                <a:gd name="T11" fmla="*/ 193 w 1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1">
                  <a:moveTo>
                    <a:pt x="0" y="0"/>
                  </a:moveTo>
                  <a:lnTo>
                    <a:pt x="144" y="0"/>
                  </a:lnTo>
                  <a:lnTo>
                    <a:pt x="19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50"/>
            <p:cNvGrpSpPr>
              <a:grpSpLocks/>
            </p:cNvGrpSpPr>
            <p:nvPr/>
          </p:nvGrpSpPr>
          <p:grpSpPr bwMode="auto">
            <a:xfrm>
              <a:off x="1298" y="1621"/>
              <a:ext cx="536" cy="601"/>
              <a:chOff x="1298" y="1621"/>
              <a:chExt cx="536" cy="601"/>
            </a:xfrm>
          </p:grpSpPr>
          <p:sp>
            <p:nvSpPr>
              <p:cNvPr id="64587" name="Rectangle 51"/>
              <p:cNvSpPr>
                <a:spLocks noChangeArrowheads="1"/>
              </p:cNvSpPr>
              <p:nvPr/>
            </p:nvSpPr>
            <p:spPr bwMode="auto">
              <a:xfrm>
                <a:off x="1331" y="1623"/>
                <a:ext cx="472" cy="58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588" name="Rectangle 52"/>
              <p:cNvSpPr>
                <a:spLocks noChangeArrowheads="1"/>
              </p:cNvSpPr>
              <p:nvPr/>
            </p:nvSpPr>
            <p:spPr bwMode="auto">
              <a:xfrm>
                <a:off x="1298" y="1621"/>
                <a:ext cx="30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addr</a:t>
                </a:r>
              </a:p>
            </p:txBody>
          </p:sp>
          <p:sp>
            <p:nvSpPr>
              <p:cNvPr id="64589" name="Rectangle 53"/>
              <p:cNvSpPr>
                <a:spLocks noChangeArrowheads="1"/>
              </p:cNvSpPr>
              <p:nvPr/>
            </p:nvSpPr>
            <p:spPr bwMode="auto">
              <a:xfrm>
                <a:off x="1571" y="1725"/>
                <a:ext cx="26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inst</a:t>
                </a:r>
              </a:p>
            </p:txBody>
          </p:sp>
          <p:sp>
            <p:nvSpPr>
              <p:cNvPr id="64590" name="Rectangle 54"/>
              <p:cNvSpPr>
                <a:spLocks noChangeArrowheads="1"/>
              </p:cNvSpPr>
              <p:nvPr/>
            </p:nvSpPr>
            <p:spPr bwMode="auto">
              <a:xfrm>
                <a:off x="1305" y="1898"/>
                <a:ext cx="518" cy="32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Inst.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Memory</a:t>
                </a:r>
              </a:p>
            </p:txBody>
          </p:sp>
        </p:grpSp>
        <p:sp>
          <p:nvSpPr>
            <p:cNvPr id="64583" name="Rectangle 55"/>
            <p:cNvSpPr>
              <a:spLocks noChangeArrowheads="1"/>
            </p:cNvSpPr>
            <p:nvPr/>
          </p:nvSpPr>
          <p:spPr bwMode="auto">
            <a:xfrm>
              <a:off x="991" y="1554"/>
              <a:ext cx="12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4" name="Line 56"/>
            <p:cNvSpPr>
              <a:spLocks noChangeShapeType="1"/>
            </p:cNvSpPr>
            <p:nvPr/>
          </p:nvSpPr>
          <p:spPr bwMode="auto">
            <a:xfrm>
              <a:off x="1135" y="1738"/>
              <a:ext cx="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5" name="Rectangle 57"/>
            <p:cNvSpPr>
              <a:spLocks noChangeArrowheads="1"/>
            </p:cNvSpPr>
            <p:nvPr/>
          </p:nvSpPr>
          <p:spPr bwMode="auto">
            <a:xfrm>
              <a:off x="942" y="1664"/>
              <a:ext cx="247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PC</a:t>
              </a:r>
            </a:p>
          </p:txBody>
        </p:sp>
        <p:sp>
          <p:nvSpPr>
            <p:cNvPr id="64586" name="Freeform 58"/>
            <p:cNvSpPr>
              <a:spLocks/>
            </p:cNvSpPr>
            <p:nvPr/>
          </p:nvSpPr>
          <p:spPr bwMode="auto">
            <a:xfrm>
              <a:off x="1031" y="1874"/>
              <a:ext cx="49" cy="49"/>
            </a:xfrm>
            <a:custGeom>
              <a:avLst/>
              <a:gdLst>
                <a:gd name="T0" fmla="*/ 0 w 49"/>
                <a:gd name="T1" fmla="*/ 48 h 49"/>
                <a:gd name="T2" fmla="*/ 24 w 49"/>
                <a:gd name="T3" fmla="*/ 0 h 49"/>
                <a:gd name="T4" fmla="*/ 48 w 49"/>
                <a:gd name="T5" fmla="*/ 48 h 49"/>
                <a:gd name="T6" fmla="*/ 0 60000 65536"/>
                <a:gd name="T7" fmla="*/ 0 60000 65536"/>
                <a:gd name="T8" fmla="*/ 0 60000 65536"/>
                <a:gd name="T9" fmla="*/ 0 w 49"/>
                <a:gd name="T10" fmla="*/ 0 h 49"/>
                <a:gd name="T11" fmla="*/ 49 w 4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59"/>
          <p:cNvGrpSpPr>
            <a:grpSpLocks/>
          </p:cNvGrpSpPr>
          <p:nvPr/>
        </p:nvGrpSpPr>
        <p:grpSpPr bwMode="auto">
          <a:xfrm>
            <a:off x="6734182" y="2587625"/>
            <a:ext cx="477838" cy="611188"/>
            <a:chOff x="4063" y="1630"/>
            <a:chExt cx="301" cy="385"/>
          </a:xfrm>
        </p:grpSpPr>
        <p:sp>
          <p:nvSpPr>
            <p:cNvPr id="64579" name="Freeform 62"/>
            <p:cNvSpPr>
              <a:spLocks/>
            </p:cNvSpPr>
            <p:nvPr/>
          </p:nvSpPr>
          <p:spPr bwMode="auto">
            <a:xfrm>
              <a:off x="4085" y="1630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0" name="Rectangle 63"/>
            <p:cNvSpPr>
              <a:spLocks noChangeArrowheads="1"/>
            </p:cNvSpPr>
            <p:nvPr/>
          </p:nvSpPr>
          <p:spPr bwMode="auto">
            <a:xfrm>
              <a:off x="4063" y="1749"/>
              <a:ext cx="301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ALU</a:t>
              </a:r>
            </a:p>
          </p:txBody>
        </p:sp>
      </p:grpSp>
      <p:sp>
        <p:nvSpPr>
          <p:cNvPr id="64541" name="Rectangle 64"/>
          <p:cNvSpPr>
            <a:spLocks noChangeArrowheads="1"/>
          </p:cNvSpPr>
          <p:nvPr/>
        </p:nvSpPr>
        <p:spPr bwMode="auto">
          <a:xfrm>
            <a:off x="4343400" y="1600200"/>
            <a:ext cx="1009517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RegWriteEn</a:t>
            </a:r>
            <a:endParaRPr lang="en-US" sz="1200" dirty="0">
              <a:solidFill>
                <a:srgbClr val="56127A"/>
              </a:solidFill>
            </a:endParaRPr>
          </a:p>
        </p:txBody>
      </p:sp>
      <p:grpSp>
        <p:nvGrpSpPr>
          <p:cNvPr id="10" name="Group 65"/>
          <p:cNvGrpSpPr>
            <a:grpSpLocks/>
          </p:cNvGrpSpPr>
          <p:nvPr/>
        </p:nvGrpSpPr>
        <p:grpSpPr bwMode="auto">
          <a:xfrm>
            <a:off x="4356100" y="1841500"/>
            <a:ext cx="749300" cy="1531938"/>
            <a:chOff x="2744" y="1160"/>
            <a:chExt cx="472" cy="965"/>
          </a:xfrm>
        </p:grpSpPr>
        <p:sp>
          <p:nvSpPr>
            <p:cNvPr id="64563" name="Rectangle 66"/>
            <p:cNvSpPr>
              <a:spLocks noChangeArrowheads="1"/>
            </p:cNvSpPr>
            <p:nvPr/>
          </p:nvSpPr>
          <p:spPr bwMode="auto">
            <a:xfrm>
              <a:off x="2744" y="1160"/>
              <a:ext cx="212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64564" name="Line 67"/>
            <p:cNvSpPr>
              <a:spLocks noChangeShapeType="1"/>
            </p:cNvSpPr>
            <p:nvPr/>
          </p:nvSpPr>
          <p:spPr bwMode="auto">
            <a:xfrm>
              <a:off x="2839" y="1323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5" name="Freeform 68"/>
            <p:cNvSpPr>
              <a:spLocks/>
            </p:cNvSpPr>
            <p:nvPr/>
          </p:nvSpPr>
          <p:spPr bwMode="auto">
            <a:xfrm>
              <a:off x="3009" y="1180"/>
              <a:ext cx="1" cy="233"/>
            </a:xfrm>
            <a:custGeom>
              <a:avLst/>
              <a:gdLst>
                <a:gd name="T0" fmla="*/ 0 w 1"/>
                <a:gd name="T1" fmla="*/ 0 h 233"/>
                <a:gd name="T2" fmla="*/ 0 w 1"/>
                <a:gd name="T3" fmla="*/ 232 h 233"/>
                <a:gd name="T4" fmla="*/ 0 60000 65536"/>
                <a:gd name="T5" fmla="*/ 0 60000 65536"/>
                <a:gd name="T6" fmla="*/ 0 w 1"/>
                <a:gd name="T7" fmla="*/ 0 h 233"/>
                <a:gd name="T8" fmla="*/ 1 w 1"/>
                <a:gd name="T9" fmla="*/ 233 h 2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33">
                  <a:moveTo>
                    <a:pt x="0" y="0"/>
                  </a:moveTo>
                  <a:lnTo>
                    <a:pt x="0" y="232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6" name="Rectangle 69"/>
            <p:cNvSpPr>
              <a:spLocks noChangeArrowheads="1"/>
            </p:cNvSpPr>
            <p:nvPr/>
          </p:nvSpPr>
          <p:spPr bwMode="auto">
            <a:xfrm>
              <a:off x="2799" y="1411"/>
              <a:ext cx="368" cy="68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7" name="Rectangle 70"/>
            <p:cNvSpPr>
              <a:spLocks noChangeArrowheads="1"/>
            </p:cNvSpPr>
            <p:nvPr/>
          </p:nvSpPr>
          <p:spPr bwMode="auto">
            <a:xfrm>
              <a:off x="2958" y="1661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rd1</a:t>
              </a:r>
            </a:p>
          </p:txBody>
        </p:sp>
        <p:sp>
          <p:nvSpPr>
            <p:cNvPr id="64568" name="Rectangle 71"/>
            <p:cNvSpPr>
              <a:spLocks noChangeArrowheads="1"/>
            </p:cNvSpPr>
            <p:nvPr/>
          </p:nvSpPr>
          <p:spPr bwMode="auto">
            <a:xfrm>
              <a:off x="2783" y="1935"/>
              <a:ext cx="413" cy="19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GPRs</a:t>
              </a:r>
            </a:p>
          </p:txBody>
        </p:sp>
        <p:sp>
          <p:nvSpPr>
            <p:cNvPr id="64569" name="Rectangle 72"/>
            <p:cNvSpPr>
              <a:spLocks noChangeArrowheads="1"/>
            </p:cNvSpPr>
            <p:nvPr/>
          </p:nvSpPr>
          <p:spPr bwMode="auto">
            <a:xfrm>
              <a:off x="2766" y="1465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rs1</a:t>
              </a:r>
            </a:p>
          </p:txBody>
        </p:sp>
        <p:sp>
          <p:nvSpPr>
            <p:cNvPr id="64570" name="Rectangle 73"/>
            <p:cNvSpPr>
              <a:spLocks noChangeArrowheads="1"/>
            </p:cNvSpPr>
            <p:nvPr/>
          </p:nvSpPr>
          <p:spPr bwMode="auto">
            <a:xfrm>
              <a:off x="2766" y="1561"/>
              <a:ext cx="24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rs2</a:t>
              </a:r>
            </a:p>
          </p:txBody>
        </p:sp>
        <p:sp>
          <p:nvSpPr>
            <p:cNvPr id="64571" name="Rectangle 74"/>
            <p:cNvSpPr>
              <a:spLocks noChangeArrowheads="1"/>
            </p:cNvSpPr>
            <p:nvPr/>
          </p:nvSpPr>
          <p:spPr bwMode="auto">
            <a:xfrm>
              <a:off x="2766" y="1745"/>
              <a:ext cx="239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wa</a:t>
              </a:r>
              <a:endParaRPr lang="en-US" sz="1200" dirty="0">
                <a:solidFill>
                  <a:srgbClr val="56127A"/>
                </a:solidFill>
              </a:endParaRPr>
            </a:p>
          </p:txBody>
        </p:sp>
        <p:sp>
          <p:nvSpPr>
            <p:cNvPr id="64572" name="Rectangle 75"/>
            <p:cNvSpPr>
              <a:spLocks noChangeArrowheads="1"/>
            </p:cNvSpPr>
            <p:nvPr/>
          </p:nvSpPr>
          <p:spPr bwMode="auto">
            <a:xfrm>
              <a:off x="2766" y="1839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wd</a:t>
              </a:r>
            </a:p>
          </p:txBody>
        </p:sp>
        <p:sp>
          <p:nvSpPr>
            <p:cNvPr id="64573" name="Rectangle 76"/>
            <p:cNvSpPr>
              <a:spLocks noChangeArrowheads="1"/>
            </p:cNvSpPr>
            <p:nvPr/>
          </p:nvSpPr>
          <p:spPr bwMode="auto">
            <a:xfrm>
              <a:off x="2963" y="1840"/>
              <a:ext cx="25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rd2</a:t>
              </a:r>
            </a:p>
          </p:txBody>
        </p:sp>
        <p:sp>
          <p:nvSpPr>
            <p:cNvPr id="64574" name="Rectangle 77"/>
            <p:cNvSpPr>
              <a:spLocks noChangeArrowheads="1"/>
            </p:cNvSpPr>
            <p:nvPr/>
          </p:nvSpPr>
          <p:spPr bwMode="auto">
            <a:xfrm>
              <a:off x="2894" y="1361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we</a:t>
              </a:r>
            </a:p>
          </p:txBody>
        </p:sp>
        <p:sp>
          <p:nvSpPr>
            <p:cNvPr id="64575" name="Line 78"/>
            <p:cNvSpPr>
              <a:spLocks noChangeShapeType="1"/>
            </p:cNvSpPr>
            <p:nvPr/>
          </p:nvSpPr>
          <p:spPr bwMode="auto">
            <a:xfrm>
              <a:off x="2815" y="1407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76" name="Line 79"/>
            <p:cNvSpPr>
              <a:spLocks noChangeShapeType="1"/>
            </p:cNvSpPr>
            <p:nvPr/>
          </p:nvSpPr>
          <p:spPr bwMode="auto">
            <a:xfrm flipH="1">
              <a:off x="2842" y="1410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4543" name="Freeform 80"/>
          <p:cNvSpPr>
            <a:spLocks/>
          </p:cNvSpPr>
          <p:nvPr/>
        </p:nvSpPr>
        <p:spPr bwMode="auto">
          <a:xfrm>
            <a:off x="1854200" y="2238375"/>
            <a:ext cx="266700" cy="528638"/>
          </a:xfrm>
          <a:custGeom>
            <a:avLst/>
            <a:gdLst>
              <a:gd name="T0" fmla="*/ 1 w 168"/>
              <a:gd name="T1" fmla="*/ 333 h 333"/>
              <a:gd name="T2" fmla="*/ 0 w 168"/>
              <a:gd name="T3" fmla="*/ 5 h 333"/>
              <a:gd name="T4" fmla="*/ 5 w 168"/>
              <a:gd name="T5" fmla="*/ 0 h 333"/>
              <a:gd name="T6" fmla="*/ 168 w 168"/>
              <a:gd name="T7" fmla="*/ 4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333"/>
              <a:gd name="T14" fmla="*/ 168 w 168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333">
                <a:moveTo>
                  <a:pt x="1" y="333"/>
                </a:moveTo>
                <a:lnTo>
                  <a:pt x="0" y="5"/>
                </a:lnTo>
                <a:lnTo>
                  <a:pt x="5" y="0"/>
                </a:lnTo>
                <a:lnTo>
                  <a:pt x="168" y="4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44" name="Freeform 81"/>
          <p:cNvSpPr>
            <a:spLocks/>
          </p:cNvSpPr>
          <p:nvPr/>
        </p:nvSpPr>
        <p:spPr bwMode="auto">
          <a:xfrm>
            <a:off x="3141663" y="2633663"/>
            <a:ext cx="1296987" cy="1587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45" name="Rectangle 82"/>
          <p:cNvSpPr>
            <a:spLocks noChangeArrowheads="1"/>
          </p:cNvSpPr>
          <p:nvPr/>
        </p:nvSpPr>
        <p:spPr bwMode="auto">
          <a:xfrm>
            <a:off x="3090863" y="2216150"/>
            <a:ext cx="7475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&lt;26:22&gt;</a:t>
            </a:r>
          </a:p>
        </p:txBody>
      </p:sp>
      <p:sp>
        <p:nvSpPr>
          <p:cNvPr id="64546" name="Rectangle 83"/>
          <p:cNvSpPr>
            <a:spLocks noChangeArrowheads="1"/>
          </p:cNvSpPr>
          <p:nvPr/>
        </p:nvSpPr>
        <p:spPr bwMode="auto">
          <a:xfrm>
            <a:off x="3100388" y="2419350"/>
            <a:ext cx="7475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&lt;21:17&gt;</a:t>
            </a:r>
          </a:p>
        </p:txBody>
      </p:sp>
      <p:sp>
        <p:nvSpPr>
          <p:cNvPr id="64548" name="Line 85"/>
          <p:cNvSpPr>
            <a:spLocks noChangeShapeType="1"/>
          </p:cNvSpPr>
          <p:nvPr/>
        </p:nvSpPr>
        <p:spPr bwMode="auto">
          <a:xfrm>
            <a:off x="4500563" y="3103563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49" name="Freeform 86"/>
          <p:cNvSpPr>
            <a:spLocks/>
          </p:cNvSpPr>
          <p:nvPr/>
        </p:nvSpPr>
        <p:spPr bwMode="auto">
          <a:xfrm>
            <a:off x="3144838" y="2444750"/>
            <a:ext cx="1296987" cy="1588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1719" name="Rectangle 87"/>
          <p:cNvSpPr>
            <a:spLocks noChangeArrowheads="1"/>
          </p:cNvSpPr>
          <p:nvPr/>
        </p:nvSpPr>
        <p:spPr bwMode="auto">
          <a:xfrm>
            <a:off x="5260444" y="5288166"/>
            <a:ext cx="7472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FuncSel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1221720" name="Line 88"/>
          <p:cNvSpPr>
            <a:spLocks noChangeShapeType="1"/>
          </p:cNvSpPr>
          <p:nvPr/>
        </p:nvSpPr>
        <p:spPr bwMode="auto">
          <a:xfrm flipV="1">
            <a:off x="5567363" y="4189413"/>
            <a:ext cx="0" cy="10795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2" name="Rectangle 89"/>
          <p:cNvSpPr>
            <a:spLocks noChangeArrowheads="1"/>
          </p:cNvSpPr>
          <p:nvPr/>
        </p:nvSpPr>
        <p:spPr bwMode="auto">
          <a:xfrm>
            <a:off x="5275263" y="3870325"/>
            <a:ext cx="584200" cy="317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3" name="Rectangle 90"/>
          <p:cNvSpPr>
            <a:spLocks noChangeArrowheads="1"/>
          </p:cNvSpPr>
          <p:nvPr/>
        </p:nvSpPr>
        <p:spPr bwMode="auto">
          <a:xfrm>
            <a:off x="5233988" y="3856038"/>
            <a:ext cx="671512" cy="3619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ALU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Control</a:t>
            </a:r>
          </a:p>
        </p:txBody>
      </p:sp>
      <p:sp>
        <p:nvSpPr>
          <p:cNvPr id="64554" name="Freeform 91"/>
          <p:cNvSpPr>
            <a:spLocks/>
          </p:cNvSpPr>
          <p:nvPr/>
        </p:nvSpPr>
        <p:spPr bwMode="auto">
          <a:xfrm>
            <a:off x="5029200" y="2681284"/>
            <a:ext cx="1752600" cy="61915"/>
          </a:xfrm>
          <a:custGeom>
            <a:avLst/>
            <a:gdLst>
              <a:gd name="T0" fmla="*/ 0 w 897"/>
              <a:gd name="T1" fmla="*/ 0 h 1"/>
              <a:gd name="T2" fmla="*/ 896 w 897"/>
              <a:gd name="T3" fmla="*/ 0 h 1"/>
              <a:gd name="T4" fmla="*/ 0 60000 65536"/>
              <a:gd name="T5" fmla="*/ 0 60000 65536"/>
              <a:gd name="T6" fmla="*/ 0 w 897"/>
              <a:gd name="T7" fmla="*/ 0 h 1"/>
              <a:gd name="T8" fmla="*/ 897 w 89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7" h="1">
                <a:moveTo>
                  <a:pt x="0" y="0"/>
                </a:moveTo>
                <a:lnTo>
                  <a:pt x="89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5" name="Freeform 92"/>
          <p:cNvSpPr>
            <a:spLocks/>
          </p:cNvSpPr>
          <p:nvPr/>
        </p:nvSpPr>
        <p:spPr bwMode="auto">
          <a:xfrm>
            <a:off x="5851524" y="3114675"/>
            <a:ext cx="1158875" cy="849313"/>
          </a:xfrm>
          <a:custGeom>
            <a:avLst/>
            <a:gdLst>
              <a:gd name="T0" fmla="*/ 0 w 544"/>
              <a:gd name="T1" fmla="*/ 535 h 535"/>
              <a:gd name="T2" fmla="*/ 544 w 544"/>
              <a:gd name="T3" fmla="*/ 535 h 535"/>
              <a:gd name="T4" fmla="*/ 540 w 544"/>
              <a:gd name="T5" fmla="*/ 0 h 535"/>
              <a:gd name="T6" fmla="*/ 0 60000 65536"/>
              <a:gd name="T7" fmla="*/ 0 60000 65536"/>
              <a:gd name="T8" fmla="*/ 0 60000 65536"/>
              <a:gd name="T9" fmla="*/ 0 w 544"/>
              <a:gd name="T10" fmla="*/ 0 h 535"/>
              <a:gd name="T11" fmla="*/ 544 w 544"/>
              <a:gd name="T12" fmla="*/ 535 h 5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4" h="535">
                <a:moveTo>
                  <a:pt x="0" y="535"/>
                </a:moveTo>
                <a:lnTo>
                  <a:pt x="544" y="535"/>
                </a:lnTo>
                <a:lnTo>
                  <a:pt x="540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6" name="Freeform 93"/>
          <p:cNvSpPr>
            <a:spLocks/>
          </p:cNvSpPr>
          <p:nvPr/>
        </p:nvSpPr>
        <p:spPr bwMode="auto">
          <a:xfrm>
            <a:off x="3144838" y="3992563"/>
            <a:ext cx="2141537" cy="74612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7" name="Freeform 94"/>
          <p:cNvSpPr>
            <a:spLocks/>
          </p:cNvSpPr>
          <p:nvPr/>
        </p:nvSpPr>
        <p:spPr bwMode="auto">
          <a:xfrm>
            <a:off x="1055688" y="1412875"/>
            <a:ext cx="1755775" cy="1341438"/>
          </a:xfrm>
          <a:custGeom>
            <a:avLst/>
            <a:gdLst>
              <a:gd name="T0" fmla="*/ 921 w 1106"/>
              <a:gd name="T1" fmla="*/ 410 h 845"/>
              <a:gd name="T2" fmla="*/ 1104 w 1106"/>
              <a:gd name="T3" fmla="*/ 409 h 845"/>
              <a:gd name="T4" fmla="*/ 1106 w 1106"/>
              <a:gd name="T5" fmla="*/ 1 h 845"/>
              <a:gd name="T6" fmla="*/ 775 w 1106"/>
              <a:gd name="T7" fmla="*/ 0 h 845"/>
              <a:gd name="T8" fmla="*/ 2 w 1106"/>
              <a:gd name="T9" fmla="*/ 1 h 845"/>
              <a:gd name="T10" fmla="*/ 0 w 1106"/>
              <a:gd name="T11" fmla="*/ 845 h 845"/>
              <a:gd name="T12" fmla="*/ 335 w 1106"/>
              <a:gd name="T13" fmla="*/ 845 h 8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106"/>
              <a:gd name="T22" fmla="*/ 0 h 845"/>
              <a:gd name="T23" fmla="*/ 1106 w 1106"/>
              <a:gd name="T24" fmla="*/ 845 h 8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106" h="845">
                <a:moveTo>
                  <a:pt x="921" y="410"/>
                </a:moveTo>
                <a:lnTo>
                  <a:pt x="1104" y="409"/>
                </a:lnTo>
                <a:lnTo>
                  <a:pt x="1106" y="1"/>
                </a:lnTo>
                <a:lnTo>
                  <a:pt x="775" y="0"/>
                </a:lnTo>
                <a:lnTo>
                  <a:pt x="2" y="1"/>
                </a:lnTo>
                <a:lnTo>
                  <a:pt x="0" y="845"/>
                </a:lnTo>
                <a:lnTo>
                  <a:pt x="335" y="84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8" name="Freeform 95"/>
          <p:cNvSpPr>
            <a:spLocks/>
          </p:cNvSpPr>
          <p:nvPr/>
        </p:nvSpPr>
        <p:spPr bwMode="auto">
          <a:xfrm>
            <a:off x="5060950" y="3276600"/>
            <a:ext cx="1362637" cy="309563"/>
          </a:xfrm>
          <a:custGeom>
            <a:avLst/>
            <a:gdLst>
              <a:gd name="T0" fmla="*/ 0 w 889"/>
              <a:gd name="T1" fmla="*/ 298 h 299"/>
              <a:gd name="T2" fmla="*/ 277 w 889"/>
              <a:gd name="T3" fmla="*/ 298 h 299"/>
              <a:gd name="T4" fmla="*/ 277 w 889"/>
              <a:gd name="T5" fmla="*/ 0 h 299"/>
              <a:gd name="T6" fmla="*/ 888 w 889"/>
              <a:gd name="T7" fmla="*/ 0 h 299"/>
              <a:gd name="T8" fmla="*/ 0 60000 65536"/>
              <a:gd name="T9" fmla="*/ 0 60000 65536"/>
              <a:gd name="T10" fmla="*/ 0 60000 65536"/>
              <a:gd name="T11" fmla="*/ 0 60000 65536"/>
              <a:gd name="T12" fmla="*/ 0 w 889"/>
              <a:gd name="T13" fmla="*/ 0 h 299"/>
              <a:gd name="T14" fmla="*/ 889 w 889"/>
              <a:gd name="T15" fmla="*/ 299 h 29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9" h="299">
                <a:moveTo>
                  <a:pt x="0" y="298"/>
                </a:moveTo>
                <a:lnTo>
                  <a:pt x="277" y="298"/>
                </a:lnTo>
                <a:lnTo>
                  <a:pt x="277" y="0"/>
                </a:lnTo>
                <a:lnTo>
                  <a:pt x="888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59" name="Line 96"/>
          <p:cNvSpPr>
            <a:spLocks noChangeShapeType="1"/>
          </p:cNvSpPr>
          <p:nvPr/>
        </p:nvSpPr>
        <p:spPr bwMode="auto">
          <a:xfrm flipV="1">
            <a:off x="5041899" y="3032401"/>
            <a:ext cx="1394647" cy="289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62" name="Rectangle 99"/>
          <p:cNvSpPr>
            <a:spLocks noChangeArrowheads="1"/>
          </p:cNvSpPr>
          <p:nvPr/>
        </p:nvSpPr>
        <p:spPr bwMode="auto">
          <a:xfrm>
            <a:off x="3099169" y="2697366"/>
            <a:ext cx="7475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&lt;31:27&gt;</a:t>
            </a:r>
          </a:p>
        </p:txBody>
      </p:sp>
      <p:sp>
        <p:nvSpPr>
          <p:cNvPr id="101" name="Line 21"/>
          <p:cNvSpPr>
            <a:spLocks noChangeShapeType="1"/>
          </p:cNvSpPr>
          <p:nvPr/>
        </p:nvSpPr>
        <p:spPr bwMode="auto">
          <a:xfrm>
            <a:off x="4800600" y="62420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" name="Line 21"/>
          <p:cNvSpPr>
            <a:spLocks noChangeShapeType="1"/>
          </p:cNvSpPr>
          <p:nvPr/>
        </p:nvSpPr>
        <p:spPr bwMode="auto">
          <a:xfrm>
            <a:off x="4114800" y="62420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Rectangle 3"/>
          <p:cNvSpPr>
            <a:spLocks noChangeArrowheads="1"/>
          </p:cNvSpPr>
          <p:nvPr/>
        </p:nvSpPr>
        <p:spPr bwMode="auto">
          <a:xfrm>
            <a:off x="2667000" y="4800600"/>
            <a:ext cx="57640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&lt;6:0&gt;</a:t>
            </a:r>
          </a:p>
        </p:txBody>
      </p:sp>
      <p:sp>
        <p:nvSpPr>
          <p:cNvPr id="117" name="Freeform 97"/>
          <p:cNvSpPr>
            <a:spLocks/>
          </p:cNvSpPr>
          <p:nvPr/>
        </p:nvSpPr>
        <p:spPr bwMode="auto">
          <a:xfrm>
            <a:off x="3151806" y="2933086"/>
            <a:ext cx="1303586" cy="49604"/>
          </a:xfrm>
          <a:custGeom>
            <a:avLst/>
            <a:gdLst>
              <a:gd name="T0" fmla="*/ 0 w 436"/>
              <a:gd name="T1" fmla="*/ 0 h 1"/>
              <a:gd name="T2" fmla="*/ 435 w 436"/>
              <a:gd name="T3" fmla="*/ 0 h 1"/>
              <a:gd name="T4" fmla="*/ 0 60000 65536"/>
              <a:gd name="T5" fmla="*/ 0 60000 65536"/>
              <a:gd name="T6" fmla="*/ 0 w 436"/>
              <a:gd name="T7" fmla="*/ 0 h 1"/>
              <a:gd name="T8" fmla="*/ 436 w 43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36" h="1">
                <a:moveTo>
                  <a:pt x="0" y="0"/>
                </a:moveTo>
                <a:lnTo>
                  <a:pt x="435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067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122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21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1635" grpId="0" autoUpdateAnimBg="0"/>
      <p:bldP spid="1221655" grpId="0" autoUpdateAnimBg="0"/>
      <p:bldP spid="1221719" grpId="0"/>
      <p:bldP spid="12217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9533C9F-518F-7B4C-B1A3-BD706F0AA0C6}" type="slidenum">
              <a:rPr lang="en-US"/>
              <a:pPr/>
              <a:t>35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23682" name="Freeform 2"/>
          <p:cNvSpPr>
            <a:spLocks/>
          </p:cNvSpPr>
          <p:nvPr/>
        </p:nvSpPr>
        <p:spPr bwMode="auto">
          <a:xfrm>
            <a:off x="7532688" y="3006725"/>
            <a:ext cx="1004887" cy="136525"/>
          </a:xfrm>
          <a:custGeom>
            <a:avLst/>
            <a:gdLst>
              <a:gd name="T0" fmla="*/ 0 w 633"/>
              <a:gd name="T1" fmla="*/ 0 h 86"/>
              <a:gd name="T2" fmla="*/ 432 w 633"/>
              <a:gd name="T3" fmla="*/ 0 h 86"/>
              <a:gd name="T4" fmla="*/ 468 w 633"/>
              <a:gd name="T5" fmla="*/ 86 h 86"/>
              <a:gd name="T6" fmla="*/ 633 w 633"/>
              <a:gd name="T7" fmla="*/ 86 h 86"/>
              <a:gd name="T8" fmla="*/ 0 60000 65536"/>
              <a:gd name="T9" fmla="*/ 0 60000 65536"/>
              <a:gd name="T10" fmla="*/ 0 60000 65536"/>
              <a:gd name="T11" fmla="*/ 0 60000 65536"/>
              <a:gd name="T12" fmla="*/ 0 w 633"/>
              <a:gd name="T13" fmla="*/ 0 h 86"/>
              <a:gd name="T14" fmla="*/ 633 w 633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3" h="86">
                <a:moveTo>
                  <a:pt x="0" y="0"/>
                </a:moveTo>
                <a:lnTo>
                  <a:pt x="432" y="0"/>
                </a:lnTo>
                <a:lnTo>
                  <a:pt x="468" y="86"/>
                </a:lnTo>
                <a:lnTo>
                  <a:pt x="633" y="86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3683" name="Freeform 3"/>
          <p:cNvSpPr>
            <a:spLocks/>
          </p:cNvSpPr>
          <p:nvPr/>
        </p:nvSpPr>
        <p:spPr bwMode="auto">
          <a:xfrm>
            <a:off x="2071688" y="2917825"/>
            <a:ext cx="3384550" cy="481013"/>
          </a:xfrm>
          <a:custGeom>
            <a:avLst/>
            <a:gdLst>
              <a:gd name="T0" fmla="*/ 0 w 2132"/>
              <a:gd name="T1" fmla="*/ 284 h 303"/>
              <a:gd name="T2" fmla="*/ 344 w 2132"/>
              <a:gd name="T3" fmla="*/ 284 h 303"/>
              <a:gd name="T4" fmla="*/ 973 w 2132"/>
              <a:gd name="T5" fmla="*/ 289 h 303"/>
              <a:gd name="T6" fmla="*/ 1109 w 2132"/>
              <a:gd name="T7" fmla="*/ 303 h 303"/>
              <a:gd name="T8" fmla="*/ 1393 w 2132"/>
              <a:gd name="T9" fmla="*/ 303 h 303"/>
              <a:gd name="T10" fmla="*/ 1393 w 2132"/>
              <a:gd name="T11" fmla="*/ 48 h 303"/>
              <a:gd name="T12" fmla="*/ 1858 w 2132"/>
              <a:gd name="T13" fmla="*/ 48 h 303"/>
              <a:gd name="T14" fmla="*/ 1973 w 2132"/>
              <a:gd name="T15" fmla="*/ 0 h 303"/>
              <a:gd name="T16" fmla="*/ 2132 w 2132"/>
              <a:gd name="T17" fmla="*/ 0 h 30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32"/>
              <a:gd name="T28" fmla="*/ 0 h 303"/>
              <a:gd name="T29" fmla="*/ 2132 w 2132"/>
              <a:gd name="T30" fmla="*/ 303 h 30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32" h="303">
                <a:moveTo>
                  <a:pt x="0" y="284"/>
                </a:moveTo>
                <a:lnTo>
                  <a:pt x="344" y="284"/>
                </a:lnTo>
                <a:lnTo>
                  <a:pt x="973" y="289"/>
                </a:lnTo>
                <a:lnTo>
                  <a:pt x="1109" y="303"/>
                </a:lnTo>
                <a:lnTo>
                  <a:pt x="1393" y="303"/>
                </a:lnTo>
                <a:lnTo>
                  <a:pt x="1393" y="48"/>
                </a:lnTo>
                <a:lnTo>
                  <a:pt x="1858" y="48"/>
                </a:lnTo>
                <a:lnTo>
                  <a:pt x="1973" y="0"/>
                </a:lnTo>
                <a:lnTo>
                  <a:pt x="2132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3684" name="Freeform 4"/>
          <p:cNvSpPr>
            <a:spLocks/>
          </p:cNvSpPr>
          <p:nvPr/>
        </p:nvSpPr>
        <p:spPr bwMode="auto">
          <a:xfrm>
            <a:off x="2963863" y="2773363"/>
            <a:ext cx="5570537" cy="1844675"/>
          </a:xfrm>
          <a:custGeom>
            <a:avLst/>
            <a:gdLst>
              <a:gd name="T0" fmla="*/ 3509 w 3509"/>
              <a:gd name="T1" fmla="*/ 235 h 1162"/>
              <a:gd name="T2" fmla="*/ 3504 w 3509"/>
              <a:gd name="T3" fmla="*/ 1162 h 1162"/>
              <a:gd name="T4" fmla="*/ 5 w 3509"/>
              <a:gd name="T5" fmla="*/ 1152 h 1162"/>
              <a:gd name="T6" fmla="*/ 0 w 3509"/>
              <a:gd name="T7" fmla="*/ 0 h 1162"/>
              <a:gd name="T8" fmla="*/ 250 w 3509"/>
              <a:gd name="T9" fmla="*/ 0 h 1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09"/>
              <a:gd name="T16" fmla="*/ 0 h 1162"/>
              <a:gd name="T17" fmla="*/ 3509 w 3509"/>
              <a:gd name="T18" fmla="*/ 1162 h 1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09" h="1162">
                <a:moveTo>
                  <a:pt x="3509" y="235"/>
                </a:moveTo>
                <a:lnTo>
                  <a:pt x="3504" y="1162"/>
                </a:lnTo>
                <a:lnTo>
                  <a:pt x="5" y="1152"/>
                </a:lnTo>
                <a:lnTo>
                  <a:pt x="0" y="0"/>
                </a:lnTo>
                <a:lnTo>
                  <a:pt x="250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3685" name="Freeform 5"/>
          <p:cNvSpPr>
            <a:spLocks/>
          </p:cNvSpPr>
          <p:nvPr/>
        </p:nvSpPr>
        <p:spPr bwMode="auto">
          <a:xfrm>
            <a:off x="2046288" y="2160588"/>
            <a:ext cx="4735512" cy="468312"/>
          </a:xfrm>
          <a:custGeom>
            <a:avLst/>
            <a:gdLst>
              <a:gd name="T0" fmla="*/ 0 w 2983"/>
              <a:gd name="T1" fmla="*/ 0 h 295"/>
              <a:gd name="T2" fmla="*/ 849 w 2983"/>
              <a:gd name="T3" fmla="*/ 0 h 295"/>
              <a:gd name="T4" fmla="*/ 1058 w 2983"/>
              <a:gd name="T5" fmla="*/ 187 h 295"/>
              <a:gd name="T6" fmla="*/ 2172 w 2983"/>
              <a:gd name="T7" fmla="*/ 194 h 295"/>
              <a:gd name="T8" fmla="*/ 2277 w 2983"/>
              <a:gd name="T9" fmla="*/ 295 h 295"/>
              <a:gd name="T10" fmla="*/ 2983 w 2983"/>
              <a:gd name="T11" fmla="*/ 295 h 29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83"/>
              <a:gd name="T19" fmla="*/ 0 h 295"/>
              <a:gd name="T20" fmla="*/ 2983 w 2983"/>
              <a:gd name="T21" fmla="*/ 295 h 29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83" h="295">
                <a:moveTo>
                  <a:pt x="0" y="0"/>
                </a:moveTo>
                <a:lnTo>
                  <a:pt x="849" y="0"/>
                </a:lnTo>
                <a:lnTo>
                  <a:pt x="1058" y="187"/>
                </a:lnTo>
                <a:lnTo>
                  <a:pt x="2172" y="194"/>
                </a:lnTo>
                <a:lnTo>
                  <a:pt x="2277" y="295"/>
                </a:lnTo>
                <a:lnTo>
                  <a:pt x="2983" y="295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3686" name="Freeform 6"/>
          <p:cNvSpPr>
            <a:spLocks/>
          </p:cNvSpPr>
          <p:nvPr/>
        </p:nvSpPr>
        <p:spPr bwMode="auto">
          <a:xfrm>
            <a:off x="2057400" y="2308225"/>
            <a:ext cx="4765675" cy="1171575"/>
          </a:xfrm>
          <a:custGeom>
            <a:avLst/>
            <a:gdLst>
              <a:gd name="T0" fmla="*/ 0 w 3002"/>
              <a:gd name="T1" fmla="*/ 0 h 738"/>
              <a:gd name="T2" fmla="*/ 878 w 3002"/>
              <a:gd name="T3" fmla="*/ 0 h 738"/>
              <a:gd name="T4" fmla="*/ 1080 w 3002"/>
              <a:gd name="T5" fmla="*/ 310 h 738"/>
              <a:gd name="T6" fmla="*/ 1534 w 3002"/>
              <a:gd name="T7" fmla="*/ 310 h 738"/>
              <a:gd name="T8" fmla="*/ 1536 w 3002"/>
              <a:gd name="T9" fmla="*/ 738 h 738"/>
              <a:gd name="T10" fmla="*/ 3002 w 3002"/>
              <a:gd name="T11" fmla="*/ 735 h 7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02"/>
              <a:gd name="T19" fmla="*/ 0 h 738"/>
              <a:gd name="T20" fmla="*/ 3002 w 3002"/>
              <a:gd name="T21" fmla="*/ 738 h 7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02" h="738">
                <a:moveTo>
                  <a:pt x="0" y="0"/>
                </a:moveTo>
                <a:lnTo>
                  <a:pt x="878" y="0"/>
                </a:lnTo>
                <a:lnTo>
                  <a:pt x="1080" y="310"/>
                </a:lnTo>
                <a:lnTo>
                  <a:pt x="1534" y="310"/>
                </a:lnTo>
                <a:lnTo>
                  <a:pt x="1536" y="738"/>
                </a:lnTo>
                <a:lnTo>
                  <a:pt x="3002" y="735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8" name="Rectangle 7"/>
          <p:cNvSpPr>
            <a:spLocks noGrp="1" noChangeArrowheads="1"/>
          </p:cNvSpPr>
          <p:nvPr>
            <p:ph type="title"/>
          </p:nvPr>
        </p:nvSpPr>
        <p:spPr>
          <a:xfrm>
            <a:off x="206375" y="498475"/>
            <a:ext cx="8724900" cy="774700"/>
          </a:xfrm>
          <a:noFill/>
        </p:spPr>
        <p:txBody>
          <a:bodyPr lIns="90488" tIns="44450" rIns="90488" bIns="44450"/>
          <a:lstStyle/>
          <a:p>
            <a:pPr>
              <a:lnSpc>
                <a:spcPct val="70000"/>
              </a:lnSpc>
            </a:pPr>
            <a:r>
              <a:rPr lang="en-US" dirty="0"/>
              <a:t>Load/Store Instructions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7759701" y="1485900"/>
            <a:ext cx="990600" cy="1981200"/>
            <a:chOff x="4888" y="936"/>
            <a:chExt cx="624" cy="1248"/>
          </a:xfrm>
        </p:grpSpPr>
        <p:sp>
          <p:nvSpPr>
            <p:cNvPr id="68726" name="Freeform 9"/>
            <p:cNvSpPr>
              <a:spLocks/>
            </p:cNvSpPr>
            <p:nvPr/>
          </p:nvSpPr>
          <p:spPr bwMode="auto">
            <a:xfrm>
              <a:off x="5184" y="1220"/>
              <a:ext cx="1" cy="577"/>
            </a:xfrm>
            <a:custGeom>
              <a:avLst/>
              <a:gdLst>
                <a:gd name="T0" fmla="*/ 0 w 1"/>
                <a:gd name="T1" fmla="*/ 0 h 577"/>
                <a:gd name="T2" fmla="*/ 0 w 1"/>
                <a:gd name="T3" fmla="*/ 576 h 577"/>
                <a:gd name="T4" fmla="*/ 0 60000 65536"/>
                <a:gd name="T5" fmla="*/ 0 60000 65536"/>
                <a:gd name="T6" fmla="*/ 0 w 1"/>
                <a:gd name="T7" fmla="*/ 0 h 577"/>
                <a:gd name="T8" fmla="*/ 1 w 1"/>
                <a:gd name="T9" fmla="*/ 577 h 5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77">
                  <a:moveTo>
                    <a:pt x="0" y="0"/>
                  </a:moveTo>
                  <a:lnTo>
                    <a:pt x="0" y="576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27" name="Rectangle 10"/>
            <p:cNvSpPr>
              <a:spLocks noChangeArrowheads="1"/>
            </p:cNvSpPr>
            <p:nvPr/>
          </p:nvSpPr>
          <p:spPr bwMode="auto">
            <a:xfrm>
              <a:off x="4888" y="936"/>
              <a:ext cx="62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b="1" dirty="0" err="1">
                  <a:solidFill>
                    <a:srgbClr val="56127A"/>
                  </a:solidFill>
                </a:rPr>
                <a:t>WBSel</a:t>
              </a:r>
              <a:endParaRPr lang="en-US" sz="1200" b="1" dirty="0">
                <a:solidFill>
                  <a:srgbClr val="56127A"/>
                </a:solidFill>
              </a:endParaRPr>
            </a:p>
            <a:p>
              <a:pPr algn="ctr">
                <a:spcBef>
                  <a:spcPct val="0"/>
                </a:spcBef>
              </a:pPr>
              <a:r>
                <a:rPr lang="en-US" sz="1200" b="1" dirty="0">
                  <a:solidFill>
                    <a:srgbClr val="56127A"/>
                  </a:solidFill>
                </a:rPr>
                <a:t>ALU / </a:t>
              </a:r>
              <a:r>
                <a:rPr lang="en-US" sz="1200" b="1" dirty="0" err="1">
                  <a:solidFill>
                    <a:srgbClr val="56127A"/>
                  </a:solidFill>
                </a:rPr>
                <a:t>Mem</a:t>
              </a:r>
              <a:endParaRPr lang="en-US" sz="1200" b="1" dirty="0">
                <a:solidFill>
                  <a:srgbClr val="56127A"/>
                </a:solidFill>
              </a:endParaRPr>
            </a:p>
          </p:txBody>
        </p:sp>
        <p:sp>
          <p:nvSpPr>
            <p:cNvPr id="68728" name="Freeform 11"/>
            <p:cNvSpPr>
              <a:spLocks/>
            </p:cNvSpPr>
            <p:nvPr/>
          </p:nvSpPr>
          <p:spPr bwMode="auto">
            <a:xfrm>
              <a:off x="5127" y="1799"/>
              <a:ext cx="145" cy="385"/>
            </a:xfrm>
            <a:custGeom>
              <a:avLst/>
              <a:gdLst>
                <a:gd name="T0" fmla="*/ 144 w 145"/>
                <a:gd name="T1" fmla="*/ 48 h 385"/>
                <a:gd name="T2" fmla="*/ 144 w 145"/>
                <a:gd name="T3" fmla="*/ 336 h 385"/>
                <a:gd name="T4" fmla="*/ 0 w 145"/>
                <a:gd name="T5" fmla="*/ 384 h 385"/>
                <a:gd name="T6" fmla="*/ 0 w 145"/>
                <a:gd name="T7" fmla="*/ 0 h 385"/>
                <a:gd name="T8" fmla="*/ 144 w 145"/>
                <a:gd name="T9" fmla="*/ 48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385"/>
                <a:gd name="T17" fmla="*/ 145 w 145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385">
                  <a:moveTo>
                    <a:pt x="144" y="48"/>
                  </a:moveTo>
                  <a:lnTo>
                    <a:pt x="144" y="336"/>
                  </a:lnTo>
                  <a:lnTo>
                    <a:pt x="0" y="384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accent1"/>
            </a:solidFill>
            <a:ln w="9525" cap="rnd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798513" y="6096000"/>
            <a:ext cx="6844323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charset="0"/>
              </a:rPr>
              <a:t>rs1 is the base register</a:t>
            </a:r>
          </a:p>
          <a:p>
            <a:pPr>
              <a:spcBef>
                <a:spcPct val="0"/>
              </a:spcBef>
            </a:pPr>
            <a:r>
              <a:rPr lang="en-US" dirty="0" err="1">
                <a:solidFill>
                  <a:schemeClr val="tx1"/>
                </a:solidFill>
                <a:latin typeface="Verdana" charset="0"/>
              </a:rPr>
              <a:t>rd</a:t>
            </a:r>
            <a:r>
              <a:rPr lang="en-US" dirty="0">
                <a:solidFill>
                  <a:schemeClr val="tx1"/>
                </a:solidFill>
                <a:latin typeface="Verdana" charset="0"/>
              </a:rPr>
              <a:t> is the destination of a Load, rs2 is the data source for a Store</a:t>
            </a:r>
          </a:p>
        </p:txBody>
      </p:sp>
      <p:sp>
        <p:nvSpPr>
          <p:cNvPr id="68637" name="Freeform 23"/>
          <p:cNvSpPr>
            <a:spLocks/>
          </p:cNvSpPr>
          <p:nvPr/>
        </p:nvSpPr>
        <p:spPr bwMode="auto">
          <a:xfrm>
            <a:off x="4487863" y="2816226"/>
            <a:ext cx="2301875" cy="657225"/>
          </a:xfrm>
          <a:custGeom>
            <a:avLst/>
            <a:gdLst>
              <a:gd name="T0" fmla="*/ 0 w 1450"/>
              <a:gd name="T1" fmla="*/ 0 h 419"/>
              <a:gd name="T2" fmla="*/ 0 w 1450"/>
              <a:gd name="T3" fmla="*/ 418 h 419"/>
              <a:gd name="T4" fmla="*/ 1449 w 1450"/>
              <a:gd name="T5" fmla="*/ 418 h 419"/>
              <a:gd name="T6" fmla="*/ 0 60000 65536"/>
              <a:gd name="T7" fmla="*/ 0 60000 65536"/>
              <a:gd name="T8" fmla="*/ 0 60000 65536"/>
              <a:gd name="T9" fmla="*/ 0 w 1450"/>
              <a:gd name="T10" fmla="*/ 0 h 419"/>
              <a:gd name="T11" fmla="*/ 1450 w 1450"/>
              <a:gd name="T12" fmla="*/ 419 h 4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0" h="419">
                <a:moveTo>
                  <a:pt x="0" y="0"/>
                </a:moveTo>
                <a:lnTo>
                  <a:pt x="0" y="418"/>
                </a:lnTo>
                <a:lnTo>
                  <a:pt x="1449" y="418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39" name="Line 25"/>
          <p:cNvSpPr>
            <a:spLocks noChangeShapeType="1"/>
          </p:cNvSpPr>
          <p:nvPr/>
        </p:nvSpPr>
        <p:spPr bwMode="auto">
          <a:xfrm>
            <a:off x="5816600" y="2647951"/>
            <a:ext cx="952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0" name="Freeform 26"/>
          <p:cNvSpPr>
            <a:spLocks/>
          </p:cNvSpPr>
          <p:nvPr/>
        </p:nvSpPr>
        <p:spPr bwMode="auto">
          <a:xfrm>
            <a:off x="3935413" y="3003551"/>
            <a:ext cx="1082675" cy="404813"/>
          </a:xfrm>
          <a:custGeom>
            <a:avLst/>
            <a:gdLst>
              <a:gd name="T0" fmla="*/ 0 w 657"/>
              <a:gd name="T1" fmla="*/ 256 h 257"/>
              <a:gd name="T2" fmla="*/ 208 w 657"/>
              <a:gd name="T3" fmla="*/ 256 h 257"/>
              <a:gd name="T4" fmla="*/ 208 w 657"/>
              <a:gd name="T5" fmla="*/ 0 h 257"/>
              <a:gd name="T6" fmla="*/ 656 w 657"/>
              <a:gd name="T7" fmla="*/ 0 h 257"/>
              <a:gd name="T8" fmla="*/ 0 60000 65536"/>
              <a:gd name="T9" fmla="*/ 0 60000 65536"/>
              <a:gd name="T10" fmla="*/ 0 60000 65536"/>
              <a:gd name="T11" fmla="*/ 0 60000 65536"/>
              <a:gd name="T12" fmla="*/ 0 w 657"/>
              <a:gd name="T13" fmla="*/ 0 h 257"/>
              <a:gd name="T14" fmla="*/ 657 w 657"/>
              <a:gd name="T15" fmla="*/ 257 h 2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7" h="257">
                <a:moveTo>
                  <a:pt x="0" y="256"/>
                </a:moveTo>
                <a:lnTo>
                  <a:pt x="208" y="256"/>
                </a:lnTo>
                <a:lnTo>
                  <a:pt x="208" y="0"/>
                </a:lnTo>
                <a:lnTo>
                  <a:pt x="65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2" name="Freeform 28"/>
          <p:cNvSpPr>
            <a:spLocks/>
          </p:cNvSpPr>
          <p:nvPr/>
        </p:nvSpPr>
        <p:spPr bwMode="auto">
          <a:xfrm>
            <a:off x="2057400" y="2165351"/>
            <a:ext cx="1296988" cy="306388"/>
          </a:xfrm>
          <a:custGeom>
            <a:avLst/>
            <a:gdLst>
              <a:gd name="T0" fmla="*/ 0 w 817"/>
              <a:gd name="T1" fmla="*/ 192 h 193"/>
              <a:gd name="T2" fmla="*/ 0 w 817"/>
              <a:gd name="T3" fmla="*/ 0 h 193"/>
              <a:gd name="T4" fmla="*/ 816 w 817"/>
              <a:gd name="T5" fmla="*/ 0 h 193"/>
              <a:gd name="T6" fmla="*/ 0 60000 65536"/>
              <a:gd name="T7" fmla="*/ 0 60000 65536"/>
              <a:gd name="T8" fmla="*/ 0 60000 65536"/>
              <a:gd name="T9" fmla="*/ 0 w 817"/>
              <a:gd name="T10" fmla="*/ 0 h 193"/>
              <a:gd name="T11" fmla="*/ 817 w 817"/>
              <a:gd name="T12" fmla="*/ 193 h 1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193">
                <a:moveTo>
                  <a:pt x="0" y="192"/>
                </a:moveTo>
                <a:lnTo>
                  <a:pt x="0" y="0"/>
                </a:ln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3" name="Freeform 29"/>
          <p:cNvSpPr>
            <a:spLocks/>
          </p:cNvSpPr>
          <p:nvPr/>
        </p:nvSpPr>
        <p:spPr bwMode="auto">
          <a:xfrm>
            <a:off x="2057400" y="2317751"/>
            <a:ext cx="1296988" cy="1588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4" name="Freeform 30"/>
          <p:cNvSpPr>
            <a:spLocks/>
          </p:cNvSpPr>
          <p:nvPr/>
        </p:nvSpPr>
        <p:spPr bwMode="auto">
          <a:xfrm>
            <a:off x="2057400" y="2362200"/>
            <a:ext cx="1295400" cy="304800"/>
          </a:xfrm>
          <a:custGeom>
            <a:avLst/>
            <a:gdLst>
              <a:gd name="T0" fmla="*/ 0 w 385"/>
              <a:gd name="T1" fmla="*/ 0 h 178"/>
              <a:gd name="T2" fmla="*/ 0 w 385"/>
              <a:gd name="T3" fmla="*/ 177 h 178"/>
              <a:gd name="T4" fmla="*/ 384 w 385"/>
              <a:gd name="T5" fmla="*/ 177 h 178"/>
              <a:gd name="T6" fmla="*/ 0 60000 65536"/>
              <a:gd name="T7" fmla="*/ 0 60000 65536"/>
              <a:gd name="T8" fmla="*/ 0 60000 65536"/>
              <a:gd name="T9" fmla="*/ 0 w 385"/>
              <a:gd name="T10" fmla="*/ 0 h 178"/>
              <a:gd name="T11" fmla="*/ 385 w 385"/>
              <a:gd name="T12" fmla="*/ 178 h 1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" h="178">
                <a:moveTo>
                  <a:pt x="0" y="0"/>
                </a:moveTo>
                <a:lnTo>
                  <a:pt x="0" y="177"/>
                </a:lnTo>
                <a:lnTo>
                  <a:pt x="384" y="177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5" name="Freeform 31"/>
          <p:cNvSpPr>
            <a:spLocks/>
          </p:cNvSpPr>
          <p:nvPr/>
        </p:nvSpPr>
        <p:spPr bwMode="auto">
          <a:xfrm>
            <a:off x="2054225" y="2751138"/>
            <a:ext cx="1296988" cy="611188"/>
          </a:xfrm>
          <a:custGeom>
            <a:avLst/>
            <a:gdLst>
              <a:gd name="T0" fmla="*/ 0 w 817"/>
              <a:gd name="T1" fmla="*/ 0 h 385"/>
              <a:gd name="T2" fmla="*/ 0 w 817"/>
              <a:gd name="T3" fmla="*/ 384 h 385"/>
              <a:gd name="T4" fmla="*/ 816 w 817"/>
              <a:gd name="T5" fmla="*/ 384 h 385"/>
              <a:gd name="T6" fmla="*/ 0 60000 65536"/>
              <a:gd name="T7" fmla="*/ 0 60000 65536"/>
              <a:gd name="T8" fmla="*/ 0 60000 65536"/>
              <a:gd name="T9" fmla="*/ 0 w 817"/>
              <a:gd name="T10" fmla="*/ 0 h 385"/>
              <a:gd name="T11" fmla="*/ 817 w 817"/>
              <a:gd name="T12" fmla="*/ 385 h 3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385">
                <a:moveTo>
                  <a:pt x="0" y="0"/>
                </a:moveTo>
                <a:lnTo>
                  <a:pt x="0" y="384"/>
                </a:lnTo>
                <a:lnTo>
                  <a:pt x="816" y="38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9" name="Freeform 35"/>
          <p:cNvSpPr>
            <a:spLocks/>
          </p:cNvSpPr>
          <p:nvPr/>
        </p:nvSpPr>
        <p:spPr bwMode="auto">
          <a:xfrm>
            <a:off x="3987800" y="2470151"/>
            <a:ext cx="1423988" cy="1588"/>
          </a:xfrm>
          <a:custGeom>
            <a:avLst/>
            <a:gdLst>
              <a:gd name="T0" fmla="*/ 0 w 897"/>
              <a:gd name="T1" fmla="*/ 0 h 1"/>
              <a:gd name="T2" fmla="*/ 896 w 897"/>
              <a:gd name="T3" fmla="*/ 0 h 1"/>
              <a:gd name="T4" fmla="*/ 0 60000 65536"/>
              <a:gd name="T5" fmla="*/ 0 60000 65536"/>
              <a:gd name="T6" fmla="*/ 0 w 897"/>
              <a:gd name="T7" fmla="*/ 0 h 1"/>
              <a:gd name="T8" fmla="*/ 897 w 89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7" h="1">
                <a:moveTo>
                  <a:pt x="0" y="0"/>
                </a:moveTo>
                <a:lnTo>
                  <a:pt x="89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0" name="Freeform 36"/>
          <p:cNvSpPr>
            <a:spLocks/>
          </p:cNvSpPr>
          <p:nvPr/>
        </p:nvSpPr>
        <p:spPr bwMode="auto">
          <a:xfrm>
            <a:off x="2057400" y="3362326"/>
            <a:ext cx="2135188" cy="382588"/>
          </a:xfrm>
          <a:custGeom>
            <a:avLst/>
            <a:gdLst>
              <a:gd name="T0" fmla="*/ 0 w 1345"/>
              <a:gd name="T1" fmla="*/ 0 h 241"/>
              <a:gd name="T2" fmla="*/ 0 w 1345"/>
              <a:gd name="T3" fmla="*/ 240 h 241"/>
              <a:gd name="T4" fmla="*/ 1344 w 1345"/>
              <a:gd name="T5" fmla="*/ 240 h 241"/>
              <a:gd name="T6" fmla="*/ 0 60000 65536"/>
              <a:gd name="T7" fmla="*/ 0 60000 65536"/>
              <a:gd name="T8" fmla="*/ 0 60000 65536"/>
              <a:gd name="T9" fmla="*/ 0 w 1345"/>
              <a:gd name="T10" fmla="*/ 0 h 241"/>
              <a:gd name="T11" fmla="*/ 1345 w 1345"/>
              <a:gd name="T12" fmla="*/ 241 h 2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241">
                <a:moveTo>
                  <a:pt x="0" y="0"/>
                </a:moveTo>
                <a:lnTo>
                  <a:pt x="0" y="240"/>
                </a:lnTo>
                <a:lnTo>
                  <a:pt x="1344" y="24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1" name="Freeform 37"/>
          <p:cNvSpPr>
            <a:spLocks/>
          </p:cNvSpPr>
          <p:nvPr/>
        </p:nvSpPr>
        <p:spPr bwMode="auto">
          <a:xfrm>
            <a:off x="4775200" y="2927351"/>
            <a:ext cx="865188" cy="827088"/>
          </a:xfrm>
          <a:custGeom>
            <a:avLst/>
            <a:gdLst>
              <a:gd name="T0" fmla="*/ 0 w 545"/>
              <a:gd name="T1" fmla="*/ 520 h 521"/>
              <a:gd name="T2" fmla="*/ 544 w 545"/>
              <a:gd name="T3" fmla="*/ 520 h 521"/>
              <a:gd name="T4" fmla="*/ 544 w 545"/>
              <a:gd name="T5" fmla="*/ 0 h 521"/>
              <a:gd name="T6" fmla="*/ 0 60000 65536"/>
              <a:gd name="T7" fmla="*/ 0 60000 65536"/>
              <a:gd name="T8" fmla="*/ 0 60000 65536"/>
              <a:gd name="T9" fmla="*/ 0 w 545"/>
              <a:gd name="T10" fmla="*/ 0 h 521"/>
              <a:gd name="T11" fmla="*/ 545 w 545"/>
              <a:gd name="T12" fmla="*/ 521 h 5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521">
                <a:moveTo>
                  <a:pt x="0" y="520"/>
                </a:moveTo>
                <a:lnTo>
                  <a:pt x="544" y="520"/>
                </a:lnTo>
                <a:lnTo>
                  <a:pt x="544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2" name="Freeform 38"/>
          <p:cNvSpPr>
            <a:spLocks/>
          </p:cNvSpPr>
          <p:nvPr/>
        </p:nvSpPr>
        <p:spPr bwMode="auto">
          <a:xfrm>
            <a:off x="7620000" y="3003551"/>
            <a:ext cx="534988" cy="1588"/>
          </a:xfrm>
          <a:custGeom>
            <a:avLst/>
            <a:gdLst>
              <a:gd name="T0" fmla="*/ 0 w 337"/>
              <a:gd name="T1" fmla="*/ 0 h 1"/>
              <a:gd name="T2" fmla="*/ 336 w 337"/>
              <a:gd name="T3" fmla="*/ 0 h 1"/>
              <a:gd name="T4" fmla="*/ 0 60000 65536"/>
              <a:gd name="T5" fmla="*/ 0 60000 65536"/>
              <a:gd name="T6" fmla="*/ 0 w 337"/>
              <a:gd name="T7" fmla="*/ 0 h 1"/>
              <a:gd name="T8" fmla="*/ 337 w 33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7" h="1">
                <a:moveTo>
                  <a:pt x="0" y="0"/>
                </a:moveTo>
                <a:lnTo>
                  <a:pt x="33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3" name="Freeform 39"/>
          <p:cNvSpPr>
            <a:spLocks/>
          </p:cNvSpPr>
          <p:nvPr/>
        </p:nvSpPr>
        <p:spPr bwMode="auto">
          <a:xfrm>
            <a:off x="3949700" y="2813051"/>
            <a:ext cx="1093788" cy="1588"/>
          </a:xfrm>
          <a:custGeom>
            <a:avLst/>
            <a:gdLst>
              <a:gd name="T0" fmla="*/ 0 w 689"/>
              <a:gd name="T1" fmla="*/ 0 h 1"/>
              <a:gd name="T2" fmla="*/ 688 w 689"/>
              <a:gd name="T3" fmla="*/ 0 h 1"/>
              <a:gd name="T4" fmla="*/ 0 60000 65536"/>
              <a:gd name="T5" fmla="*/ 0 60000 65536"/>
              <a:gd name="T6" fmla="*/ 0 w 689"/>
              <a:gd name="T7" fmla="*/ 0 h 1"/>
              <a:gd name="T8" fmla="*/ 689 w 689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89" h="1">
                <a:moveTo>
                  <a:pt x="0" y="0"/>
                </a:moveTo>
                <a:lnTo>
                  <a:pt x="688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4" name="Freeform 40"/>
          <p:cNvSpPr>
            <a:spLocks/>
          </p:cNvSpPr>
          <p:nvPr/>
        </p:nvSpPr>
        <p:spPr bwMode="auto">
          <a:xfrm>
            <a:off x="6394450" y="2641601"/>
            <a:ext cx="1733550" cy="1284288"/>
          </a:xfrm>
          <a:custGeom>
            <a:avLst/>
            <a:gdLst>
              <a:gd name="T0" fmla="*/ 0 w 1092"/>
              <a:gd name="T1" fmla="*/ 0 h 809"/>
              <a:gd name="T2" fmla="*/ 0 w 1092"/>
              <a:gd name="T3" fmla="*/ 809 h 809"/>
              <a:gd name="T4" fmla="*/ 855 w 1092"/>
              <a:gd name="T5" fmla="*/ 809 h 809"/>
              <a:gd name="T6" fmla="*/ 855 w 1092"/>
              <a:gd name="T7" fmla="*/ 444 h 809"/>
              <a:gd name="T8" fmla="*/ 1092 w 1092"/>
              <a:gd name="T9" fmla="*/ 444 h 8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2"/>
              <a:gd name="T16" fmla="*/ 0 h 809"/>
              <a:gd name="T17" fmla="*/ 1092 w 1092"/>
              <a:gd name="T18" fmla="*/ 809 h 80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2" h="809">
                <a:moveTo>
                  <a:pt x="0" y="0"/>
                </a:moveTo>
                <a:lnTo>
                  <a:pt x="0" y="809"/>
                </a:lnTo>
                <a:lnTo>
                  <a:pt x="855" y="809"/>
                </a:lnTo>
                <a:lnTo>
                  <a:pt x="855" y="444"/>
                </a:lnTo>
                <a:lnTo>
                  <a:pt x="1092" y="444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5" name="Freeform 41"/>
          <p:cNvSpPr>
            <a:spLocks/>
          </p:cNvSpPr>
          <p:nvPr/>
        </p:nvSpPr>
        <p:spPr bwMode="auto">
          <a:xfrm>
            <a:off x="2971800" y="2774951"/>
            <a:ext cx="5567363" cy="1830388"/>
          </a:xfrm>
          <a:custGeom>
            <a:avLst/>
            <a:gdLst>
              <a:gd name="T0" fmla="*/ 3399 w 3507"/>
              <a:gd name="T1" fmla="*/ 234 h 1153"/>
              <a:gd name="T2" fmla="*/ 3506 w 3507"/>
              <a:gd name="T3" fmla="*/ 234 h 1153"/>
              <a:gd name="T4" fmla="*/ 3504 w 3507"/>
              <a:gd name="T5" fmla="*/ 1152 h 1153"/>
              <a:gd name="T6" fmla="*/ 0 w 3507"/>
              <a:gd name="T7" fmla="*/ 1152 h 1153"/>
              <a:gd name="T8" fmla="*/ 0 w 3507"/>
              <a:gd name="T9" fmla="*/ 0 h 1153"/>
              <a:gd name="T10" fmla="*/ 240 w 3507"/>
              <a:gd name="T11" fmla="*/ 0 h 1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07"/>
              <a:gd name="T19" fmla="*/ 0 h 1153"/>
              <a:gd name="T20" fmla="*/ 3507 w 3507"/>
              <a:gd name="T21" fmla="*/ 1153 h 1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07" h="1153">
                <a:moveTo>
                  <a:pt x="3399" y="234"/>
                </a:moveTo>
                <a:lnTo>
                  <a:pt x="3506" y="234"/>
                </a:lnTo>
                <a:lnTo>
                  <a:pt x="3504" y="1152"/>
                </a:lnTo>
                <a:lnTo>
                  <a:pt x="0" y="1152"/>
                </a:lnTo>
                <a:lnTo>
                  <a:pt x="0" y="0"/>
                </a:lnTo>
                <a:lnTo>
                  <a:pt x="24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56" name="Rectangle 42"/>
          <p:cNvSpPr>
            <a:spLocks noChangeArrowheads="1"/>
          </p:cNvSpPr>
          <p:nvPr/>
        </p:nvSpPr>
        <p:spPr bwMode="auto">
          <a:xfrm>
            <a:off x="4811713" y="4965701"/>
            <a:ext cx="695325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Op2Sel</a:t>
            </a:r>
          </a:p>
        </p:txBody>
      </p:sp>
      <p:sp>
        <p:nvSpPr>
          <p:cNvPr id="68657" name="Rectangle 43"/>
          <p:cNvSpPr>
            <a:spLocks noChangeArrowheads="1"/>
          </p:cNvSpPr>
          <p:nvPr/>
        </p:nvSpPr>
        <p:spPr bwMode="auto">
          <a:xfrm>
            <a:off x="2020888" y="1939926"/>
            <a:ext cx="6810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b="1" i="1">
                <a:solidFill>
                  <a:srgbClr val="56127A"/>
                </a:solidFill>
              </a:rPr>
              <a:t>“base”</a:t>
            </a:r>
          </a:p>
        </p:txBody>
      </p:sp>
      <p:sp>
        <p:nvSpPr>
          <p:cNvPr id="68658" name="Rectangle 44"/>
          <p:cNvSpPr>
            <a:spLocks noChangeArrowheads="1"/>
          </p:cNvSpPr>
          <p:nvPr/>
        </p:nvSpPr>
        <p:spPr bwMode="auto">
          <a:xfrm>
            <a:off x="2098675" y="3136901"/>
            <a:ext cx="493713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200" b="1" i="1">
                <a:solidFill>
                  <a:srgbClr val="56127A"/>
                </a:solidFill>
              </a:rPr>
              <a:t>disp</a:t>
            </a:r>
          </a:p>
        </p:txBody>
      </p:sp>
      <p:sp>
        <p:nvSpPr>
          <p:cNvPr id="68659" name="Oval 45"/>
          <p:cNvSpPr>
            <a:spLocks noChangeArrowheads="1"/>
          </p:cNvSpPr>
          <p:nvPr/>
        </p:nvSpPr>
        <p:spPr bwMode="auto">
          <a:xfrm>
            <a:off x="4464050" y="2781301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0" name="Oval 46"/>
          <p:cNvSpPr>
            <a:spLocks noChangeArrowheads="1"/>
          </p:cNvSpPr>
          <p:nvPr/>
        </p:nvSpPr>
        <p:spPr bwMode="auto">
          <a:xfrm>
            <a:off x="6369050" y="2616201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1" name="Line 47"/>
          <p:cNvSpPr>
            <a:spLocks noChangeShapeType="1"/>
          </p:cNvSpPr>
          <p:nvPr/>
        </p:nvSpPr>
        <p:spPr bwMode="auto">
          <a:xfrm flipV="1">
            <a:off x="3657600" y="3530601"/>
            <a:ext cx="0" cy="14605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2" name="Rectangle 48"/>
          <p:cNvSpPr>
            <a:spLocks noChangeArrowheads="1"/>
          </p:cNvSpPr>
          <p:nvPr/>
        </p:nvSpPr>
        <p:spPr bwMode="auto">
          <a:xfrm>
            <a:off x="3351213" y="4960938"/>
            <a:ext cx="7048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ImmSel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68663" name="Rectangle 49"/>
          <p:cNvSpPr>
            <a:spLocks noChangeArrowheads="1"/>
          </p:cNvSpPr>
          <p:nvPr/>
        </p:nvSpPr>
        <p:spPr bwMode="auto">
          <a:xfrm>
            <a:off x="1751013" y="4960938"/>
            <a:ext cx="74930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OpCode</a:t>
            </a:r>
          </a:p>
        </p:txBody>
      </p:sp>
      <p:sp>
        <p:nvSpPr>
          <p:cNvPr id="68664" name="Line 50"/>
          <p:cNvSpPr>
            <a:spLocks noChangeShapeType="1"/>
          </p:cNvSpPr>
          <p:nvPr/>
        </p:nvSpPr>
        <p:spPr bwMode="auto">
          <a:xfrm flipH="1">
            <a:off x="2593975" y="2774951"/>
            <a:ext cx="8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5" name="Freeform 51"/>
          <p:cNvSpPr>
            <a:spLocks/>
          </p:cNvSpPr>
          <p:nvPr/>
        </p:nvSpPr>
        <p:spPr bwMode="auto">
          <a:xfrm>
            <a:off x="5038725" y="2698751"/>
            <a:ext cx="230188" cy="458788"/>
          </a:xfrm>
          <a:custGeom>
            <a:avLst/>
            <a:gdLst>
              <a:gd name="T0" fmla="*/ 144 w 145"/>
              <a:gd name="T1" fmla="*/ 48 h 289"/>
              <a:gd name="T2" fmla="*/ 144 w 145"/>
              <a:gd name="T3" fmla="*/ 240 h 289"/>
              <a:gd name="T4" fmla="*/ 0 w 145"/>
              <a:gd name="T5" fmla="*/ 288 h 289"/>
              <a:gd name="T6" fmla="*/ 0 w 145"/>
              <a:gd name="T7" fmla="*/ 0 h 289"/>
              <a:gd name="T8" fmla="*/ 144 w 145"/>
              <a:gd name="T9" fmla="*/ 48 h 2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5"/>
              <a:gd name="T16" fmla="*/ 0 h 289"/>
              <a:gd name="T17" fmla="*/ 145 w 145"/>
              <a:gd name="T18" fmla="*/ 289 h 2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5" h="289">
                <a:moveTo>
                  <a:pt x="144" y="48"/>
                </a:moveTo>
                <a:lnTo>
                  <a:pt x="144" y="240"/>
                </a:lnTo>
                <a:lnTo>
                  <a:pt x="0" y="288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6" name="Line 52"/>
          <p:cNvSpPr>
            <a:spLocks noChangeShapeType="1"/>
          </p:cNvSpPr>
          <p:nvPr/>
        </p:nvSpPr>
        <p:spPr bwMode="auto">
          <a:xfrm flipH="1">
            <a:off x="5254625" y="2927351"/>
            <a:ext cx="13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7" name="Rectangle 53"/>
          <p:cNvSpPr>
            <a:spLocks noChangeArrowheads="1"/>
          </p:cNvSpPr>
          <p:nvPr/>
        </p:nvSpPr>
        <p:spPr bwMode="auto">
          <a:xfrm>
            <a:off x="4164013" y="4960938"/>
            <a:ext cx="7477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FuncSel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68668" name="Line 54"/>
          <p:cNvSpPr>
            <a:spLocks noChangeShapeType="1"/>
          </p:cNvSpPr>
          <p:nvPr/>
        </p:nvSpPr>
        <p:spPr bwMode="auto">
          <a:xfrm flipV="1">
            <a:off x="4457700" y="3911601"/>
            <a:ext cx="0" cy="10795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69" name="Line 55"/>
          <p:cNvSpPr>
            <a:spLocks noChangeShapeType="1"/>
          </p:cNvSpPr>
          <p:nvPr/>
        </p:nvSpPr>
        <p:spPr bwMode="auto">
          <a:xfrm>
            <a:off x="5143500" y="3136901"/>
            <a:ext cx="0" cy="1828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70" name="Line 56"/>
          <p:cNvSpPr>
            <a:spLocks noChangeShapeType="1"/>
          </p:cNvSpPr>
          <p:nvPr/>
        </p:nvSpPr>
        <p:spPr bwMode="auto">
          <a:xfrm>
            <a:off x="2058988" y="3744913"/>
            <a:ext cx="0" cy="1206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57"/>
          <p:cNvGrpSpPr>
            <a:grpSpLocks/>
          </p:cNvGrpSpPr>
          <p:nvPr/>
        </p:nvGrpSpPr>
        <p:grpSpPr bwMode="auto">
          <a:xfrm>
            <a:off x="4141788" y="3581401"/>
            <a:ext cx="671513" cy="361950"/>
            <a:chOff x="2576" y="2405"/>
            <a:chExt cx="423" cy="228"/>
          </a:xfrm>
        </p:grpSpPr>
        <p:sp>
          <p:nvSpPr>
            <p:cNvPr id="68716" name="Rectangle 58"/>
            <p:cNvSpPr>
              <a:spLocks noChangeArrowheads="1"/>
            </p:cNvSpPr>
            <p:nvPr/>
          </p:nvSpPr>
          <p:spPr bwMode="auto">
            <a:xfrm>
              <a:off x="2609" y="2405"/>
              <a:ext cx="361" cy="19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17" name="Rectangle 59"/>
            <p:cNvSpPr>
              <a:spLocks noChangeArrowheads="1"/>
            </p:cNvSpPr>
            <p:nvPr/>
          </p:nvSpPr>
          <p:spPr bwMode="auto">
            <a:xfrm>
              <a:off x="2576" y="2405"/>
              <a:ext cx="423" cy="2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ALU</a:t>
              </a:r>
            </a:p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Control</a:t>
              </a:r>
            </a:p>
          </p:txBody>
        </p:sp>
      </p:grp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5372100" y="2381251"/>
            <a:ext cx="477838" cy="603250"/>
            <a:chOff x="3384" y="1500"/>
            <a:chExt cx="301" cy="380"/>
          </a:xfrm>
        </p:grpSpPr>
        <p:sp>
          <p:nvSpPr>
            <p:cNvPr id="68714" name="Freeform 63"/>
            <p:cNvSpPr>
              <a:spLocks/>
            </p:cNvSpPr>
            <p:nvPr/>
          </p:nvSpPr>
          <p:spPr bwMode="auto">
            <a:xfrm>
              <a:off x="3407" y="1500"/>
              <a:ext cx="236" cy="380"/>
            </a:xfrm>
            <a:custGeom>
              <a:avLst/>
              <a:gdLst>
                <a:gd name="T0" fmla="*/ 0 w 236"/>
                <a:gd name="T1" fmla="*/ 0 h 380"/>
                <a:gd name="T2" fmla="*/ 0 w 236"/>
                <a:gd name="T3" fmla="*/ 158 h 380"/>
                <a:gd name="T4" fmla="*/ 47 w 236"/>
                <a:gd name="T5" fmla="*/ 190 h 380"/>
                <a:gd name="T6" fmla="*/ 0 w 236"/>
                <a:gd name="T7" fmla="*/ 221 h 380"/>
                <a:gd name="T8" fmla="*/ 0 w 236"/>
                <a:gd name="T9" fmla="*/ 379 h 380"/>
                <a:gd name="T10" fmla="*/ 235 w 236"/>
                <a:gd name="T11" fmla="*/ 284 h 380"/>
                <a:gd name="T12" fmla="*/ 235 w 236"/>
                <a:gd name="T13" fmla="*/ 95 h 380"/>
                <a:gd name="T14" fmla="*/ 0 w 236"/>
                <a:gd name="T15" fmla="*/ 0 h 3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6"/>
                <a:gd name="T25" fmla="*/ 0 h 380"/>
                <a:gd name="T26" fmla="*/ 236 w 236"/>
                <a:gd name="T27" fmla="*/ 380 h 3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6" h="380">
                  <a:moveTo>
                    <a:pt x="0" y="0"/>
                  </a:moveTo>
                  <a:lnTo>
                    <a:pt x="0" y="158"/>
                  </a:lnTo>
                  <a:lnTo>
                    <a:pt x="47" y="190"/>
                  </a:lnTo>
                  <a:lnTo>
                    <a:pt x="0" y="221"/>
                  </a:lnTo>
                  <a:lnTo>
                    <a:pt x="0" y="379"/>
                  </a:lnTo>
                  <a:lnTo>
                    <a:pt x="235" y="284"/>
                  </a:lnTo>
                  <a:lnTo>
                    <a:pt x="235" y="95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15" name="Rectangle 64"/>
            <p:cNvSpPr>
              <a:spLocks noChangeArrowheads="1"/>
            </p:cNvSpPr>
            <p:nvPr/>
          </p:nvSpPr>
          <p:spPr bwMode="auto">
            <a:xfrm>
              <a:off x="3384" y="1618"/>
              <a:ext cx="301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ALU</a:t>
              </a:r>
            </a:p>
          </p:txBody>
        </p:sp>
      </p:grpSp>
      <p:sp>
        <p:nvSpPr>
          <p:cNvPr id="68673" name="Line 65"/>
          <p:cNvSpPr>
            <a:spLocks noChangeShapeType="1"/>
          </p:cNvSpPr>
          <p:nvPr/>
        </p:nvSpPr>
        <p:spPr bwMode="auto">
          <a:xfrm>
            <a:off x="1903413" y="2693988"/>
            <a:ext cx="1539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74" name="Rectangle 66"/>
          <p:cNvSpPr>
            <a:spLocks noChangeArrowheads="1"/>
          </p:cNvSpPr>
          <p:nvPr/>
        </p:nvSpPr>
        <p:spPr bwMode="auto">
          <a:xfrm>
            <a:off x="741363" y="1517651"/>
            <a:ext cx="4270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0x4</a:t>
            </a:r>
          </a:p>
        </p:txBody>
      </p:sp>
      <p:sp>
        <p:nvSpPr>
          <p:cNvPr id="68675" name="Freeform 67"/>
          <p:cNvSpPr>
            <a:spLocks/>
          </p:cNvSpPr>
          <p:nvPr/>
        </p:nvSpPr>
        <p:spPr bwMode="auto">
          <a:xfrm>
            <a:off x="1162050" y="1558926"/>
            <a:ext cx="382588" cy="611188"/>
          </a:xfrm>
          <a:custGeom>
            <a:avLst/>
            <a:gdLst>
              <a:gd name="T0" fmla="*/ 0 w 241"/>
              <a:gd name="T1" fmla="*/ 0 h 385"/>
              <a:gd name="T2" fmla="*/ 0 w 241"/>
              <a:gd name="T3" fmla="*/ 160 h 385"/>
              <a:gd name="T4" fmla="*/ 48 w 241"/>
              <a:gd name="T5" fmla="*/ 192 h 385"/>
              <a:gd name="T6" fmla="*/ 0 w 241"/>
              <a:gd name="T7" fmla="*/ 224 h 385"/>
              <a:gd name="T8" fmla="*/ 0 w 241"/>
              <a:gd name="T9" fmla="*/ 384 h 385"/>
              <a:gd name="T10" fmla="*/ 240 w 241"/>
              <a:gd name="T11" fmla="*/ 288 h 385"/>
              <a:gd name="T12" fmla="*/ 240 w 241"/>
              <a:gd name="T13" fmla="*/ 96 h 385"/>
              <a:gd name="T14" fmla="*/ 0 w 241"/>
              <a:gd name="T15" fmla="*/ 0 h 38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1"/>
              <a:gd name="T25" fmla="*/ 0 h 385"/>
              <a:gd name="T26" fmla="*/ 241 w 241"/>
              <a:gd name="T27" fmla="*/ 385 h 38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76" name="Line 68"/>
          <p:cNvSpPr>
            <a:spLocks noChangeShapeType="1"/>
          </p:cNvSpPr>
          <p:nvPr/>
        </p:nvSpPr>
        <p:spPr bwMode="auto">
          <a:xfrm>
            <a:off x="1092200" y="1635126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77" name="Rectangle 69"/>
          <p:cNvSpPr>
            <a:spLocks noChangeArrowheads="1"/>
          </p:cNvSpPr>
          <p:nvPr/>
        </p:nvSpPr>
        <p:spPr bwMode="auto">
          <a:xfrm>
            <a:off x="1162050" y="1768476"/>
            <a:ext cx="40640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Add</a:t>
            </a:r>
          </a:p>
        </p:txBody>
      </p:sp>
      <p:sp>
        <p:nvSpPr>
          <p:cNvPr id="68678" name="Rectangle 70"/>
          <p:cNvSpPr>
            <a:spLocks noChangeArrowheads="1"/>
          </p:cNvSpPr>
          <p:nvPr/>
        </p:nvSpPr>
        <p:spPr bwMode="auto">
          <a:xfrm>
            <a:off x="525463" y="2940051"/>
            <a:ext cx="3365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clk</a:t>
            </a:r>
          </a:p>
        </p:txBody>
      </p:sp>
      <p:sp>
        <p:nvSpPr>
          <p:cNvPr id="68679" name="Line 71"/>
          <p:cNvSpPr>
            <a:spLocks noChangeShapeType="1"/>
          </p:cNvSpPr>
          <p:nvPr/>
        </p:nvSpPr>
        <p:spPr bwMode="auto">
          <a:xfrm>
            <a:off x="725488" y="2867026"/>
            <a:ext cx="0" cy="131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72"/>
          <p:cNvGrpSpPr>
            <a:grpSpLocks/>
          </p:cNvGrpSpPr>
          <p:nvPr/>
        </p:nvGrpSpPr>
        <p:grpSpPr bwMode="auto">
          <a:xfrm>
            <a:off x="536575" y="2286001"/>
            <a:ext cx="1416050" cy="1060450"/>
            <a:chOff x="942" y="1554"/>
            <a:chExt cx="892" cy="668"/>
          </a:xfrm>
        </p:grpSpPr>
        <p:sp>
          <p:nvSpPr>
            <p:cNvPr id="68702" name="Freeform 73"/>
            <p:cNvSpPr>
              <a:spLocks/>
            </p:cNvSpPr>
            <p:nvPr/>
          </p:nvSpPr>
          <p:spPr bwMode="auto">
            <a:xfrm>
              <a:off x="1127" y="1738"/>
              <a:ext cx="193" cy="1"/>
            </a:xfrm>
            <a:custGeom>
              <a:avLst/>
              <a:gdLst>
                <a:gd name="T0" fmla="*/ 0 w 193"/>
                <a:gd name="T1" fmla="*/ 0 h 1"/>
                <a:gd name="T2" fmla="*/ 144 w 193"/>
                <a:gd name="T3" fmla="*/ 0 h 1"/>
                <a:gd name="T4" fmla="*/ 192 w 193"/>
                <a:gd name="T5" fmla="*/ 0 h 1"/>
                <a:gd name="T6" fmla="*/ 0 60000 65536"/>
                <a:gd name="T7" fmla="*/ 0 60000 65536"/>
                <a:gd name="T8" fmla="*/ 0 60000 65536"/>
                <a:gd name="T9" fmla="*/ 0 w 193"/>
                <a:gd name="T10" fmla="*/ 0 h 1"/>
                <a:gd name="T11" fmla="*/ 193 w 1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1">
                  <a:moveTo>
                    <a:pt x="0" y="0"/>
                  </a:moveTo>
                  <a:lnTo>
                    <a:pt x="144" y="0"/>
                  </a:lnTo>
                  <a:lnTo>
                    <a:pt x="19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" name="Group 74"/>
            <p:cNvGrpSpPr>
              <a:grpSpLocks/>
            </p:cNvGrpSpPr>
            <p:nvPr/>
          </p:nvGrpSpPr>
          <p:grpSpPr bwMode="auto">
            <a:xfrm>
              <a:off x="1298" y="1621"/>
              <a:ext cx="536" cy="601"/>
              <a:chOff x="1298" y="1621"/>
              <a:chExt cx="536" cy="601"/>
            </a:xfrm>
          </p:grpSpPr>
          <p:sp>
            <p:nvSpPr>
              <p:cNvPr id="68708" name="Rectangle 75"/>
              <p:cNvSpPr>
                <a:spLocks noChangeArrowheads="1"/>
              </p:cNvSpPr>
              <p:nvPr/>
            </p:nvSpPr>
            <p:spPr bwMode="auto">
              <a:xfrm>
                <a:off x="1331" y="1623"/>
                <a:ext cx="472" cy="58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709" name="Rectangle 76"/>
              <p:cNvSpPr>
                <a:spLocks noChangeArrowheads="1"/>
              </p:cNvSpPr>
              <p:nvPr/>
            </p:nvSpPr>
            <p:spPr bwMode="auto">
              <a:xfrm>
                <a:off x="1298" y="1621"/>
                <a:ext cx="30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addr</a:t>
                </a:r>
              </a:p>
            </p:txBody>
          </p:sp>
          <p:sp>
            <p:nvSpPr>
              <p:cNvPr id="68710" name="Rectangle 77"/>
              <p:cNvSpPr>
                <a:spLocks noChangeArrowheads="1"/>
              </p:cNvSpPr>
              <p:nvPr/>
            </p:nvSpPr>
            <p:spPr bwMode="auto">
              <a:xfrm>
                <a:off x="1571" y="1725"/>
                <a:ext cx="26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inst</a:t>
                </a:r>
              </a:p>
            </p:txBody>
          </p:sp>
          <p:sp>
            <p:nvSpPr>
              <p:cNvPr id="68711" name="Rectangle 78"/>
              <p:cNvSpPr>
                <a:spLocks noChangeArrowheads="1"/>
              </p:cNvSpPr>
              <p:nvPr/>
            </p:nvSpPr>
            <p:spPr bwMode="auto">
              <a:xfrm>
                <a:off x="1305" y="1898"/>
                <a:ext cx="518" cy="32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Inst.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Memory</a:t>
                </a:r>
              </a:p>
            </p:txBody>
          </p:sp>
        </p:grpSp>
        <p:sp>
          <p:nvSpPr>
            <p:cNvPr id="68704" name="Rectangle 79"/>
            <p:cNvSpPr>
              <a:spLocks noChangeArrowheads="1"/>
            </p:cNvSpPr>
            <p:nvPr/>
          </p:nvSpPr>
          <p:spPr bwMode="auto">
            <a:xfrm>
              <a:off x="991" y="1554"/>
              <a:ext cx="128" cy="36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05" name="Line 80"/>
            <p:cNvSpPr>
              <a:spLocks noChangeShapeType="1"/>
            </p:cNvSpPr>
            <p:nvPr/>
          </p:nvSpPr>
          <p:spPr bwMode="auto">
            <a:xfrm>
              <a:off x="1135" y="1738"/>
              <a:ext cx="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06" name="Rectangle 81"/>
            <p:cNvSpPr>
              <a:spLocks noChangeArrowheads="1"/>
            </p:cNvSpPr>
            <p:nvPr/>
          </p:nvSpPr>
          <p:spPr bwMode="auto">
            <a:xfrm>
              <a:off x="942" y="1664"/>
              <a:ext cx="247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PC</a:t>
              </a:r>
            </a:p>
          </p:txBody>
        </p:sp>
        <p:sp>
          <p:nvSpPr>
            <p:cNvPr id="68707" name="Freeform 82"/>
            <p:cNvSpPr>
              <a:spLocks/>
            </p:cNvSpPr>
            <p:nvPr/>
          </p:nvSpPr>
          <p:spPr bwMode="auto">
            <a:xfrm>
              <a:off x="1031" y="1874"/>
              <a:ext cx="49" cy="49"/>
            </a:xfrm>
            <a:custGeom>
              <a:avLst/>
              <a:gdLst>
                <a:gd name="T0" fmla="*/ 0 w 49"/>
                <a:gd name="T1" fmla="*/ 48 h 49"/>
                <a:gd name="T2" fmla="*/ 24 w 49"/>
                <a:gd name="T3" fmla="*/ 0 h 49"/>
                <a:gd name="T4" fmla="*/ 48 w 49"/>
                <a:gd name="T5" fmla="*/ 48 h 49"/>
                <a:gd name="T6" fmla="*/ 0 60000 65536"/>
                <a:gd name="T7" fmla="*/ 0 60000 65536"/>
                <a:gd name="T8" fmla="*/ 0 60000 65536"/>
                <a:gd name="T9" fmla="*/ 0 w 49"/>
                <a:gd name="T10" fmla="*/ 0 h 49"/>
                <a:gd name="T11" fmla="*/ 49 w 49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8681" name="Freeform 83"/>
          <p:cNvSpPr>
            <a:spLocks/>
          </p:cNvSpPr>
          <p:nvPr/>
        </p:nvSpPr>
        <p:spPr bwMode="auto">
          <a:xfrm>
            <a:off x="895350" y="2057401"/>
            <a:ext cx="266700" cy="528638"/>
          </a:xfrm>
          <a:custGeom>
            <a:avLst/>
            <a:gdLst>
              <a:gd name="T0" fmla="*/ 1 w 168"/>
              <a:gd name="T1" fmla="*/ 333 h 333"/>
              <a:gd name="T2" fmla="*/ 0 w 168"/>
              <a:gd name="T3" fmla="*/ 5 h 333"/>
              <a:gd name="T4" fmla="*/ 5 w 168"/>
              <a:gd name="T5" fmla="*/ 0 h 333"/>
              <a:gd name="T6" fmla="*/ 168 w 168"/>
              <a:gd name="T7" fmla="*/ 4 h 333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333"/>
              <a:gd name="T14" fmla="*/ 168 w 168"/>
              <a:gd name="T15" fmla="*/ 333 h 3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333">
                <a:moveTo>
                  <a:pt x="1" y="333"/>
                </a:moveTo>
                <a:lnTo>
                  <a:pt x="0" y="5"/>
                </a:lnTo>
                <a:lnTo>
                  <a:pt x="5" y="0"/>
                </a:lnTo>
                <a:lnTo>
                  <a:pt x="168" y="4"/>
                </a:ln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82" name="Freeform 84"/>
          <p:cNvSpPr>
            <a:spLocks/>
          </p:cNvSpPr>
          <p:nvPr/>
        </p:nvSpPr>
        <p:spPr bwMode="auto">
          <a:xfrm>
            <a:off x="330200" y="1270001"/>
            <a:ext cx="1455738" cy="1341438"/>
          </a:xfrm>
          <a:custGeom>
            <a:avLst/>
            <a:gdLst>
              <a:gd name="T0" fmla="*/ 762 w 917"/>
              <a:gd name="T1" fmla="*/ 410 h 845"/>
              <a:gd name="T2" fmla="*/ 917 w 917"/>
              <a:gd name="T3" fmla="*/ 410 h 845"/>
              <a:gd name="T4" fmla="*/ 915 w 917"/>
              <a:gd name="T5" fmla="*/ 1 h 845"/>
              <a:gd name="T6" fmla="*/ 641 w 917"/>
              <a:gd name="T7" fmla="*/ 0 h 845"/>
              <a:gd name="T8" fmla="*/ 2 w 917"/>
              <a:gd name="T9" fmla="*/ 1 h 845"/>
              <a:gd name="T10" fmla="*/ 0 w 917"/>
              <a:gd name="T11" fmla="*/ 845 h 845"/>
              <a:gd name="T12" fmla="*/ 177 w 917"/>
              <a:gd name="T13" fmla="*/ 845 h 84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7"/>
              <a:gd name="T22" fmla="*/ 0 h 845"/>
              <a:gd name="T23" fmla="*/ 917 w 917"/>
              <a:gd name="T24" fmla="*/ 845 h 84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7" h="845">
                <a:moveTo>
                  <a:pt x="762" y="410"/>
                </a:moveTo>
                <a:lnTo>
                  <a:pt x="917" y="410"/>
                </a:lnTo>
                <a:lnTo>
                  <a:pt x="915" y="1"/>
                </a:lnTo>
                <a:lnTo>
                  <a:pt x="641" y="0"/>
                </a:lnTo>
                <a:lnTo>
                  <a:pt x="2" y="1"/>
                </a:lnTo>
                <a:lnTo>
                  <a:pt x="0" y="845"/>
                </a:lnTo>
                <a:lnTo>
                  <a:pt x="177" y="845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83" name="Rectangle 85"/>
          <p:cNvSpPr>
            <a:spLocks noChangeArrowheads="1"/>
          </p:cNvSpPr>
          <p:nvPr/>
        </p:nvSpPr>
        <p:spPr bwMode="auto">
          <a:xfrm>
            <a:off x="3298825" y="1239838"/>
            <a:ext cx="10096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RegWriteEn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68684" name="Rectangle 86"/>
          <p:cNvSpPr>
            <a:spLocks noChangeArrowheads="1"/>
          </p:cNvSpPr>
          <p:nvPr/>
        </p:nvSpPr>
        <p:spPr bwMode="auto">
          <a:xfrm>
            <a:off x="3275013" y="1563688"/>
            <a:ext cx="336550" cy="241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clk</a:t>
            </a:r>
          </a:p>
        </p:txBody>
      </p:sp>
      <p:sp>
        <p:nvSpPr>
          <p:cNvPr id="68685" name="Line 87"/>
          <p:cNvSpPr>
            <a:spLocks noChangeShapeType="1"/>
          </p:cNvSpPr>
          <p:nvPr/>
        </p:nvSpPr>
        <p:spPr bwMode="auto">
          <a:xfrm>
            <a:off x="3425825" y="1822451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86" name="Freeform 88"/>
          <p:cNvSpPr>
            <a:spLocks/>
          </p:cNvSpPr>
          <p:nvPr/>
        </p:nvSpPr>
        <p:spPr bwMode="auto">
          <a:xfrm>
            <a:off x="3695700" y="1595438"/>
            <a:ext cx="1588" cy="369888"/>
          </a:xfrm>
          <a:custGeom>
            <a:avLst/>
            <a:gdLst>
              <a:gd name="T0" fmla="*/ 0 w 1"/>
              <a:gd name="T1" fmla="*/ 0 h 233"/>
              <a:gd name="T2" fmla="*/ 0 w 1"/>
              <a:gd name="T3" fmla="*/ 232 h 233"/>
              <a:gd name="T4" fmla="*/ 0 60000 65536"/>
              <a:gd name="T5" fmla="*/ 0 60000 65536"/>
              <a:gd name="T6" fmla="*/ 0 w 1"/>
              <a:gd name="T7" fmla="*/ 0 h 233"/>
              <a:gd name="T8" fmla="*/ 1 w 1"/>
              <a:gd name="T9" fmla="*/ 233 h 2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33">
                <a:moveTo>
                  <a:pt x="0" y="0"/>
                </a:moveTo>
                <a:lnTo>
                  <a:pt x="0" y="232"/>
                </a:ln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87" name="Rectangle 89"/>
          <p:cNvSpPr>
            <a:spLocks noChangeArrowheads="1"/>
          </p:cNvSpPr>
          <p:nvPr/>
        </p:nvSpPr>
        <p:spPr bwMode="auto">
          <a:xfrm>
            <a:off x="3362325" y="1962151"/>
            <a:ext cx="584200" cy="1079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88" name="Rectangle 90"/>
          <p:cNvSpPr>
            <a:spLocks noChangeArrowheads="1"/>
          </p:cNvSpPr>
          <p:nvPr/>
        </p:nvSpPr>
        <p:spPr bwMode="auto">
          <a:xfrm>
            <a:off x="3614738" y="2359026"/>
            <a:ext cx="4016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rd1</a:t>
            </a:r>
          </a:p>
        </p:txBody>
      </p:sp>
      <p:sp>
        <p:nvSpPr>
          <p:cNvPr id="68689" name="Rectangle 91"/>
          <p:cNvSpPr>
            <a:spLocks noChangeArrowheads="1"/>
          </p:cNvSpPr>
          <p:nvPr/>
        </p:nvSpPr>
        <p:spPr bwMode="auto">
          <a:xfrm>
            <a:off x="3336925" y="2794001"/>
            <a:ext cx="655638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rgbClr val="56127A"/>
                </a:solidFill>
              </a:rPr>
              <a:t>GPRs</a:t>
            </a:r>
          </a:p>
        </p:txBody>
      </p:sp>
      <p:sp>
        <p:nvSpPr>
          <p:cNvPr id="68690" name="Rectangle 92"/>
          <p:cNvSpPr>
            <a:spLocks noChangeArrowheads="1"/>
          </p:cNvSpPr>
          <p:nvPr/>
        </p:nvSpPr>
        <p:spPr bwMode="auto">
          <a:xfrm>
            <a:off x="3309938" y="2047876"/>
            <a:ext cx="392113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rs1</a:t>
            </a:r>
          </a:p>
        </p:txBody>
      </p:sp>
      <p:sp>
        <p:nvSpPr>
          <p:cNvPr id="68691" name="Rectangle 93"/>
          <p:cNvSpPr>
            <a:spLocks noChangeArrowheads="1"/>
          </p:cNvSpPr>
          <p:nvPr/>
        </p:nvSpPr>
        <p:spPr bwMode="auto">
          <a:xfrm>
            <a:off x="3309938" y="2200276"/>
            <a:ext cx="392113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rs2</a:t>
            </a:r>
          </a:p>
        </p:txBody>
      </p:sp>
      <p:sp>
        <p:nvSpPr>
          <p:cNvPr id="68692" name="Rectangle 94"/>
          <p:cNvSpPr>
            <a:spLocks noChangeArrowheads="1"/>
          </p:cNvSpPr>
          <p:nvPr/>
        </p:nvSpPr>
        <p:spPr bwMode="auto">
          <a:xfrm>
            <a:off x="3309938" y="2492376"/>
            <a:ext cx="37941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wa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68693" name="Rectangle 95"/>
          <p:cNvSpPr>
            <a:spLocks noChangeArrowheads="1"/>
          </p:cNvSpPr>
          <p:nvPr/>
        </p:nvSpPr>
        <p:spPr bwMode="auto">
          <a:xfrm>
            <a:off x="3309938" y="2641601"/>
            <a:ext cx="3762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wd</a:t>
            </a:r>
          </a:p>
        </p:txBody>
      </p:sp>
      <p:sp>
        <p:nvSpPr>
          <p:cNvPr id="68694" name="Rectangle 96"/>
          <p:cNvSpPr>
            <a:spLocks noChangeArrowheads="1"/>
          </p:cNvSpPr>
          <p:nvPr/>
        </p:nvSpPr>
        <p:spPr bwMode="auto">
          <a:xfrm>
            <a:off x="3622675" y="2643188"/>
            <a:ext cx="4016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rd2</a:t>
            </a:r>
          </a:p>
        </p:txBody>
      </p:sp>
      <p:sp>
        <p:nvSpPr>
          <p:cNvPr id="68695" name="Rectangle 97"/>
          <p:cNvSpPr>
            <a:spLocks noChangeArrowheads="1"/>
          </p:cNvSpPr>
          <p:nvPr/>
        </p:nvSpPr>
        <p:spPr bwMode="auto">
          <a:xfrm>
            <a:off x="3513138" y="1882776"/>
            <a:ext cx="3762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we</a:t>
            </a:r>
          </a:p>
        </p:txBody>
      </p:sp>
      <p:sp>
        <p:nvSpPr>
          <p:cNvPr id="68696" name="Line 98"/>
          <p:cNvSpPr>
            <a:spLocks noChangeShapeType="1"/>
          </p:cNvSpPr>
          <p:nvPr/>
        </p:nvSpPr>
        <p:spPr bwMode="auto">
          <a:xfrm>
            <a:off x="3419475" y="2825751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97" name="Rectangle 99"/>
          <p:cNvSpPr>
            <a:spLocks noChangeArrowheads="1"/>
          </p:cNvSpPr>
          <p:nvPr/>
        </p:nvSpPr>
        <p:spPr bwMode="auto">
          <a:xfrm>
            <a:off x="3351213" y="3198813"/>
            <a:ext cx="584200" cy="317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98" name="Rectangle 100"/>
          <p:cNvSpPr>
            <a:spLocks noChangeArrowheads="1"/>
          </p:cNvSpPr>
          <p:nvPr/>
        </p:nvSpPr>
        <p:spPr bwMode="auto">
          <a:xfrm>
            <a:off x="3376613" y="3186113"/>
            <a:ext cx="611188" cy="37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Imm</a:t>
            </a:r>
            <a:endParaRPr lang="en-US" sz="1200" dirty="0">
              <a:solidFill>
                <a:srgbClr val="56127A"/>
              </a:solidFill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Select</a:t>
            </a:r>
          </a:p>
        </p:txBody>
      </p:sp>
      <p:grpSp>
        <p:nvGrpSpPr>
          <p:cNvPr id="7" name="Group 101"/>
          <p:cNvGrpSpPr>
            <a:grpSpLocks/>
          </p:cNvGrpSpPr>
          <p:nvPr/>
        </p:nvGrpSpPr>
        <p:grpSpPr bwMode="auto">
          <a:xfrm>
            <a:off x="3384550" y="1962151"/>
            <a:ext cx="80963" cy="87313"/>
            <a:chOff x="2815" y="1407"/>
            <a:chExt cx="51" cy="55"/>
          </a:xfrm>
        </p:grpSpPr>
        <p:sp>
          <p:nvSpPr>
            <p:cNvPr id="68700" name="Line 102"/>
            <p:cNvSpPr>
              <a:spLocks noChangeShapeType="1"/>
            </p:cNvSpPr>
            <p:nvPr/>
          </p:nvSpPr>
          <p:spPr bwMode="auto">
            <a:xfrm>
              <a:off x="2815" y="1407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01" name="Line 103"/>
            <p:cNvSpPr>
              <a:spLocks noChangeShapeType="1"/>
            </p:cNvSpPr>
            <p:nvPr/>
          </p:nvSpPr>
          <p:spPr bwMode="auto">
            <a:xfrm flipH="1">
              <a:off x="2842" y="1410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" name="Group 104"/>
          <p:cNvGrpSpPr>
            <a:grpSpLocks/>
          </p:cNvGrpSpPr>
          <p:nvPr/>
        </p:nvGrpSpPr>
        <p:grpSpPr bwMode="auto">
          <a:xfrm>
            <a:off x="6678613" y="1270000"/>
            <a:ext cx="973137" cy="2349500"/>
            <a:chOff x="4207" y="800"/>
            <a:chExt cx="613" cy="1480"/>
          </a:xfrm>
        </p:grpSpPr>
        <p:sp>
          <p:nvSpPr>
            <p:cNvPr id="68624" name="Rectangle 105"/>
            <p:cNvSpPr>
              <a:spLocks noChangeArrowheads="1"/>
            </p:cNvSpPr>
            <p:nvPr/>
          </p:nvSpPr>
          <p:spPr bwMode="auto">
            <a:xfrm>
              <a:off x="4207" y="1256"/>
              <a:ext cx="212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68625" name="Line 106"/>
            <p:cNvSpPr>
              <a:spLocks noChangeShapeType="1"/>
            </p:cNvSpPr>
            <p:nvPr/>
          </p:nvSpPr>
          <p:spPr bwMode="auto">
            <a:xfrm>
              <a:off x="4340" y="1448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26" name="Rectangle 107"/>
            <p:cNvSpPr>
              <a:spLocks noChangeArrowheads="1"/>
            </p:cNvSpPr>
            <p:nvPr/>
          </p:nvSpPr>
          <p:spPr bwMode="auto">
            <a:xfrm>
              <a:off x="4247" y="800"/>
              <a:ext cx="573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>
                  <a:solidFill>
                    <a:srgbClr val="56127A"/>
                  </a:solidFill>
                </a:rPr>
                <a:t>MemWrite</a:t>
              </a:r>
            </a:p>
          </p:txBody>
        </p:sp>
        <p:sp>
          <p:nvSpPr>
            <p:cNvPr id="68627" name="Freeform 108"/>
            <p:cNvSpPr>
              <a:spLocks/>
            </p:cNvSpPr>
            <p:nvPr/>
          </p:nvSpPr>
          <p:spPr bwMode="auto">
            <a:xfrm>
              <a:off x="4496" y="972"/>
              <a:ext cx="1" cy="553"/>
            </a:xfrm>
            <a:custGeom>
              <a:avLst/>
              <a:gdLst>
                <a:gd name="T0" fmla="*/ 0 w 1"/>
                <a:gd name="T1" fmla="*/ 0 h 553"/>
                <a:gd name="T2" fmla="*/ 0 w 1"/>
                <a:gd name="T3" fmla="*/ 552 h 553"/>
                <a:gd name="T4" fmla="*/ 0 60000 65536"/>
                <a:gd name="T5" fmla="*/ 0 60000 65536"/>
                <a:gd name="T6" fmla="*/ 0 w 1"/>
                <a:gd name="T7" fmla="*/ 0 h 553"/>
                <a:gd name="T8" fmla="*/ 1 w 1"/>
                <a:gd name="T9" fmla="*/ 553 h 5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53">
                  <a:moveTo>
                    <a:pt x="0" y="0"/>
                  </a:moveTo>
                  <a:lnTo>
                    <a:pt x="0" y="552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28" name="Rectangle 109"/>
            <p:cNvSpPr>
              <a:spLocks noChangeArrowheads="1"/>
            </p:cNvSpPr>
            <p:nvPr/>
          </p:nvSpPr>
          <p:spPr bwMode="auto">
            <a:xfrm>
              <a:off x="4280" y="1528"/>
              <a:ext cx="488" cy="75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29" name="Rectangle 110"/>
            <p:cNvSpPr>
              <a:spLocks noChangeArrowheads="1"/>
            </p:cNvSpPr>
            <p:nvPr/>
          </p:nvSpPr>
          <p:spPr bwMode="auto">
            <a:xfrm>
              <a:off x="4255" y="1574"/>
              <a:ext cx="30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addr</a:t>
              </a:r>
            </a:p>
          </p:txBody>
        </p:sp>
        <p:sp>
          <p:nvSpPr>
            <p:cNvPr id="68630" name="Rectangle 111"/>
            <p:cNvSpPr>
              <a:spLocks noChangeArrowheads="1"/>
            </p:cNvSpPr>
            <p:nvPr/>
          </p:nvSpPr>
          <p:spPr bwMode="auto">
            <a:xfrm>
              <a:off x="4255" y="2103"/>
              <a:ext cx="370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wdata</a:t>
              </a:r>
            </a:p>
          </p:txBody>
        </p:sp>
        <p:sp>
          <p:nvSpPr>
            <p:cNvPr id="68631" name="Rectangle 112"/>
            <p:cNvSpPr>
              <a:spLocks noChangeArrowheads="1"/>
            </p:cNvSpPr>
            <p:nvPr/>
          </p:nvSpPr>
          <p:spPr bwMode="auto">
            <a:xfrm>
              <a:off x="4474" y="1772"/>
              <a:ext cx="33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rdata</a:t>
              </a:r>
            </a:p>
          </p:txBody>
        </p:sp>
        <p:sp>
          <p:nvSpPr>
            <p:cNvPr id="68632" name="Rectangle 113"/>
            <p:cNvSpPr>
              <a:spLocks noChangeArrowheads="1"/>
            </p:cNvSpPr>
            <p:nvPr/>
          </p:nvSpPr>
          <p:spPr bwMode="auto">
            <a:xfrm>
              <a:off x="4271" y="1836"/>
              <a:ext cx="518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Data 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Memory</a:t>
              </a:r>
            </a:p>
          </p:txBody>
        </p:sp>
        <p:sp>
          <p:nvSpPr>
            <p:cNvPr id="68633" name="Rectangle 114"/>
            <p:cNvSpPr>
              <a:spLocks noChangeArrowheads="1"/>
            </p:cNvSpPr>
            <p:nvPr/>
          </p:nvSpPr>
          <p:spPr bwMode="auto">
            <a:xfrm>
              <a:off x="4375" y="1478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we</a:t>
              </a:r>
            </a:p>
          </p:txBody>
        </p:sp>
        <p:grpSp>
          <p:nvGrpSpPr>
            <p:cNvPr id="9" name="Group 115"/>
            <p:cNvGrpSpPr>
              <a:grpSpLocks/>
            </p:cNvGrpSpPr>
            <p:nvPr/>
          </p:nvGrpSpPr>
          <p:grpSpPr bwMode="auto">
            <a:xfrm>
              <a:off x="4315" y="1526"/>
              <a:ext cx="51" cy="55"/>
              <a:chOff x="2815" y="1407"/>
              <a:chExt cx="51" cy="55"/>
            </a:xfrm>
          </p:grpSpPr>
          <p:sp>
            <p:nvSpPr>
              <p:cNvPr id="68635" name="Line 116"/>
              <p:cNvSpPr>
                <a:spLocks noChangeShapeType="1"/>
              </p:cNvSpPr>
              <p:nvPr/>
            </p:nvSpPr>
            <p:spPr bwMode="auto">
              <a:xfrm>
                <a:off x="2815" y="1407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636" name="Line 117"/>
              <p:cNvSpPr>
                <a:spLocks noChangeShapeType="1"/>
              </p:cNvSpPr>
              <p:nvPr/>
            </p:nvSpPr>
            <p:spPr bwMode="auto">
              <a:xfrm flipH="1">
                <a:off x="2842" y="1410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533400" y="5105400"/>
            <a:ext cx="8797921" cy="1179512"/>
            <a:chOff x="625" y="3481"/>
            <a:chExt cx="5542" cy="743"/>
          </a:xfrm>
        </p:grpSpPr>
        <p:sp>
          <p:nvSpPr>
            <p:cNvPr id="120" name="Rectangle 10"/>
            <p:cNvSpPr>
              <a:spLocks noChangeArrowheads="1"/>
            </p:cNvSpPr>
            <p:nvPr/>
          </p:nvSpPr>
          <p:spPr bwMode="auto">
            <a:xfrm>
              <a:off x="625" y="3895"/>
              <a:ext cx="361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 </a:t>
              </a: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rd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	  rs1   </a:t>
              </a:r>
              <a:r>
                <a:rPr lang="en-US" dirty="0">
                  <a:solidFill>
                    <a:srgbClr val="56127A"/>
                  </a:solidFill>
                  <a:latin typeface="Verdana" charset="0"/>
                </a:rPr>
                <a:t>immediate12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</a:t>
              </a:r>
              <a:r>
                <a:rPr lang="en-US" dirty="0">
                  <a:solidFill>
                    <a:srgbClr val="56127A"/>
                  </a:solidFill>
                  <a:latin typeface="Verdana" charset="0"/>
                </a:rPr>
                <a:t>func3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</a:t>
              </a: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opcode</a:t>
              </a: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    Load</a:t>
              </a:r>
            </a:p>
          </p:txBody>
        </p:sp>
        <p:grpSp>
          <p:nvGrpSpPr>
            <p:cNvPr id="11" name="Group 5"/>
            <p:cNvGrpSpPr>
              <a:grpSpLocks/>
            </p:cNvGrpSpPr>
            <p:nvPr/>
          </p:nvGrpSpPr>
          <p:grpSpPr bwMode="auto">
            <a:xfrm>
              <a:off x="640" y="3925"/>
              <a:ext cx="3029" cy="200"/>
              <a:chOff x="677" y="3989"/>
              <a:chExt cx="3029" cy="200"/>
            </a:xfrm>
          </p:grpSpPr>
          <p:sp>
            <p:nvSpPr>
              <p:cNvPr id="133" name="Rectangle 7"/>
              <p:cNvSpPr>
                <a:spLocks noChangeArrowheads="1"/>
              </p:cNvSpPr>
              <p:nvPr/>
            </p:nvSpPr>
            <p:spPr bwMode="auto">
              <a:xfrm>
                <a:off x="677" y="3989"/>
                <a:ext cx="3029" cy="2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Line 8"/>
              <p:cNvSpPr>
                <a:spLocks noChangeShapeType="1"/>
              </p:cNvSpPr>
              <p:nvPr/>
            </p:nvSpPr>
            <p:spPr bwMode="auto">
              <a:xfrm>
                <a:off x="1746" y="3997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Line 9"/>
              <p:cNvSpPr>
                <a:spLocks noChangeShapeType="1"/>
              </p:cNvSpPr>
              <p:nvPr/>
            </p:nvSpPr>
            <p:spPr bwMode="auto">
              <a:xfrm>
                <a:off x="1242" y="3997"/>
                <a:ext cx="0" cy="19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2" name="Rectangle 11"/>
            <p:cNvSpPr>
              <a:spLocks noChangeArrowheads="1"/>
            </p:cNvSpPr>
            <p:nvPr/>
          </p:nvSpPr>
          <p:spPr bwMode="auto">
            <a:xfrm>
              <a:off x="3736" y="3993"/>
              <a:ext cx="1704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2" name="Group 12"/>
            <p:cNvGrpSpPr>
              <a:grpSpLocks/>
            </p:cNvGrpSpPr>
            <p:nvPr/>
          </p:nvGrpSpPr>
          <p:grpSpPr bwMode="auto">
            <a:xfrm>
              <a:off x="637" y="3481"/>
              <a:ext cx="5530" cy="471"/>
              <a:chOff x="621" y="3721"/>
              <a:chExt cx="5530" cy="471"/>
            </a:xfrm>
          </p:grpSpPr>
          <p:sp>
            <p:nvSpPr>
              <p:cNvPr id="124" name="Rectangle 13"/>
              <p:cNvSpPr>
                <a:spLocks noChangeArrowheads="1"/>
              </p:cNvSpPr>
              <p:nvPr/>
            </p:nvSpPr>
            <p:spPr bwMode="auto">
              <a:xfrm>
                <a:off x="3752" y="3961"/>
                <a:ext cx="1704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3" name="Group 14"/>
              <p:cNvGrpSpPr>
                <a:grpSpLocks/>
              </p:cNvGrpSpPr>
              <p:nvPr/>
            </p:nvGrpSpPr>
            <p:grpSpPr bwMode="auto">
              <a:xfrm>
                <a:off x="621" y="3721"/>
                <a:ext cx="5530" cy="407"/>
                <a:chOff x="621" y="3721"/>
                <a:chExt cx="5530" cy="407"/>
              </a:xfrm>
            </p:grpSpPr>
            <p:sp>
              <p:nvSpPr>
                <p:cNvPr id="126" name="Rectangle 15"/>
                <p:cNvSpPr>
                  <a:spLocks noChangeArrowheads="1"/>
                </p:cNvSpPr>
                <p:nvPr/>
              </p:nvSpPr>
              <p:spPr bwMode="auto">
                <a:xfrm>
                  <a:off x="621" y="3721"/>
                  <a:ext cx="5530" cy="406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  </a:t>
                  </a:r>
                  <a:r>
                    <a:rPr lang="en-US" sz="1800" dirty="0">
                      <a:solidFill>
                        <a:schemeClr val="tx1"/>
                      </a:solidFill>
                      <a:latin typeface="Verdana" charset="0"/>
                    </a:rPr>
                    <a:t>5	   5	 5       7       3        7                      Addressing Mode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imm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	  rs1	rs2 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imm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</a:t>
                  </a:r>
                  <a:r>
                    <a:rPr lang="en-US" dirty="0">
                      <a:solidFill>
                        <a:srgbClr val="56127A"/>
                      </a:solidFill>
                      <a:latin typeface="Verdana" charset="0"/>
                    </a:rPr>
                    <a:t>func3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opcode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   Store     (</a:t>
                  </a:r>
                  <a:r>
                    <a:rPr lang="en-US" sz="1800" dirty="0" err="1">
                      <a:solidFill>
                        <a:srgbClr val="56127A"/>
                      </a:solidFill>
                      <a:latin typeface="Verdana" charset="0"/>
                    </a:rPr>
                    <a:t>rs</a:t>
                  </a:r>
                  <a:r>
                    <a:rPr lang="en-US" sz="1800" dirty="0">
                      <a:solidFill>
                        <a:srgbClr val="56127A"/>
                      </a:solidFill>
                      <a:latin typeface="Verdana" charset="0"/>
                    </a:rPr>
                    <a:t>) + displacement</a:t>
                  </a:r>
                </a:p>
              </p:txBody>
            </p:sp>
            <p:sp>
              <p:nvSpPr>
                <p:cNvPr id="127" name="Rectangle 16"/>
                <p:cNvSpPr>
                  <a:spLocks noChangeArrowheads="1"/>
                </p:cNvSpPr>
                <p:nvPr/>
              </p:nvSpPr>
              <p:spPr bwMode="auto">
                <a:xfrm>
                  <a:off x="624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Rectangle 17"/>
                <p:cNvSpPr>
                  <a:spLocks noChangeArrowheads="1"/>
                </p:cNvSpPr>
                <p:nvPr/>
              </p:nvSpPr>
              <p:spPr bwMode="auto">
                <a:xfrm>
                  <a:off x="2144" y="3911"/>
                  <a:ext cx="1520" cy="200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Line 18"/>
                <p:cNvSpPr>
                  <a:spLocks noChangeShapeType="1"/>
                </p:cNvSpPr>
                <p:nvPr/>
              </p:nvSpPr>
              <p:spPr bwMode="auto">
                <a:xfrm>
                  <a:off x="1702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Line 19"/>
                <p:cNvSpPr>
                  <a:spLocks noChangeShapeType="1"/>
                </p:cNvSpPr>
                <p:nvPr/>
              </p:nvSpPr>
              <p:spPr bwMode="auto">
                <a:xfrm>
                  <a:off x="1198" y="3919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Line 21"/>
                <p:cNvSpPr>
                  <a:spLocks noChangeShapeType="1"/>
                </p:cNvSpPr>
                <p:nvPr/>
              </p:nvSpPr>
              <p:spPr bwMode="auto">
                <a:xfrm>
                  <a:off x="3008" y="3916"/>
                  <a:ext cx="0" cy="19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Rectangle 22"/>
                <p:cNvSpPr>
                  <a:spLocks noChangeArrowheads="1"/>
                </p:cNvSpPr>
                <p:nvPr/>
              </p:nvSpPr>
              <p:spPr bwMode="auto">
                <a:xfrm>
                  <a:off x="3760" y="3897"/>
                  <a:ext cx="1336" cy="231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36" name="Line 21"/>
          <p:cNvSpPr>
            <a:spLocks noChangeShapeType="1"/>
          </p:cNvSpPr>
          <p:nvPr/>
        </p:nvSpPr>
        <p:spPr bwMode="auto">
          <a:xfrm>
            <a:off x="4343400" y="581992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Line 21"/>
          <p:cNvSpPr>
            <a:spLocks noChangeShapeType="1"/>
          </p:cNvSpPr>
          <p:nvPr/>
        </p:nvSpPr>
        <p:spPr bwMode="auto">
          <a:xfrm>
            <a:off x="3657600" y="581992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Line 21"/>
          <p:cNvSpPr>
            <a:spLocks noChangeShapeType="1"/>
          </p:cNvSpPr>
          <p:nvPr/>
        </p:nvSpPr>
        <p:spPr bwMode="auto">
          <a:xfrm>
            <a:off x="3657600" y="5410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008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2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2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22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2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122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682" grpId="0" animBg="1"/>
      <p:bldP spid="1223683" grpId="0" animBg="1"/>
      <p:bldP spid="1223684" grpId="0" animBg="1"/>
      <p:bldP spid="1223685" grpId="0" animBg="1"/>
      <p:bldP spid="122368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Conditional Branches</a:t>
            </a:r>
          </a:p>
        </p:txBody>
      </p:sp>
      <p:sp>
        <p:nvSpPr>
          <p:cNvPr id="66" name="Content Placeholder 65"/>
          <p:cNvSpPr>
            <a:spLocks noGrp="1"/>
          </p:cNvSpPr>
          <p:nvPr>
            <p:ph idx="1"/>
          </p:nvPr>
        </p:nvSpPr>
        <p:spPr>
          <a:xfrm>
            <a:off x="698500" y="2895600"/>
            <a:ext cx="7683500" cy="3225800"/>
          </a:xfrm>
        </p:spPr>
        <p:txBody>
          <a:bodyPr/>
          <a:lstStyle/>
          <a:p>
            <a:r>
              <a:rPr lang="en-US" dirty="0"/>
              <a:t>Compare two integer registers for equality (BEQ/BNE) or signed magnitude (BLT/BGE) or unsigned magnitude (BLTU/BGEU)</a:t>
            </a:r>
          </a:p>
          <a:p>
            <a:r>
              <a:rPr lang="en-US" dirty="0"/>
              <a:t>12-bit immediate encodes branch target address as a signed offset from PC, in units of 16-bits (i.e., shift left by 1 then add to PC).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FD071-345F-074F-ACB4-FB27A4E13900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0662" name="Rectangle 3"/>
          <p:cNvSpPr>
            <a:spLocks noChangeArrowheads="1"/>
          </p:cNvSpPr>
          <p:nvPr/>
        </p:nvSpPr>
        <p:spPr bwMode="auto">
          <a:xfrm>
            <a:off x="76200" y="6402388"/>
            <a:ext cx="59324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7696200" y="819090"/>
            <a:ext cx="609600" cy="40011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/>
              <a:cs typeface="Verdana"/>
            </a:endParaRPr>
          </a:p>
        </p:txBody>
      </p:sp>
      <p:grpSp>
        <p:nvGrpSpPr>
          <p:cNvPr id="2" name="Group 61"/>
          <p:cNvGrpSpPr/>
          <p:nvPr/>
        </p:nvGrpSpPr>
        <p:grpSpPr>
          <a:xfrm>
            <a:off x="361846" y="1295400"/>
            <a:ext cx="6781800" cy="990600"/>
            <a:chOff x="152400" y="1676400"/>
            <a:chExt cx="6781800" cy="990600"/>
          </a:xfrm>
        </p:grpSpPr>
        <p:grpSp>
          <p:nvGrpSpPr>
            <p:cNvPr id="3" name="Group 29"/>
            <p:cNvGrpSpPr/>
            <p:nvPr/>
          </p:nvGrpSpPr>
          <p:grpSpPr>
            <a:xfrm>
              <a:off x="5715000" y="1676400"/>
              <a:ext cx="1219200" cy="990600"/>
              <a:chOff x="7086600" y="76200"/>
              <a:chExt cx="1219200" cy="990600"/>
            </a:xfrm>
          </p:grpSpPr>
          <p:sp>
            <p:nvSpPr>
              <p:cNvPr id="27" name="Rectangle 26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7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6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0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solidFill>
                      <a:srgbClr val="000000"/>
                    </a:solidFill>
                    <a:latin typeface="Verdana"/>
                    <a:cs typeface="Verdana"/>
                  </a:rPr>
                  <a:t>opcode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4" name="Group 30"/>
            <p:cNvGrpSpPr/>
            <p:nvPr/>
          </p:nvGrpSpPr>
          <p:grpSpPr>
            <a:xfrm>
              <a:off x="4724400" y="1676400"/>
              <a:ext cx="990600" cy="990600"/>
              <a:chOff x="7086600" y="76200"/>
              <a:chExt cx="1219200" cy="990600"/>
            </a:xfrm>
          </p:grpSpPr>
          <p:sp>
            <p:nvSpPr>
              <p:cNvPr id="32" name="Rectangle 31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3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9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7</a:t>
                </a:r>
              </a:p>
            </p:txBody>
          </p:sp>
          <p:sp>
            <p:nvSpPr>
              <p:cNvPr id="35" name="Rectangle 34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latin typeface="Verdana"/>
                    <a:cs typeface="Verdana"/>
                  </a:rPr>
                  <a:t>func3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5" name="Group 41"/>
            <p:cNvGrpSpPr/>
            <p:nvPr/>
          </p:nvGrpSpPr>
          <p:grpSpPr>
            <a:xfrm>
              <a:off x="3505200" y="1676400"/>
              <a:ext cx="1219200" cy="990600"/>
              <a:chOff x="7086600" y="76200"/>
              <a:chExt cx="1219200" cy="990600"/>
            </a:xfrm>
          </p:grpSpPr>
          <p:sp>
            <p:nvSpPr>
              <p:cNvPr id="43" name="Rectangle 42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7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44" name="Rectangle 43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16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10</a:t>
                </a:r>
              </a:p>
            </p:txBody>
          </p:sp>
          <p:sp>
            <p:nvSpPr>
              <p:cNvPr id="46" name="Rectangle 45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imm[6:0]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6" name="Group 46"/>
            <p:cNvGrpSpPr/>
            <p:nvPr/>
          </p:nvGrpSpPr>
          <p:grpSpPr>
            <a:xfrm>
              <a:off x="2514600" y="1676400"/>
              <a:ext cx="990600" cy="990600"/>
              <a:chOff x="7086600" y="76200"/>
              <a:chExt cx="1219200" cy="990600"/>
            </a:xfrm>
          </p:grpSpPr>
          <p:sp>
            <p:nvSpPr>
              <p:cNvPr id="48" name="Rectangle 47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5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21</a:t>
                </a:r>
              </a:p>
            </p:txBody>
          </p:sp>
          <p:sp>
            <p:nvSpPr>
              <p:cNvPr id="50" name="Rectangle 49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17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latin typeface="Verdana"/>
                    <a:cs typeface="Verdana"/>
                  </a:rPr>
                  <a:t>rs2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7" name="Group 51"/>
            <p:cNvGrpSpPr/>
            <p:nvPr/>
          </p:nvGrpSpPr>
          <p:grpSpPr>
            <a:xfrm>
              <a:off x="1524000" y="1676400"/>
              <a:ext cx="990600" cy="990600"/>
              <a:chOff x="7086600" y="76200"/>
              <a:chExt cx="1219200" cy="990600"/>
            </a:xfrm>
          </p:grpSpPr>
          <p:sp>
            <p:nvSpPr>
              <p:cNvPr id="53" name="Rectangle 52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5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26</a:t>
                </a:r>
              </a:p>
            </p:txBody>
          </p:sp>
          <p:sp>
            <p:nvSpPr>
              <p:cNvPr id="55" name="Rectangle 54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22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latin typeface="Verdana"/>
                    <a:cs typeface="Verdana"/>
                  </a:rPr>
                  <a:t>rs1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8" name="Group 56"/>
            <p:cNvGrpSpPr/>
            <p:nvPr/>
          </p:nvGrpSpPr>
          <p:grpSpPr>
            <a:xfrm>
              <a:off x="152400" y="1676400"/>
              <a:ext cx="1371600" cy="990600"/>
              <a:chOff x="7086600" y="76200"/>
              <a:chExt cx="1219200" cy="990600"/>
            </a:xfrm>
          </p:grpSpPr>
          <p:sp>
            <p:nvSpPr>
              <p:cNvPr id="58" name="Rectangle 57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5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31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27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0" rIns="91440" bIns="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imm[11:7]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</p:grpSp>
      <p:sp>
        <p:nvSpPr>
          <p:cNvPr id="63" name="TextBox 62"/>
          <p:cNvSpPr txBox="1"/>
          <p:nvPr/>
        </p:nvSpPr>
        <p:spPr>
          <a:xfrm>
            <a:off x="7296046" y="1143000"/>
            <a:ext cx="16193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BEQ/BNE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BLT/BGE</a:t>
            </a:r>
          </a:p>
          <a:p>
            <a:r>
              <a:rPr lang="en-US" sz="2000" dirty="0">
                <a:solidFill>
                  <a:srgbClr val="000000"/>
                </a:solidFill>
              </a:rPr>
              <a:t>BLTU/BGEU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Freeform 137"/>
          <p:cNvSpPr/>
          <p:nvPr/>
        </p:nvSpPr>
        <p:spPr bwMode="auto">
          <a:xfrm>
            <a:off x="838200" y="2743200"/>
            <a:ext cx="4677649" cy="500878"/>
          </a:xfrm>
          <a:custGeom>
            <a:avLst/>
            <a:gdLst>
              <a:gd name="connsiteX0" fmla="*/ 0 w 4677649"/>
              <a:gd name="connsiteY0" fmla="*/ 500878 h 500878"/>
              <a:gd name="connsiteX1" fmla="*/ 2039205 w 4677649"/>
              <a:gd name="connsiteY1" fmla="*/ 500878 h 500878"/>
              <a:gd name="connsiteX2" fmla="*/ 2048148 w 4677649"/>
              <a:gd name="connsiteY2" fmla="*/ 0 h 500878"/>
              <a:gd name="connsiteX3" fmla="*/ 4677649 w 4677649"/>
              <a:gd name="connsiteY3" fmla="*/ 17889 h 50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7649" h="500878">
                <a:moveTo>
                  <a:pt x="0" y="500878"/>
                </a:moveTo>
                <a:lnTo>
                  <a:pt x="2039205" y="500878"/>
                </a:lnTo>
                <a:lnTo>
                  <a:pt x="2048148" y="0"/>
                </a:lnTo>
                <a:lnTo>
                  <a:pt x="4677649" y="17889"/>
                </a:lnTo>
              </a:path>
            </a:pathLst>
          </a:custGeom>
          <a:noFill/>
          <a:ln w="698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45" name="Line 43"/>
          <p:cNvSpPr>
            <a:spLocks noChangeShapeType="1"/>
          </p:cNvSpPr>
          <p:nvPr/>
        </p:nvSpPr>
        <p:spPr bwMode="auto">
          <a:xfrm>
            <a:off x="3996061" y="4267200"/>
            <a:ext cx="685800" cy="0"/>
          </a:xfrm>
          <a:prstGeom prst="line">
            <a:avLst/>
          </a:pr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965C58-ACED-3547-BADE-39BA76D7CBC0}" type="slidenum">
              <a:rPr lang="en-US"/>
              <a:pPr/>
              <a:t>37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25730" name="Freeform 2"/>
          <p:cNvSpPr>
            <a:spLocks/>
          </p:cNvSpPr>
          <p:nvPr/>
        </p:nvSpPr>
        <p:spPr bwMode="auto">
          <a:xfrm>
            <a:off x="2187575" y="3665538"/>
            <a:ext cx="2841625" cy="312737"/>
          </a:xfrm>
          <a:custGeom>
            <a:avLst/>
            <a:gdLst>
              <a:gd name="T0" fmla="*/ 0 w 2116"/>
              <a:gd name="T1" fmla="*/ 0 h 197"/>
              <a:gd name="T2" fmla="*/ 945 w 2116"/>
              <a:gd name="T3" fmla="*/ 5 h 197"/>
              <a:gd name="T4" fmla="*/ 1132 w 2116"/>
              <a:gd name="T5" fmla="*/ 192 h 197"/>
              <a:gd name="T6" fmla="*/ 2116 w 2116"/>
              <a:gd name="T7" fmla="*/ 197 h 197"/>
              <a:gd name="T8" fmla="*/ 0 60000 65536"/>
              <a:gd name="T9" fmla="*/ 0 60000 65536"/>
              <a:gd name="T10" fmla="*/ 0 60000 65536"/>
              <a:gd name="T11" fmla="*/ 0 60000 65536"/>
              <a:gd name="T12" fmla="*/ 0 w 2116"/>
              <a:gd name="T13" fmla="*/ 0 h 197"/>
              <a:gd name="T14" fmla="*/ 2116 w 2116"/>
              <a:gd name="T15" fmla="*/ 197 h 1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6" h="197">
                <a:moveTo>
                  <a:pt x="0" y="0"/>
                </a:moveTo>
                <a:lnTo>
                  <a:pt x="945" y="5"/>
                </a:lnTo>
                <a:lnTo>
                  <a:pt x="1132" y="192"/>
                </a:lnTo>
                <a:lnTo>
                  <a:pt x="2116" y="197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5731" name="Freeform 3"/>
          <p:cNvSpPr>
            <a:spLocks/>
          </p:cNvSpPr>
          <p:nvPr/>
        </p:nvSpPr>
        <p:spPr bwMode="auto">
          <a:xfrm>
            <a:off x="274638" y="1363663"/>
            <a:ext cx="1012825" cy="2620962"/>
          </a:xfrm>
          <a:custGeom>
            <a:avLst/>
            <a:gdLst>
              <a:gd name="T0" fmla="*/ 638 w 638"/>
              <a:gd name="T1" fmla="*/ 0 h 1651"/>
              <a:gd name="T2" fmla="*/ 638 w 638"/>
              <a:gd name="T3" fmla="*/ 360 h 1651"/>
              <a:gd name="T4" fmla="*/ 5 w 638"/>
              <a:gd name="T5" fmla="*/ 365 h 1651"/>
              <a:gd name="T6" fmla="*/ 0 w 638"/>
              <a:gd name="T7" fmla="*/ 1651 h 1651"/>
              <a:gd name="T8" fmla="*/ 197 w 638"/>
              <a:gd name="T9" fmla="*/ 1651 h 16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8"/>
              <a:gd name="T16" fmla="*/ 0 h 1651"/>
              <a:gd name="T17" fmla="*/ 638 w 638"/>
              <a:gd name="T18" fmla="*/ 1651 h 16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8" h="1651">
                <a:moveTo>
                  <a:pt x="638" y="0"/>
                </a:moveTo>
                <a:lnTo>
                  <a:pt x="638" y="360"/>
                </a:lnTo>
                <a:lnTo>
                  <a:pt x="5" y="365"/>
                </a:lnTo>
                <a:lnTo>
                  <a:pt x="0" y="1651"/>
                </a:lnTo>
                <a:lnTo>
                  <a:pt x="197" y="1651"/>
                </a:lnTo>
              </a:path>
            </a:pathLst>
          </a:custGeom>
          <a:noFill/>
          <a:ln w="76200" cap="rnd">
            <a:solidFill>
              <a:srgbClr val="CFBDC8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11" name="Line 4"/>
          <p:cNvSpPr>
            <a:spLocks noChangeShapeType="1"/>
          </p:cNvSpPr>
          <p:nvPr/>
        </p:nvSpPr>
        <p:spPr bwMode="auto">
          <a:xfrm>
            <a:off x="1169988" y="1943100"/>
            <a:ext cx="201612" cy="266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5733" name="Freeform 5"/>
          <p:cNvSpPr>
            <a:spLocks/>
          </p:cNvSpPr>
          <p:nvPr/>
        </p:nvSpPr>
        <p:spPr bwMode="auto">
          <a:xfrm>
            <a:off x="1360488" y="2217738"/>
            <a:ext cx="319087" cy="547687"/>
          </a:xfrm>
          <a:custGeom>
            <a:avLst/>
            <a:gdLst>
              <a:gd name="T0" fmla="*/ 201 w 201"/>
              <a:gd name="T1" fmla="*/ 345 h 345"/>
              <a:gd name="T2" fmla="*/ 201 w 201"/>
              <a:gd name="T3" fmla="*/ 0 h 345"/>
              <a:gd name="T4" fmla="*/ 0 w 201"/>
              <a:gd name="T5" fmla="*/ 0 h 345"/>
              <a:gd name="T6" fmla="*/ 0 60000 65536"/>
              <a:gd name="T7" fmla="*/ 0 60000 65536"/>
              <a:gd name="T8" fmla="*/ 0 60000 65536"/>
              <a:gd name="T9" fmla="*/ 0 w 201"/>
              <a:gd name="T10" fmla="*/ 0 h 345"/>
              <a:gd name="T11" fmla="*/ 201 w 201"/>
              <a:gd name="T12" fmla="*/ 345 h 3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1" h="345">
                <a:moveTo>
                  <a:pt x="201" y="345"/>
                </a:moveTo>
                <a:lnTo>
                  <a:pt x="201" y="0"/>
                </a:lnTo>
                <a:lnTo>
                  <a:pt x="0" y="0"/>
                </a:lnTo>
              </a:path>
            </a:pathLst>
          </a:custGeom>
          <a:noFill/>
          <a:ln w="76200" cap="rnd">
            <a:solidFill>
              <a:srgbClr val="CFBDC8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5734" name="Line 6"/>
          <p:cNvSpPr>
            <a:spLocks noChangeShapeType="1"/>
          </p:cNvSpPr>
          <p:nvPr/>
        </p:nvSpPr>
        <p:spPr bwMode="auto">
          <a:xfrm flipV="1">
            <a:off x="1600200" y="2743200"/>
            <a:ext cx="76200" cy="38100"/>
          </a:xfrm>
          <a:prstGeom prst="line">
            <a:avLst/>
          </a:pr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5735" name="Freeform 7"/>
          <p:cNvSpPr>
            <a:spLocks/>
          </p:cNvSpPr>
          <p:nvPr/>
        </p:nvSpPr>
        <p:spPr bwMode="auto">
          <a:xfrm>
            <a:off x="2182813" y="3136900"/>
            <a:ext cx="3328987" cy="1755775"/>
          </a:xfrm>
          <a:custGeom>
            <a:avLst/>
            <a:gdLst>
              <a:gd name="T0" fmla="*/ 0 w 2097"/>
              <a:gd name="T1" fmla="*/ 1106 h 1106"/>
              <a:gd name="T2" fmla="*/ 1419 w 2097"/>
              <a:gd name="T3" fmla="*/ 1098 h 1106"/>
              <a:gd name="T4" fmla="*/ 1401 w 2097"/>
              <a:gd name="T5" fmla="*/ 0 h 1106"/>
              <a:gd name="T6" fmla="*/ 2097 w 2097"/>
              <a:gd name="T7" fmla="*/ 0 h 1106"/>
              <a:gd name="T8" fmla="*/ 0 60000 65536"/>
              <a:gd name="T9" fmla="*/ 0 60000 65536"/>
              <a:gd name="T10" fmla="*/ 0 60000 65536"/>
              <a:gd name="T11" fmla="*/ 0 60000 65536"/>
              <a:gd name="T12" fmla="*/ 0 w 2097"/>
              <a:gd name="T13" fmla="*/ 0 h 1106"/>
              <a:gd name="T14" fmla="*/ 2097 w 2097"/>
              <a:gd name="T15" fmla="*/ 1106 h 11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97" h="1106">
                <a:moveTo>
                  <a:pt x="0" y="1106"/>
                </a:moveTo>
                <a:lnTo>
                  <a:pt x="1419" y="1098"/>
                </a:lnTo>
                <a:lnTo>
                  <a:pt x="1401" y="0"/>
                </a:lnTo>
                <a:lnTo>
                  <a:pt x="2097" y="0"/>
                </a:lnTo>
              </a:path>
            </a:pathLst>
          </a:cu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5736" name="Freeform 8"/>
          <p:cNvSpPr>
            <a:spLocks/>
          </p:cNvSpPr>
          <p:nvPr/>
        </p:nvSpPr>
        <p:spPr bwMode="auto">
          <a:xfrm>
            <a:off x="1371600" y="1662113"/>
            <a:ext cx="5329238" cy="1309687"/>
          </a:xfrm>
          <a:custGeom>
            <a:avLst/>
            <a:gdLst>
              <a:gd name="T0" fmla="*/ 2872 w 3361"/>
              <a:gd name="T1" fmla="*/ 737 h 738"/>
              <a:gd name="T2" fmla="*/ 3360 w 3361"/>
              <a:gd name="T3" fmla="*/ 737 h 738"/>
              <a:gd name="T4" fmla="*/ 3360 w 3361"/>
              <a:gd name="T5" fmla="*/ 383 h 738"/>
              <a:gd name="T6" fmla="*/ 3360 w 3361"/>
              <a:gd name="T7" fmla="*/ 0 h 738"/>
              <a:gd name="T8" fmla="*/ 0 w 3361"/>
              <a:gd name="T9" fmla="*/ 0 h 7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1"/>
              <a:gd name="T16" fmla="*/ 0 h 738"/>
              <a:gd name="T17" fmla="*/ 3361 w 3361"/>
              <a:gd name="T18" fmla="*/ 738 h 73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1" h="738">
                <a:moveTo>
                  <a:pt x="2872" y="737"/>
                </a:moveTo>
                <a:lnTo>
                  <a:pt x="3360" y="737"/>
                </a:lnTo>
                <a:lnTo>
                  <a:pt x="3360" y="383"/>
                </a:lnTo>
                <a:lnTo>
                  <a:pt x="3360" y="0"/>
                </a:lnTo>
                <a:lnTo>
                  <a:pt x="0" y="0"/>
                </a:lnTo>
              </a:path>
            </a:pathLst>
          </a:custGeom>
          <a:noFill/>
          <a:ln w="76200" cap="rnd">
            <a:solidFill>
              <a:srgbClr val="CFBDC8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16" name="Rectangle 9"/>
          <p:cNvSpPr>
            <a:spLocks noGrp="1" noChangeArrowheads="1"/>
          </p:cNvSpPr>
          <p:nvPr>
            <p:ph type="title"/>
          </p:nvPr>
        </p:nvSpPr>
        <p:spPr>
          <a:xfrm>
            <a:off x="255588" y="492125"/>
            <a:ext cx="8189912" cy="685800"/>
          </a:xfrm>
          <a:noFill/>
        </p:spPr>
        <p:txBody>
          <a:bodyPr lIns="90488" tIns="44450" rIns="90488" bIns="44450"/>
          <a:lstStyle/>
          <a:p>
            <a:r>
              <a:rPr lang="en-US" sz="2800" dirty="0"/>
              <a:t>Conditional Branches </a:t>
            </a:r>
            <a:r>
              <a:rPr lang="en-US" sz="2000" dirty="0"/>
              <a:t>(BEQ/BNE/BLT/BGE/BLTU/BGEU)</a:t>
            </a:r>
            <a:endParaRPr lang="en-US" sz="1800" i="1" dirty="0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95338" y="2444750"/>
            <a:ext cx="777875" cy="630238"/>
            <a:chOff x="501" y="1596"/>
            <a:chExt cx="490" cy="397"/>
          </a:xfrm>
        </p:grpSpPr>
        <p:sp>
          <p:nvSpPr>
            <p:cNvPr id="72842" name="Rectangle 11"/>
            <p:cNvSpPr>
              <a:spLocks noChangeArrowheads="1"/>
            </p:cNvSpPr>
            <p:nvPr/>
          </p:nvSpPr>
          <p:spPr bwMode="auto">
            <a:xfrm>
              <a:off x="501" y="1596"/>
              <a:ext cx="243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0x4</a:t>
              </a:r>
            </a:p>
          </p:txBody>
        </p:sp>
        <p:sp>
          <p:nvSpPr>
            <p:cNvPr id="72843" name="Freeform 12"/>
            <p:cNvSpPr>
              <a:spLocks/>
            </p:cNvSpPr>
            <p:nvPr/>
          </p:nvSpPr>
          <p:spPr bwMode="auto">
            <a:xfrm>
              <a:off x="750" y="1608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44" name="Line 13"/>
            <p:cNvSpPr>
              <a:spLocks noChangeShapeType="1"/>
            </p:cNvSpPr>
            <p:nvPr/>
          </p:nvSpPr>
          <p:spPr bwMode="auto">
            <a:xfrm>
              <a:off x="706" y="1656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45" name="Line 14"/>
            <p:cNvSpPr>
              <a:spLocks noChangeShapeType="1"/>
            </p:cNvSpPr>
            <p:nvPr/>
          </p:nvSpPr>
          <p:spPr bwMode="auto">
            <a:xfrm>
              <a:off x="706" y="1944"/>
              <a:ext cx="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2718" name="Freeform 15"/>
          <p:cNvSpPr>
            <a:spLocks/>
          </p:cNvSpPr>
          <p:nvPr/>
        </p:nvSpPr>
        <p:spPr bwMode="auto">
          <a:xfrm>
            <a:off x="276225" y="1943100"/>
            <a:ext cx="893763" cy="2046288"/>
          </a:xfrm>
          <a:custGeom>
            <a:avLst/>
            <a:gdLst>
              <a:gd name="T0" fmla="*/ 562 w 563"/>
              <a:gd name="T1" fmla="*/ 0 h 1289"/>
              <a:gd name="T2" fmla="*/ 2 w 563"/>
              <a:gd name="T3" fmla="*/ 0 h 1289"/>
              <a:gd name="T4" fmla="*/ 0 w 563"/>
              <a:gd name="T5" fmla="*/ 1288 h 1289"/>
              <a:gd name="T6" fmla="*/ 192 w 563"/>
              <a:gd name="T7" fmla="*/ 1288 h 1289"/>
              <a:gd name="T8" fmla="*/ 0 60000 65536"/>
              <a:gd name="T9" fmla="*/ 0 60000 65536"/>
              <a:gd name="T10" fmla="*/ 0 60000 65536"/>
              <a:gd name="T11" fmla="*/ 0 60000 65536"/>
              <a:gd name="T12" fmla="*/ 0 w 563"/>
              <a:gd name="T13" fmla="*/ 0 h 1289"/>
              <a:gd name="T14" fmla="*/ 563 w 563"/>
              <a:gd name="T15" fmla="*/ 1289 h 12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3" h="1289">
                <a:moveTo>
                  <a:pt x="562" y="0"/>
                </a:moveTo>
                <a:lnTo>
                  <a:pt x="2" y="0"/>
                </a:lnTo>
                <a:lnTo>
                  <a:pt x="0" y="1288"/>
                </a:lnTo>
                <a:lnTo>
                  <a:pt x="192" y="1288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19" name="Freeform 16"/>
          <p:cNvSpPr>
            <a:spLocks/>
          </p:cNvSpPr>
          <p:nvPr/>
        </p:nvSpPr>
        <p:spPr bwMode="auto">
          <a:xfrm>
            <a:off x="1371600" y="2209800"/>
            <a:ext cx="304800" cy="547688"/>
          </a:xfrm>
          <a:custGeom>
            <a:avLst/>
            <a:gdLst>
              <a:gd name="T0" fmla="*/ 222 w 223"/>
              <a:gd name="T1" fmla="*/ 392 h 393"/>
              <a:gd name="T2" fmla="*/ 222 w 223"/>
              <a:gd name="T3" fmla="*/ 0 h 393"/>
              <a:gd name="T4" fmla="*/ 0 w 223"/>
              <a:gd name="T5" fmla="*/ 0 h 393"/>
              <a:gd name="T6" fmla="*/ 0 60000 65536"/>
              <a:gd name="T7" fmla="*/ 0 60000 65536"/>
              <a:gd name="T8" fmla="*/ 0 60000 65536"/>
              <a:gd name="T9" fmla="*/ 0 w 223"/>
              <a:gd name="T10" fmla="*/ 0 h 393"/>
              <a:gd name="T11" fmla="*/ 223 w 223"/>
              <a:gd name="T12" fmla="*/ 393 h 3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3" h="393">
                <a:moveTo>
                  <a:pt x="222" y="392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 type="oval" w="med" len="med"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20" name="Freeform 17"/>
          <p:cNvSpPr>
            <a:spLocks/>
          </p:cNvSpPr>
          <p:nvPr/>
        </p:nvSpPr>
        <p:spPr bwMode="auto">
          <a:xfrm>
            <a:off x="6524625" y="4156075"/>
            <a:ext cx="1752600" cy="1279525"/>
          </a:xfrm>
          <a:custGeom>
            <a:avLst/>
            <a:gdLst>
              <a:gd name="T0" fmla="*/ 2 w 1104"/>
              <a:gd name="T1" fmla="*/ 0 h 806"/>
              <a:gd name="T2" fmla="*/ 0 w 1104"/>
              <a:gd name="T3" fmla="*/ 806 h 806"/>
              <a:gd name="T4" fmla="*/ 784 w 1104"/>
              <a:gd name="T5" fmla="*/ 806 h 806"/>
              <a:gd name="T6" fmla="*/ 784 w 1104"/>
              <a:gd name="T7" fmla="*/ 326 h 806"/>
              <a:gd name="T8" fmla="*/ 1104 w 1104"/>
              <a:gd name="T9" fmla="*/ 326 h 8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806"/>
              <a:gd name="T17" fmla="*/ 1104 w 1104"/>
              <a:gd name="T18" fmla="*/ 806 h 80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806">
                <a:moveTo>
                  <a:pt x="2" y="0"/>
                </a:moveTo>
                <a:lnTo>
                  <a:pt x="0" y="806"/>
                </a:lnTo>
                <a:lnTo>
                  <a:pt x="784" y="806"/>
                </a:lnTo>
                <a:lnTo>
                  <a:pt x="784" y="326"/>
                </a:lnTo>
                <a:lnTo>
                  <a:pt x="1104" y="326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21" name="Freeform 18"/>
          <p:cNvSpPr>
            <a:spLocks/>
          </p:cNvSpPr>
          <p:nvPr/>
        </p:nvSpPr>
        <p:spPr bwMode="auto">
          <a:xfrm>
            <a:off x="3095625" y="4292600"/>
            <a:ext cx="5570538" cy="1830388"/>
          </a:xfrm>
          <a:custGeom>
            <a:avLst/>
            <a:gdLst>
              <a:gd name="T0" fmla="*/ 3392 w 3509"/>
              <a:gd name="T1" fmla="*/ 200 h 1153"/>
              <a:gd name="T2" fmla="*/ 3508 w 3509"/>
              <a:gd name="T3" fmla="*/ 200 h 1153"/>
              <a:gd name="T4" fmla="*/ 3504 w 3509"/>
              <a:gd name="T5" fmla="*/ 1152 h 1153"/>
              <a:gd name="T6" fmla="*/ 0 w 3509"/>
              <a:gd name="T7" fmla="*/ 1152 h 1153"/>
              <a:gd name="T8" fmla="*/ 0 w 3509"/>
              <a:gd name="T9" fmla="*/ 0 h 1153"/>
              <a:gd name="T10" fmla="*/ 240 w 3509"/>
              <a:gd name="T11" fmla="*/ 0 h 11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09"/>
              <a:gd name="T19" fmla="*/ 0 h 1153"/>
              <a:gd name="T20" fmla="*/ 3509 w 3509"/>
              <a:gd name="T21" fmla="*/ 1153 h 115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09" h="1153">
                <a:moveTo>
                  <a:pt x="3392" y="200"/>
                </a:moveTo>
                <a:lnTo>
                  <a:pt x="3508" y="200"/>
                </a:lnTo>
                <a:lnTo>
                  <a:pt x="3504" y="1152"/>
                </a:lnTo>
                <a:lnTo>
                  <a:pt x="0" y="1152"/>
                </a:lnTo>
                <a:lnTo>
                  <a:pt x="0" y="0"/>
                </a:lnTo>
                <a:lnTo>
                  <a:pt x="24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22" name="Rectangle 19"/>
          <p:cNvSpPr>
            <a:spLocks noChangeArrowheads="1"/>
          </p:cNvSpPr>
          <p:nvPr/>
        </p:nvSpPr>
        <p:spPr bwMode="auto">
          <a:xfrm>
            <a:off x="1214438" y="2673350"/>
            <a:ext cx="40640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Add</a:t>
            </a:r>
          </a:p>
        </p:txBody>
      </p:sp>
      <p:sp>
        <p:nvSpPr>
          <p:cNvPr id="72723" name="Freeform 20"/>
          <p:cNvSpPr>
            <a:spLocks/>
          </p:cNvSpPr>
          <p:nvPr/>
        </p:nvSpPr>
        <p:spPr bwMode="auto">
          <a:xfrm flipH="1">
            <a:off x="3763963" y="1498600"/>
            <a:ext cx="42862" cy="1944688"/>
          </a:xfrm>
          <a:custGeom>
            <a:avLst/>
            <a:gdLst>
              <a:gd name="T0" fmla="*/ 0 w 1"/>
              <a:gd name="T1" fmla="*/ 0 h 1537"/>
              <a:gd name="T2" fmla="*/ 0 w 1"/>
              <a:gd name="T3" fmla="*/ 1536 h 1537"/>
              <a:gd name="T4" fmla="*/ 0 60000 65536"/>
              <a:gd name="T5" fmla="*/ 0 60000 65536"/>
              <a:gd name="T6" fmla="*/ 0 w 1"/>
              <a:gd name="T7" fmla="*/ 0 h 1537"/>
              <a:gd name="T8" fmla="*/ 1 w 1"/>
              <a:gd name="T9" fmla="*/ 1537 h 1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537">
                <a:moveTo>
                  <a:pt x="0" y="0"/>
                </a:moveTo>
                <a:lnTo>
                  <a:pt x="0" y="1536"/>
                </a:lnTo>
              </a:path>
            </a:pathLst>
          </a:custGeom>
          <a:noFill/>
          <a:ln w="12700" cap="rnd">
            <a:solidFill>
              <a:srgbClr val="FF0000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1182686" y="1254125"/>
            <a:ext cx="663574" cy="1082675"/>
            <a:chOff x="745" y="790"/>
            <a:chExt cx="418" cy="682"/>
          </a:xfrm>
        </p:grpSpPr>
        <p:sp>
          <p:nvSpPr>
            <p:cNvPr id="72839" name="Rectangle 22"/>
            <p:cNvSpPr>
              <a:spLocks noChangeArrowheads="1"/>
            </p:cNvSpPr>
            <p:nvPr/>
          </p:nvSpPr>
          <p:spPr bwMode="auto">
            <a:xfrm>
              <a:off x="768" y="790"/>
              <a:ext cx="395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 dirty="0" err="1">
                  <a:solidFill>
                    <a:srgbClr val="56127A"/>
                  </a:solidFill>
                </a:rPr>
                <a:t>PCSel</a:t>
              </a:r>
              <a:endParaRPr lang="en-US" sz="1200" b="1" dirty="0">
                <a:solidFill>
                  <a:srgbClr val="56127A"/>
                </a:solidFill>
              </a:endParaRPr>
            </a:p>
          </p:txBody>
        </p:sp>
        <p:sp>
          <p:nvSpPr>
            <p:cNvPr id="72840" name="Freeform 23"/>
            <p:cNvSpPr>
              <a:spLocks/>
            </p:cNvSpPr>
            <p:nvPr/>
          </p:nvSpPr>
          <p:spPr bwMode="auto">
            <a:xfrm>
              <a:off x="745" y="1008"/>
              <a:ext cx="119" cy="464"/>
            </a:xfrm>
            <a:custGeom>
              <a:avLst/>
              <a:gdLst>
                <a:gd name="T0" fmla="*/ 0 w 145"/>
                <a:gd name="T1" fmla="*/ 48 h 377"/>
                <a:gd name="T2" fmla="*/ 0 w 145"/>
                <a:gd name="T3" fmla="*/ 328 h 377"/>
                <a:gd name="T4" fmla="*/ 144 w 145"/>
                <a:gd name="T5" fmla="*/ 376 h 377"/>
                <a:gd name="T6" fmla="*/ 144 w 145"/>
                <a:gd name="T7" fmla="*/ 0 h 377"/>
                <a:gd name="T8" fmla="*/ 0 w 145"/>
                <a:gd name="T9" fmla="*/ 48 h 3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377"/>
                <a:gd name="T17" fmla="*/ 145 w 145"/>
                <a:gd name="T18" fmla="*/ 377 h 3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377">
                  <a:moveTo>
                    <a:pt x="0" y="48"/>
                  </a:moveTo>
                  <a:lnTo>
                    <a:pt x="0" y="328"/>
                  </a:lnTo>
                  <a:lnTo>
                    <a:pt x="144" y="376"/>
                  </a:lnTo>
                  <a:lnTo>
                    <a:pt x="144" y="0"/>
                  </a:lnTo>
                  <a:lnTo>
                    <a:pt x="0" y="48"/>
                  </a:lnTo>
                </a:path>
              </a:pathLst>
            </a:custGeom>
            <a:solidFill>
              <a:schemeClr val="accent1"/>
            </a:solidFill>
            <a:ln w="9525" cap="rnd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41" name="Freeform 24"/>
            <p:cNvSpPr>
              <a:spLocks/>
            </p:cNvSpPr>
            <p:nvPr/>
          </p:nvSpPr>
          <p:spPr bwMode="auto">
            <a:xfrm flipH="1">
              <a:off x="781" y="864"/>
              <a:ext cx="27" cy="167"/>
            </a:xfrm>
            <a:custGeom>
              <a:avLst/>
              <a:gdLst>
                <a:gd name="T0" fmla="*/ 0 w 1"/>
                <a:gd name="T1" fmla="*/ 0 h 380"/>
                <a:gd name="T2" fmla="*/ 0 w 1"/>
                <a:gd name="T3" fmla="*/ 379 h 380"/>
                <a:gd name="T4" fmla="*/ 0 60000 65536"/>
                <a:gd name="T5" fmla="*/ 0 60000 65536"/>
                <a:gd name="T6" fmla="*/ 0 w 1"/>
                <a:gd name="T7" fmla="*/ 0 h 380"/>
                <a:gd name="T8" fmla="*/ 1 w 1"/>
                <a:gd name="T9" fmla="*/ 380 h 3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80">
                  <a:moveTo>
                    <a:pt x="0" y="0"/>
                  </a:moveTo>
                  <a:lnTo>
                    <a:pt x="0" y="379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835779" y="1390650"/>
            <a:ext cx="2143126" cy="3740150"/>
            <a:chOff x="4306" y="932"/>
            <a:chExt cx="1350" cy="2356"/>
          </a:xfrm>
        </p:grpSpPr>
        <p:sp>
          <p:nvSpPr>
            <p:cNvPr id="72822" name="Rectangle 26"/>
            <p:cNvSpPr>
              <a:spLocks noChangeArrowheads="1"/>
            </p:cNvSpPr>
            <p:nvPr/>
          </p:nvSpPr>
          <p:spPr bwMode="auto">
            <a:xfrm>
              <a:off x="4306" y="2268"/>
              <a:ext cx="212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72823" name="Line 27"/>
            <p:cNvSpPr>
              <a:spLocks noChangeShapeType="1"/>
            </p:cNvSpPr>
            <p:nvPr/>
          </p:nvSpPr>
          <p:spPr bwMode="auto">
            <a:xfrm>
              <a:off x="4414" y="2448"/>
              <a:ext cx="0" cy="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4" name="Freeform 28"/>
            <p:cNvSpPr>
              <a:spLocks/>
            </p:cNvSpPr>
            <p:nvPr/>
          </p:nvSpPr>
          <p:spPr bwMode="auto">
            <a:xfrm>
              <a:off x="4848" y="2904"/>
              <a:ext cx="367" cy="1"/>
            </a:xfrm>
            <a:custGeom>
              <a:avLst/>
              <a:gdLst>
                <a:gd name="T0" fmla="*/ 0 w 367"/>
                <a:gd name="T1" fmla="*/ 0 h 1"/>
                <a:gd name="T2" fmla="*/ 366 w 367"/>
                <a:gd name="T3" fmla="*/ 0 h 1"/>
                <a:gd name="T4" fmla="*/ 0 60000 65536"/>
                <a:gd name="T5" fmla="*/ 0 60000 65536"/>
                <a:gd name="T6" fmla="*/ 0 w 367"/>
                <a:gd name="T7" fmla="*/ 0 h 1"/>
                <a:gd name="T8" fmla="*/ 367 w 367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7" h="1">
                  <a:moveTo>
                    <a:pt x="0" y="0"/>
                  </a:moveTo>
                  <a:lnTo>
                    <a:pt x="366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5" name="Rectangle 29"/>
            <p:cNvSpPr>
              <a:spLocks noChangeArrowheads="1"/>
            </p:cNvSpPr>
            <p:nvPr/>
          </p:nvSpPr>
          <p:spPr bwMode="auto">
            <a:xfrm>
              <a:off x="5245" y="932"/>
              <a:ext cx="411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WBSel</a:t>
              </a:r>
              <a:endParaRPr lang="en-US" sz="1200" dirty="0">
                <a:solidFill>
                  <a:srgbClr val="56127A"/>
                </a:solidFill>
              </a:endParaRPr>
            </a:p>
          </p:txBody>
        </p:sp>
        <p:sp>
          <p:nvSpPr>
            <p:cNvPr id="72826" name="Rectangle 30"/>
            <p:cNvSpPr>
              <a:spLocks noChangeArrowheads="1"/>
            </p:cNvSpPr>
            <p:nvPr/>
          </p:nvSpPr>
          <p:spPr bwMode="auto">
            <a:xfrm>
              <a:off x="4565" y="932"/>
              <a:ext cx="551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MemWrite</a:t>
              </a:r>
            </a:p>
          </p:txBody>
        </p:sp>
        <p:sp>
          <p:nvSpPr>
            <p:cNvPr id="72827" name="Freeform 31"/>
            <p:cNvSpPr>
              <a:spLocks/>
            </p:cNvSpPr>
            <p:nvPr/>
          </p:nvSpPr>
          <p:spPr bwMode="auto">
            <a:xfrm>
              <a:off x="5197" y="2805"/>
              <a:ext cx="145" cy="289"/>
            </a:xfrm>
            <a:custGeom>
              <a:avLst/>
              <a:gdLst>
                <a:gd name="T0" fmla="*/ 144 w 145"/>
                <a:gd name="T1" fmla="*/ 48 h 289"/>
                <a:gd name="T2" fmla="*/ 144 w 145"/>
                <a:gd name="T3" fmla="*/ 240 h 289"/>
                <a:gd name="T4" fmla="*/ 0 w 145"/>
                <a:gd name="T5" fmla="*/ 288 h 289"/>
                <a:gd name="T6" fmla="*/ 0 w 145"/>
                <a:gd name="T7" fmla="*/ 0 h 289"/>
                <a:gd name="T8" fmla="*/ 144 w 145"/>
                <a:gd name="T9" fmla="*/ 48 h 2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289"/>
                <a:gd name="T17" fmla="*/ 145 w 145"/>
                <a:gd name="T18" fmla="*/ 289 h 28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289">
                  <a:moveTo>
                    <a:pt x="144" y="48"/>
                  </a:moveTo>
                  <a:lnTo>
                    <a:pt x="144" y="240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8" name="Freeform 32"/>
            <p:cNvSpPr>
              <a:spLocks/>
            </p:cNvSpPr>
            <p:nvPr/>
          </p:nvSpPr>
          <p:spPr bwMode="auto">
            <a:xfrm>
              <a:off x="5263" y="992"/>
              <a:ext cx="48" cy="1815"/>
            </a:xfrm>
            <a:custGeom>
              <a:avLst/>
              <a:gdLst>
                <a:gd name="T0" fmla="*/ 0 w 1"/>
                <a:gd name="T1" fmla="*/ 0 h 2169"/>
                <a:gd name="T2" fmla="*/ 0 w 1"/>
                <a:gd name="T3" fmla="*/ 2168 h 2169"/>
                <a:gd name="T4" fmla="*/ 0 60000 65536"/>
                <a:gd name="T5" fmla="*/ 0 60000 65536"/>
                <a:gd name="T6" fmla="*/ 0 w 1"/>
                <a:gd name="T7" fmla="*/ 0 h 2169"/>
                <a:gd name="T8" fmla="*/ 1 w 1"/>
                <a:gd name="T9" fmla="*/ 2169 h 21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69">
                  <a:moveTo>
                    <a:pt x="0" y="0"/>
                  </a:moveTo>
                  <a:lnTo>
                    <a:pt x="0" y="2168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9" name="Freeform 33"/>
            <p:cNvSpPr>
              <a:spLocks/>
            </p:cNvSpPr>
            <p:nvPr/>
          </p:nvSpPr>
          <p:spPr bwMode="auto">
            <a:xfrm>
              <a:off x="4574" y="992"/>
              <a:ext cx="1" cy="1542"/>
            </a:xfrm>
            <a:custGeom>
              <a:avLst/>
              <a:gdLst>
                <a:gd name="T0" fmla="*/ 0 w 1"/>
                <a:gd name="T1" fmla="*/ 0 h 1793"/>
                <a:gd name="T2" fmla="*/ 0 w 1"/>
                <a:gd name="T3" fmla="*/ 1792 h 1793"/>
                <a:gd name="T4" fmla="*/ 0 60000 65536"/>
                <a:gd name="T5" fmla="*/ 0 60000 65536"/>
                <a:gd name="T6" fmla="*/ 0 w 1"/>
                <a:gd name="T7" fmla="*/ 0 h 1793"/>
                <a:gd name="T8" fmla="*/ 1 w 1"/>
                <a:gd name="T9" fmla="*/ 1793 h 17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93">
                  <a:moveTo>
                    <a:pt x="0" y="0"/>
                  </a:moveTo>
                  <a:lnTo>
                    <a:pt x="0" y="1792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30" name="Rectangle 34"/>
            <p:cNvSpPr>
              <a:spLocks noChangeArrowheads="1"/>
            </p:cNvSpPr>
            <p:nvPr/>
          </p:nvSpPr>
          <p:spPr bwMode="auto">
            <a:xfrm>
              <a:off x="4352" y="2536"/>
              <a:ext cx="488" cy="75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31" name="Rectangle 35"/>
            <p:cNvSpPr>
              <a:spLocks noChangeArrowheads="1"/>
            </p:cNvSpPr>
            <p:nvPr/>
          </p:nvSpPr>
          <p:spPr bwMode="auto">
            <a:xfrm>
              <a:off x="4327" y="2582"/>
              <a:ext cx="30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addr</a:t>
              </a:r>
            </a:p>
          </p:txBody>
        </p:sp>
        <p:sp>
          <p:nvSpPr>
            <p:cNvPr id="72832" name="Rectangle 36"/>
            <p:cNvSpPr>
              <a:spLocks noChangeArrowheads="1"/>
            </p:cNvSpPr>
            <p:nvPr/>
          </p:nvSpPr>
          <p:spPr bwMode="auto">
            <a:xfrm>
              <a:off x="4327" y="3111"/>
              <a:ext cx="370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wdata</a:t>
              </a:r>
            </a:p>
          </p:txBody>
        </p:sp>
        <p:sp>
          <p:nvSpPr>
            <p:cNvPr id="72833" name="Rectangle 37"/>
            <p:cNvSpPr>
              <a:spLocks noChangeArrowheads="1"/>
            </p:cNvSpPr>
            <p:nvPr/>
          </p:nvSpPr>
          <p:spPr bwMode="auto">
            <a:xfrm>
              <a:off x="4546" y="2780"/>
              <a:ext cx="33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rdata</a:t>
              </a:r>
            </a:p>
          </p:txBody>
        </p:sp>
        <p:sp>
          <p:nvSpPr>
            <p:cNvPr id="72834" name="Rectangle 38"/>
            <p:cNvSpPr>
              <a:spLocks noChangeArrowheads="1"/>
            </p:cNvSpPr>
            <p:nvPr/>
          </p:nvSpPr>
          <p:spPr bwMode="auto">
            <a:xfrm>
              <a:off x="4343" y="2844"/>
              <a:ext cx="518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Data 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rgbClr val="56127A"/>
                  </a:solidFill>
                </a:rPr>
                <a:t>Memory</a:t>
              </a:r>
            </a:p>
          </p:txBody>
        </p:sp>
        <p:sp>
          <p:nvSpPr>
            <p:cNvPr id="72835" name="Rectangle 39"/>
            <p:cNvSpPr>
              <a:spLocks noChangeArrowheads="1"/>
            </p:cNvSpPr>
            <p:nvPr/>
          </p:nvSpPr>
          <p:spPr bwMode="auto">
            <a:xfrm>
              <a:off x="4447" y="2486"/>
              <a:ext cx="23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we</a:t>
              </a:r>
            </a:p>
          </p:txBody>
        </p:sp>
        <p:grpSp>
          <p:nvGrpSpPr>
            <p:cNvPr id="5" name="Group 40"/>
            <p:cNvGrpSpPr>
              <a:grpSpLocks/>
            </p:cNvGrpSpPr>
            <p:nvPr/>
          </p:nvGrpSpPr>
          <p:grpSpPr bwMode="auto">
            <a:xfrm>
              <a:off x="4380" y="2537"/>
              <a:ext cx="51" cy="55"/>
              <a:chOff x="2815" y="1407"/>
              <a:chExt cx="51" cy="55"/>
            </a:xfrm>
          </p:grpSpPr>
          <p:sp>
            <p:nvSpPr>
              <p:cNvPr id="72837" name="Line 41"/>
              <p:cNvSpPr>
                <a:spLocks noChangeShapeType="1"/>
              </p:cNvSpPr>
              <p:nvPr/>
            </p:nvSpPr>
            <p:spPr bwMode="auto">
              <a:xfrm>
                <a:off x="2815" y="1407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838" name="Line 42"/>
              <p:cNvSpPr>
                <a:spLocks noChangeShapeType="1"/>
              </p:cNvSpPr>
              <p:nvPr/>
            </p:nvSpPr>
            <p:spPr bwMode="auto">
              <a:xfrm flipH="1">
                <a:off x="2842" y="1410"/>
                <a:ext cx="24" cy="5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25771" name="Line 43"/>
          <p:cNvSpPr>
            <a:spLocks noChangeShapeType="1"/>
          </p:cNvSpPr>
          <p:nvPr/>
        </p:nvSpPr>
        <p:spPr bwMode="auto">
          <a:xfrm>
            <a:off x="4648200" y="3581399"/>
            <a:ext cx="0" cy="685801"/>
          </a:xfrm>
          <a:prstGeom prst="line">
            <a:avLst/>
          </a:pr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27" name="Line 44"/>
          <p:cNvSpPr>
            <a:spLocks noChangeShapeType="1"/>
          </p:cNvSpPr>
          <p:nvPr/>
        </p:nvSpPr>
        <p:spPr bwMode="auto">
          <a:xfrm>
            <a:off x="5940425" y="4165600"/>
            <a:ext cx="952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28" name="Freeform 45"/>
          <p:cNvSpPr>
            <a:spLocks/>
          </p:cNvSpPr>
          <p:nvPr/>
        </p:nvSpPr>
        <p:spPr bwMode="auto">
          <a:xfrm flipV="1">
            <a:off x="4098925" y="4572000"/>
            <a:ext cx="1081088" cy="306388"/>
          </a:xfrm>
          <a:custGeom>
            <a:avLst/>
            <a:gdLst>
              <a:gd name="T0" fmla="*/ 0 w 681"/>
              <a:gd name="T1" fmla="*/ 0 h 193"/>
              <a:gd name="T2" fmla="*/ 208 w 681"/>
              <a:gd name="T3" fmla="*/ 0 h 193"/>
              <a:gd name="T4" fmla="*/ 208 w 681"/>
              <a:gd name="T5" fmla="*/ 192 h 193"/>
              <a:gd name="T6" fmla="*/ 680 w 681"/>
              <a:gd name="T7" fmla="*/ 192 h 193"/>
              <a:gd name="T8" fmla="*/ 0 60000 65536"/>
              <a:gd name="T9" fmla="*/ 0 60000 65536"/>
              <a:gd name="T10" fmla="*/ 0 60000 65536"/>
              <a:gd name="T11" fmla="*/ 0 60000 65536"/>
              <a:gd name="T12" fmla="*/ 0 w 681"/>
              <a:gd name="T13" fmla="*/ 0 h 193"/>
              <a:gd name="T14" fmla="*/ 681 w 681"/>
              <a:gd name="T15" fmla="*/ 193 h 19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1" h="193">
                <a:moveTo>
                  <a:pt x="0" y="0"/>
                </a:moveTo>
                <a:lnTo>
                  <a:pt x="208" y="0"/>
                </a:lnTo>
                <a:lnTo>
                  <a:pt x="208" y="192"/>
                </a:lnTo>
                <a:lnTo>
                  <a:pt x="680" y="192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0" name="Freeform 47"/>
          <p:cNvSpPr>
            <a:spLocks/>
          </p:cNvSpPr>
          <p:nvPr/>
        </p:nvSpPr>
        <p:spPr bwMode="auto">
          <a:xfrm>
            <a:off x="863600" y="2984500"/>
            <a:ext cx="328613" cy="1004888"/>
          </a:xfrm>
          <a:custGeom>
            <a:avLst/>
            <a:gdLst>
              <a:gd name="T0" fmla="*/ 0 w 207"/>
              <a:gd name="T1" fmla="*/ 632 h 633"/>
              <a:gd name="T2" fmla="*/ 0 w 207"/>
              <a:gd name="T3" fmla="*/ 56 h 633"/>
              <a:gd name="T4" fmla="*/ 0 w 207"/>
              <a:gd name="T5" fmla="*/ 0 h 633"/>
              <a:gd name="T6" fmla="*/ 206 w 207"/>
              <a:gd name="T7" fmla="*/ 0 h 633"/>
              <a:gd name="T8" fmla="*/ 0 60000 65536"/>
              <a:gd name="T9" fmla="*/ 0 60000 65536"/>
              <a:gd name="T10" fmla="*/ 0 60000 65536"/>
              <a:gd name="T11" fmla="*/ 0 60000 65536"/>
              <a:gd name="T12" fmla="*/ 0 w 207"/>
              <a:gd name="T13" fmla="*/ 0 h 633"/>
              <a:gd name="T14" fmla="*/ 207 w 207"/>
              <a:gd name="T15" fmla="*/ 633 h 6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7" h="633">
                <a:moveTo>
                  <a:pt x="0" y="632"/>
                </a:moveTo>
                <a:lnTo>
                  <a:pt x="0" y="56"/>
                </a:lnTo>
                <a:lnTo>
                  <a:pt x="0" y="0"/>
                </a:lnTo>
                <a:lnTo>
                  <a:pt x="20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1" name="Freeform 48"/>
          <p:cNvSpPr>
            <a:spLocks/>
          </p:cNvSpPr>
          <p:nvPr/>
        </p:nvSpPr>
        <p:spPr bwMode="auto">
          <a:xfrm>
            <a:off x="2181225" y="3683000"/>
            <a:ext cx="1296988" cy="306388"/>
          </a:xfrm>
          <a:custGeom>
            <a:avLst/>
            <a:gdLst>
              <a:gd name="T0" fmla="*/ 0 w 817"/>
              <a:gd name="T1" fmla="*/ 192 h 193"/>
              <a:gd name="T2" fmla="*/ 0 w 817"/>
              <a:gd name="T3" fmla="*/ 0 h 193"/>
              <a:gd name="T4" fmla="*/ 816 w 817"/>
              <a:gd name="T5" fmla="*/ 0 h 193"/>
              <a:gd name="T6" fmla="*/ 0 60000 65536"/>
              <a:gd name="T7" fmla="*/ 0 60000 65536"/>
              <a:gd name="T8" fmla="*/ 0 60000 65536"/>
              <a:gd name="T9" fmla="*/ 0 w 817"/>
              <a:gd name="T10" fmla="*/ 0 h 193"/>
              <a:gd name="T11" fmla="*/ 817 w 817"/>
              <a:gd name="T12" fmla="*/ 193 h 1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193">
                <a:moveTo>
                  <a:pt x="0" y="192"/>
                </a:moveTo>
                <a:lnTo>
                  <a:pt x="0" y="0"/>
                </a:ln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2" name="Freeform 49"/>
          <p:cNvSpPr>
            <a:spLocks/>
          </p:cNvSpPr>
          <p:nvPr/>
        </p:nvSpPr>
        <p:spPr bwMode="auto">
          <a:xfrm>
            <a:off x="2181225" y="3835400"/>
            <a:ext cx="1296988" cy="1588"/>
          </a:xfrm>
          <a:custGeom>
            <a:avLst/>
            <a:gdLst>
              <a:gd name="T0" fmla="*/ 0 w 817"/>
              <a:gd name="T1" fmla="*/ 0 h 1"/>
              <a:gd name="T2" fmla="*/ 816 w 817"/>
              <a:gd name="T3" fmla="*/ 0 h 1"/>
              <a:gd name="T4" fmla="*/ 0 60000 65536"/>
              <a:gd name="T5" fmla="*/ 0 60000 65536"/>
              <a:gd name="T6" fmla="*/ 0 w 817"/>
              <a:gd name="T7" fmla="*/ 0 h 1"/>
              <a:gd name="T8" fmla="*/ 817 w 81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3" name="Freeform 50"/>
          <p:cNvSpPr>
            <a:spLocks/>
          </p:cNvSpPr>
          <p:nvPr/>
        </p:nvSpPr>
        <p:spPr bwMode="auto">
          <a:xfrm>
            <a:off x="2181225" y="3987800"/>
            <a:ext cx="1302204" cy="157843"/>
          </a:xfrm>
          <a:custGeom>
            <a:avLst/>
            <a:gdLst>
              <a:gd name="T0" fmla="*/ 0 w 385"/>
              <a:gd name="T1" fmla="*/ 0 h 193"/>
              <a:gd name="T2" fmla="*/ 0 w 385"/>
              <a:gd name="T3" fmla="*/ 192 h 193"/>
              <a:gd name="T4" fmla="*/ 384 w 385"/>
              <a:gd name="T5" fmla="*/ 192 h 193"/>
              <a:gd name="T6" fmla="*/ 0 60000 65536"/>
              <a:gd name="T7" fmla="*/ 0 60000 65536"/>
              <a:gd name="T8" fmla="*/ 0 60000 65536"/>
              <a:gd name="T9" fmla="*/ 0 w 385"/>
              <a:gd name="T10" fmla="*/ 0 h 193"/>
              <a:gd name="T11" fmla="*/ 385 w 385"/>
              <a:gd name="T12" fmla="*/ 193 h 1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5" h="193">
                <a:moveTo>
                  <a:pt x="0" y="0"/>
                </a:moveTo>
                <a:lnTo>
                  <a:pt x="0" y="192"/>
                </a:lnTo>
                <a:lnTo>
                  <a:pt x="384" y="192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4" name="Freeform 51"/>
          <p:cNvSpPr>
            <a:spLocks/>
          </p:cNvSpPr>
          <p:nvPr/>
        </p:nvSpPr>
        <p:spPr bwMode="auto">
          <a:xfrm>
            <a:off x="2181225" y="4114800"/>
            <a:ext cx="1296988" cy="788988"/>
          </a:xfrm>
          <a:custGeom>
            <a:avLst/>
            <a:gdLst>
              <a:gd name="T0" fmla="*/ 0 w 817"/>
              <a:gd name="T1" fmla="*/ 0 h 385"/>
              <a:gd name="T2" fmla="*/ 0 w 817"/>
              <a:gd name="T3" fmla="*/ 384 h 385"/>
              <a:gd name="T4" fmla="*/ 816 w 817"/>
              <a:gd name="T5" fmla="*/ 384 h 385"/>
              <a:gd name="T6" fmla="*/ 0 60000 65536"/>
              <a:gd name="T7" fmla="*/ 0 60000 65536"/>
              <a:gd name="T8" fmla="*/ 0 60000 65536"/>
              <a:gd name="T9" fmla="*/ 0 w 817"/>
              <a:gd name="T10" fmla="*/ 0 h 385"/>
              <a:gd name="T11" fmla="*/ 817 w 817"/>
              <a:gd name="T12" fmla="*/ 385 h 3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7" h="385">
                <a:moveTo>
                  <a:pt x="0" y="0"/>
                </a:moveTo>
                <a:lnTo>
                  <a:pt x="0" y="384"/>
                </a:lnTo>
                <a:lnTo>
                  <a:pt x="816" y="384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6" name="Freeform 53"/>
          <p:cNvSpPr>
            <a:spLocks/>
          </p:cNvSpPr>
          <p:nvPr/>
        </p:nvSpPr>
        <p:spPr bwMode="auto">
          <a:xfrm>
            <a:off x="4073525" y="3987800"/>
            <a:ext cx="1423988" cy="1588"/>
          </a:xfrm>
          <a:custGeom>
            <a:avLst/>
            <a:gdLst>
              <a:gd name="T0" fmla="*/ 0 w 897"/>
              <a:gd name="T1" fmla="*/ 0 h 1"/>
              <a:gd name="T2" fmla="*/ 896 w 897"/>
              <a:gd name="T3" fmla="*/ 0 h 1"/>
              <a:gd name="T4" fmla="*/ 0 60000 65536"/>
              <a:gd name="T5" fmla="*/ 0 60000 65536"/>
              <a:gd name="T6" fmla="*/ 0 w 897"/>
              <a:gd name="T7" fmla="*/ 0 h 1"/>
              <a:gd name="T8" fmla="*/ 897 w 89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97" h="1">
                <a:moveTo>
                  <a:pt x="0" y="0"/>
                </a:moveTo>
                <a:lnTo>
                  <a:pt x="89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7" name="Freeform 54"/>
          <p:cNvSpPr>
            <a:spLocks/>
          </p:cNvSpPr>
          <p:nvPr/>
        </p:nvSpPr>
        <p:spPr bwMode="auto">
          <a:xfrm>
            <a:off x="2181225" y="4902200"/>
            <a:ext cx="2135188" cy="382588"/>
          </a:xfrm>
          <a:custGeom>
            <a:avLst/>
            <a:gdLst>
              <a:gd name="T0" fmla="*/ 0 w 1345"/>
              <a:gd name="T1" fmla="*/ 0 h 241"/>
              <a:gd name="T2" fmla="*/ 0 w 1345"/>
              <a:gd name="T3" fmla="*/ 240 h 241"/>
              <a:gd name="T4" fmla="*/ 1344 w 1345"/>
              <a:gd name="T5" fmla="*/ 240 h 241"/>
              <a:gd name="T6" fmla="*/ 0 60000 65536"/>
              <a:gd name="T7" fmla="*/ 0 60000 65536"/>
              <a:gd name="T8" fmla="*/ 0 60000 65536"/>
              <a:gd name="T9" fmla="*/ 0 w 1345"/>
              <a:gd name="T10" fmla="*/ 0 h 241"/>
              <a:gd name="T11" fmla="*/ 1345 w 1345"/>
              <a:gd name="T12" fmla="*/ 241 h 2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5" h="241">
                <a:moveTo>
                  <a:pt x="0" y="0"/>
                </a:moveTo>
                <a:lnTo>
                  <a:pt x="0" y="240"/>
                </a:lnTo>
                <a:lnTo>
                  <a:pt x="1344" y="24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8" name="Freeform 55"/>
          <p:cNvSpPr>
            <a:spLocks/>
          </p:cNvSpPr>
          <p:nvPr/>
        </p:nvSpPr>
        <p:spPr bwMode="auto">
          <a:xfrm>
            <a:off x="4899025" y="4445000"/>
            <a:ext cx="865188" cy="827088"/>
          </a:xfrm>
          <a:custGeom>
            <a:avLst/>
            <a:gdLst>
              <a:gd name="T0" fmla="*/ 0 w 545"/>
              <a:gd name="T1" fmla="*/ 520 h 521"/>
              <a:gd name="T2" fmla="*/ 544 w 545"/>
              <a:gd name="T3" fmla="*/ 520 h 521"/>
              <a:gd name="T4" fmla="*/ 544 w 545"/>
              <a:gd name="T5" fmla="*/ 0 h 521"/>
              <a:gd name="T6" fmla="*/ 0 60000 65536"/>
              <a:gd name="T7" fmla="*/ 0 60000 65536"/>
              <a:gd name="T8" fmla="*/ 0 60000 65536"/>
              <a:gd name="T9" fmla="*/ 0 w 545"/>
              <a:gd name="T10" fmla="*/ 0 h 521"/>
              <a:gd name="T11" fmla="*/ 545 w 545"/>
              <a:gd name="T12" fmla="*/ 521 h 5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5" h="521">
                <a:moveTo>
                  <a:pt x="0" y="520"/>
                </a:moveTo>
                <a:lnTo>
                  <a:pt x="544" y="520"/>
                </a:lnTo>
                <a:lnTo>
                  <a:pt x="544" y="0"/>
                </a:lnTo>
              </a:path>
            </a:pathLst>
          </a:custGeom>
          <a:noFill/>
          <a:ln w="127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39" name="Freeform 56"/>
          <p:cNvSpPr>
            <a:spLocks/>
          </p:cNvSpPr>
          <p:nvPr/>
        </p:nvSpPr>
        <p:spPr bwMode="auto">
          <a:xfrm>
            <a:off x="4022725" y="4292600"/>
            <a:ext cx="1131888" cy="42863"/>
          </a:xfrm>
          <a:custGeom>
            <a:avLst/>
            <a:gdLst>
              <a:gd name="T0" fmla="*/ 0 w 337"/>
              <a:gd name="T1" fmla="*/ 0 h 1"/>
              <a:gd name="T2" fmla="*/ 336 w 337"/>
              <a:gd name="T3" fmla="*/ 0 h 1"/>
              <a:gd name="T4" fmla="*/ 0 60000 65536"/>
              <a:gd name="T5" fmla="*/ 0 60000 65536"/>
              <a:gd name="T6" fmla="*/ 0 w 337"/>
              <a:gd name="T7" fmla="*/ 0 h 1"/>
              <a:gd name="T8" fmla="*/ 337 w 337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37" h="1">
                <a:moveTo>
                  <a:pt x="0" y="0"/>
                </a:moveTo>
                <a:lnTo>
                  <a:pt x="336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0" name="Line 57"/>
          <p:cNvSpPr>
            <a:spLocks noChangeShapeType="1"/>
          </p:cNvSpPr>
          <p:nvPr/>
        </p:nvSpPr>
        <p:spPr bwMode="auto">
          <a:xfrm>
            <a:off x="1914525" y="4140200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1" name="Rectangle 58"/>
          <p:cNvSpPr>
            <a:spLocks noChangeArrowheads="1"/>
          </p:cNvSpPr>
          <p:nvPr/>
        </p:nvSpPr>
        <p:spPr bwMode="auto">
          <a:xfrm>
            <a:off x="4935538" y="6216650"/>
            <a:ext cx="696030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Op2Sel</a:t>
            </a:r>
          </a:p>
        </p:txBody>
      </p:sp>
      <p:sp>
        <p:nvSpPr>
          <p:cNvPr id="72742" name="Oval 59"/>
          <p:cNvSpPr>
            <a:spLocks noChangeArrowheads="1"/>
          </p:cNvSpPr>
          <p:nvPr/>
        </p:nvSpPr>
        <p:spPr bwMode="auto">
          <a:xfrm>
            <a:off x="4410075" y="4540250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3" name="Oval 60"/>
          <p:cNvSpPr>
            <a:spLocks noChangeArrowheads="1"/>
          </p:cNvSpPr>
          <p:nvPr/>
        </p:nvSpPr>
        <p:spPr bwMode="auto">
          <a:xfrm>
            <a:off x="2162175" y="4121150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4" name="Oval 61"/>
          <p:cNvSpPr>
            <a:spLocks noChangeArrowheads="1"/>
          </p:cNvSpPr>
          <p:nvPr/>
        </p:nvSpPr>
        <p:spPr bwMode="auto">
          <a:xfrm>
            <a:off x="6492875" y="4133850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5" name="Line 62"/>
          <p:cNvSpPr>
            <a:spLocks noChangeShapeType="1"/>
          </p:cNvSpPr>
          <p:nvPr/>
        </p:nvSpPr>
        <p:spPr bwMode="auto">
          <a:xfrm>
            <a:off x="2181225" y="5289550"/>
            <a:ext cx="0" cy="927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46" name="Rectangle 63"/>
          <p:cNvSpPr>
            <a:spLocks noChangeArrowheads="1"/>
          </p:cNvSpPr>
          <p:nvPr/>
        </p:nvSpPr>
        <p:spPr bwMode="auto">
          <a:xfrm>
            <a:off x="3475038" y="6211888"/>
            <a:ext cx="704295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ImmSel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72747" name="Rectangle 64"/>
          <p:cNvSpPr>
            <a:spLocks noChangeArrowheads="1"/>
          </p:cNvSpPr>
          <p:nvPr/>
        </p:nvSpPr>
        <p:spPr bwMode="auto">
          <a:xfrm>
            <a:off x="1874838" y="6211888"/>
            <a:ext cx="74930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OpCode</a:t>
            </a:r>
          </a:p>
        </p:txBody>
      </p:sp>
      <p:sp>
        <p:nvSpPr>
          <p:cNvPr id="72750" name="Line 67"/>
          <p:cNvSpPr>
            <a:spLocks noChangeShapeType="1"/>
          </p:cNvSpPr>
          <p:nvPr/>
        </p:nvSpPr>
        <p:spPr bwMode="auto">
          <a:xfrm>
            <a:off x="3406775" y="42926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1" name="Line 68"/>
          <p:cNvSpPr>
            <a:spLocks noChangeShapeType="1"/>
          </p:cNvSpPr>
          <p:nvPr/>
        </p:nvSpPr>
        <p:spPr bwMode="auto">
          <a:xfrm>
            <a:off x="3406775" y="41402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2" name="Line 69"/>
          <p:cNvSpPr>
            <a:spLocks noChangeShapeType="1"/>
          </p:cNvSpPr>
          <p:nvPr/>
        </p:nvSpPr>
        <p:spPr bwMode="auto">
          <a:xfrm>
            <a:off x="3406775" y="36830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3" name="Line 70"/>
          <p:cNvSpPr>
            <a:spLocks noChangeShapeType="1"/>
          </p:cNvSpPr>
          <p:nvPr/>
        </p:nvSpPr>
        <p:spPr bwMode="auto">
          <a:xfrm>
            <a:off x="3406775" y="38354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4" name="Rectangle 71"/>
          <p:cNvSpPr>
            <a:spLocks noChangeArrowheads="1"/>
          </p:cNvSpPr>
          <p:nvPr/>
        </p:nvSpPr>
        <p:spPr bwMode="auto">
          <a:xfrm>
            <a:off x="5181600" y="3352800"/>
            <a:ext cx="7472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Bcomp</a:t>
            </a:r>
            <a:r>
              <a:rPr lang="en-US" sz="1200" dirty="0">
                <a:solidFill>
                  <a:srgbClr val="56127A"/>
                </a:solidFill>
              </a:rPr>
              <a:t>?</a:t>
            </a:r>
          </a:p>
        </p:txBody>
      </p:sp>
      <p:sp>
        <p:nvSpPr>
          <p:cNvPr id="72755" name="Line 72"/>
          <p:cNvSpPr>
            <a:spLocks noChangeShapeType="1"/>
          </p:cNvSpPr>
          <p:nvPr/>
        </p:nvSpPr>
        <p:spPr bwMode="auto">
          <a:xfrm>
            <a:off x="5181600" y="35052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6" name="Line 73"/>
          <p:cNvSpPr>
            <a:spLocks noChangeShapeType="1"/>
          </p:cNvSpPr>
          <p:nvPr/>
        </p:nvSpPr>
        <p:spPr bwMode="auto">
          <a:xfrm>
            <a:off x="5464175" y="3987800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7" name="Line 74"/>
          <p:cNvSpPr>
            <a:spLocks noChangeShapeType="1"/>
          </p:cNvSpPr>
          <p:nvPr/>
        </p:nvSpPr>
        <p:spPr bwMode="auto">
          <a:xfrm>
            <a:off x="5762625" y="4451350"/>
            <a:ext cx="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8" name="Freeform 75"/>
          <p:cNvSpPr>
            <a:spLocks/>
          </p:cNvSpPr>
          <p:nvPr/>
        </p:nvSpPr>
        <p:spPr bwMode="auto">
          <a:xfrm>
            <a:off x="5162550" y="4216400"/>
            <a:ext cx="230188" cy="458788"/>
          </a:xfrm>
          <a:custGeom>
            <a:avLst/>
            <a:gdLst>
              <a:gd name="T0" fmla="*/ 144 w 145"/>
              <a:gd name="T1" fmla="*/ 48 h 289"/>
              <a:gd name="T2" fmla="*/ 144 w 145"/>
              <a:gd name="T3" fmla="*/ 240 h 289"/>
              <a:gd name="T4" fmla="*/ 0 w 145"/>
              <a:gd name="T5" fmla="*/ 288 h 289"/>
              <a:gd name="T6" fmla="*/ 0 w 145"/>
              <a:gd name="T7" fmla="*/ 0 h 289"/>
              <a:gd name="T8" fmla="*/ 144 w 145"/>
              <a:gd name="T9" fmla="*/ 48 h 2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5"/>
              <a:gd name="T16" fmla="*/ 0 h 289"/>
              <a:gd name="T17" fmla="*/ 145 w 145"/>
              <a:gd name="T18" fmla="*/ 289 h 28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5" h="289">
                <a:moveTo>
                  <a:pt x="144" y="48"/>
                </a:moveTo>
                <a:lnTo>
                  <a:pt x="144" y="240"/>
                </a:lnTo>
                <a:lnTo>
                  <a:pt x="0" y="288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solidFill>
            <a:schemeClr val="bg1"/>
          </a:solidFill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59" name="Line 76"/>
          <p:cNvSpPr>
            <a:spLocks noChangeShapeType="1"/>
          </p:cNvSpPr>
          <p:nvPr/>
        </p:nvSpPr>
        <p:spPr bwMode="auto">
          <a:xfrm flipH="1">
            <a:off x="5073650" y="4597400"/>
            <a:ext cx="10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0" name="Line 77"/>
          <p:cNvSpPr>
            <a:spLocks noChangeShapeType="1"/>
          </p:cNvSpPr>
          <p:nvPr/>
        </p:nvSpPr>
        <p:spPr bwMode="auto">
          <a:xfrm flipH="1">
            <a:off x="5073650" y="4292600"/>
            <a:ext cx="10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1" name="Line 78"/>
          <p:cNvSpPr>
            <a:spLocks noChangeShapeType="1"/>
          </p:cNvSpPr>
          <p:nvPr/>
        </p:nvSpPr>
        <p:spPr bwMode="auto">
          <a:xfrm flipH="1">
            <a:off x="5378450" y="4445000"/>
            <a:ext cx="139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2" name="Rectangle 79"/>
          <p:cNvSpPr>
            <a:spLocks noChangeArrowheads="1"/>
          </p:cNvSpPr>
          <p:nvPr/>
        </p:nvSpPr>
        <p:spPr bwMode="auto">
          <a:xfrm>
            <a:off x="4205724" y="6211888"/>
            <a:ext cx="747276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FuncSel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72763" name="Line 80"/>
          <p:cNvSpPr>
            <a:spLocks noChangeShapeType="1"/>
          </p:cNvSpPr>
          <p:nvPr/>
        </p:nvSpPr>
        <p:spPr bwMode="auto">
          <a:xfrm>
            <a:off x="4213225" y="5283200"/>
            <a:ext cx="5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4" name="Rectangle 81"/>
          <p:cNvSpPr>
            <a:spLocks noChangeArrowheads="1"/>
          </p:cNvSpPr>
          <p:nvPr/>
        </p:nvSpPr>
        <p:spPr bwMode="auto">
          <a:xfrm>
            <a:off x="3386138" y="3111500"/>
            <a:ext cx="336550" cy="241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000">
                <a:solidFill>
                  <a:srgbClr val="56127A"/>
                </a:solidFill>
              </a:rPr>
              <a:t>clk</a:t>
            </a:r>
          </a:p>
        </p:txBody>
      </p:sp>
      <p:sp>
        <p:nvSpPr>
          <p:cNvPr id="72765" name="Line 82"/>
          <p:cNvSpPr>
            <a:spLocks noChangeShapeType="1"/>
          </p:cNvSpPr>
          <p:nvPr/>
        </p:nvSpPr>
        <p:spPr bwMode="auto">
          <a:xfrm>
            <a:off x="3565525" y="3352800"/>
            <a:ext cx="0" cy="127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6" name="Oval 83"/>
          <p:cNvSpPr>
            <a:spLocks noChangeArrowheads="1"/>
          </p:cNvSpPr>
          <p:nvPr/>
        </p:nvSpPr>
        <p:spPr bwMode="auto">
          <a:xfrm>
            <a:off x="4740275" y="4260850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8" name="Line 85"/>
          <p:cNvSpPr>
            <a:spLocks noChangeShapeType="1"/>
          </p:cNvSpPr>
          <p:nvPr/>
        </p:nvSpPr>
        <p:spPr bwMode="auto">
          <a:xfrm flipV="1">
            <a:off x="3768725" y="5056188"/>
            <a:ext cx="0" cy="12128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69" name="Line 86"/>
          <p:cNvSpPr>
            <a:spLocks noChangeShapeType="1"/>
          </p:cNvSpPr>
          <p:nvPr/>
        </p:nvSpPr>
        <p:spPr bwMode="auto">
          <a:xfrm flipV="1">
            <a:off x="4568825" y="5459413"/>
            <a:ext cx="0" cy="8096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70" name="Line 87"/>
          <p:cNvSpPr>
            <a:spLocks noChangeShapeType="1"/>
          </p:cNvSpPr>
          <p:nvPr/>
        </p:nvSpPr>
        <p:spPr bwMode="auto">
          <a:xfrm>
            <a:off x="5267325" y="4616450"/>
            <a:ext cx="0" cy="16303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triangle" w="med" len="med"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71" name="Line 88"/>
          <p:cNvSpPr>
            <a:spLocks noChangeShapeType="1"/>
          </p:cNvSpPr>
          <p:nvPr/>
        </p:nvSpPr>
        <p:spPr bwMode="auto">
          <a:xfrm flipH="1" flipV="1">
            <a:off x="4648200" y="361178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517525" y="3698875"/>
            <a:ext cx="1412875" cy="1050925"/>
            <a:chOff x="326" y="2386"/>
            <a:chExt cx="890" cy="662"/>
          </a:xfrm>
        </p:grpSpPr>
        <p:sp>
          <p:nvSpPr>
            <p:cNvPr id="72809" name="Rectangle 93"/>
            <p:cNvSpPr>
              <a:spLocks noChangeArrowheads="1"/>
            </p:cNvSpPr>
            <p:nvPr/>
          </p:nvSpPr>
          <p:spPr bwMode="auto">
            <a:xfrm>
              <a:off x="326" y="2766"/>
              <a:ext cx="21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clk</a:t>
              </a:r>
            </a:p>
          </p:txBody>
        </p:sp>
        <p:sp>
          <p:nvSpPr>
            <p:cNvPr id="72810" name="Line 94"/>
            <p:cNvSpPr>
              <a:spLocks noChangeShapeType="1"/>
            </p:cNvSpPr>
            <p:nvPr/>
          </p:nvSpPr>
          <p:spPr bwMode="auto">
            <a:xfrm>
              <a:off x="431" y="2742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" name="Group 95"/>
            <p:cNvGrpSpPr>
              <a:grpSpLocks/>
            </p:cNvGrpSpPr>
            <p:nvPr/>
          </p:nvGrpSpPr>
          <p:grpSpPr bwMode="auto">
            <a:xfrm>
              <a:off x="333" y="2386"/>
              <a:ext cx="883" cy="662"/>
              <a:chOff x="333" y="2386"/>
              <a:chExt cx="883" cy="662"/>
            </a:xfrm>
          </p:grpSpPr>
          <p:sp>
            <p:nvSpPr>
              <p:cNvPr id="72812" name="Freeform 96"/>
              <p:cNvSpPr>
                <a:spLocks/>
              </p:cNvSpPr>
              <p:nvPr/>
            </p:nvSpPr>
            <p:spPr bwMode="auto">
              <a:xfrm>
                <a:off x="517" y="2567"/>
                <a:ext cx="189" cy="1"/>
              </a:xfrm>
              <a:custGeom>
                <a:avLst/>
                <a:gdLst>
                  <a:gd name="T0" fmla="*/ 0 w 189"/>
                  <a:gd name="T1" fmla="*/ 0 h 1"/>
                  <a:gd name="T2" fmla="*/ 141 w 189"/>
                  <a:gd name="T3" fmla="*/ 0 h 1"/>
                  <a:gd name="T4" fmla="*/ 188 w 1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"/>
                  <a:gd name="T11" fmla="*/ 189 w 1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">
                    <a:moveTo>
                      <a:pt x="0" y="0"/>
                    </a:moveTo>
                    <a:lnTo>
                      <a:pt x="141" y="0"/>
                    </a:lnTo>
                    <a:lnTo>
                      <a:pt x="188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" name="Group 97"/>
              <p:cNvGrpSpPr>
                <a:grpSpLocks/>
              </p:cNvGrpSpPr>
              <p:nvPr/>
            </p:nvGrpSpPr>
            <p:grpSpPr bwMode="auto">
              <a:xfrm>
                <a:off x="684" y="2452"/>
                <a:ext cx="532" cy="596"/>
                <a:chOff x="684" y="2452"/>
                <a:chExt cx="532" cy="596"/>
              </a:xfrm>
            </p:grpSpPr>
            <p:sp>
              <p:nvSpPr>
                <p:cNvPr id="72818" name="Rectangle 98"/>
                <p:cNvSpPr>
                  <a:spLocks noChangeArrowheads="1"/>
                </p:cNvSpPr>
                <p:nvPr/>
              </p:nvSpPr>
              <p:spPr bwMode="auto">
                <a:xfrm>
                  <a:off x="717" y="2454"/>
                  <a:ext cx="466" cy="5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819" name="Rectangle 99"/>
                <p:cNvSpPr>
                  <a:spLocks noChangeArrowheads="1"/>
                </p:cNvSpPr>
                <p:nvPr/>
              </p:nvSpPr>
              <p:spPr bwMode="auto">
                <a:xfrm>
                  <a:off x="684" y="2452"/>
                  <a:ext cx="306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addr</a:t>
                  </a:r>
                </a:p>
              </p:txBody>
            </p:sp>
            <p:sp>
              <p:nvSpPr>
                <p:cNvPr id="72820" name="Rectangle 100"/>
                <p:cNvSpPr>
                  <a:spLocks noChangeArrowheads="1"/>
                </p:cNvSpPr>
                <p:nvPr/>
              </p:nvSpPr>
              <p:spPr bwMode="auto">
                <a:xfrm>
                  <a:off x="953" y="2554"/>
                  <a:ext cx="263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inst</a:t>
                  </a:r>
                </a:p>
              </p:txBody>
            </p:sp>
            <p:sp>
              <p:nvSpPr>
                <p:cNvPr id="72821" name="Rectangle 101"/>
                <p:cNvSpPr>
                  <a:spLocks noChangeArrowheads="1"/>
                </p:cNvSpPr>
                <p:nvPr/>
              </p:nvSpPr>
              <p:spPr bwMode="auto">
                <a:xfrm>
                  <a:off x="691" y="2724"/>
                  <a:ext cx="518" cy="32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Inst.</a:t>
                  </a:r>
                </a:p>
                <a:p>
                  <a:pPr>
                    <a:spcBef>
                      <a:spcPct val="0"/>
                    </a:spcBef>
                  </a:pPr>
                  <a:r>
                    <a:rPr lang="en-US" sz="1400">
                      <a:solidFill>
                        <a:srgbClr val="56127A"/>
                      </a:solidFill>
                    </a:rPr>
                    <a:t>Memory</a:t>
                  </a:r>
                </a:p>
              </p:txBody>
            </p:sp>
          </p:grpSp>
          <p:sp>
            <p:nvSpPr>
              <p:cNvPr id="72814" name="Rectangle 102"/>
              <p:cNvSpPr>
                <a:spLocks noChangeArrowheads="1"/>
              </p:cNvSpPr>
              <p:nvPr/>
            </p:nvSpPr>
            <p:spPr bwMode="auto">
              <a:xfrm>
                <a:off x="382" y="2386"/>
                <a:ext cx="127" cy="362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815" name="Line 103"/>
              <p:cNvSpPr>
                <a:spLocks noChangeShapeType="1"/>
              </p:cNvSpPr>
              <p:nvPr/>
            </p:nvSpPr>
            <p:spPr bwMode="auto">
              <a:xfrm>
                <a:off x="525" y="2567"/>
                <a:ext cx="3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816" name="Rectangle 104"/>
              <p:cNvSpPr>
                <a:spLocks noChangeArrowheads="1"/>
              </p:cNvSpPr>
              <p:nvPr/>
            </p:nvSpPr>
            <p:spPr bwMode="auto">
              <a:xfrm>
                <a:off x="333" y="2494"/>
                <a:ext cx="247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PC</a:t>
                </a:r>
              </a:p>
            </p:txBody>
          </p:sp>
          <p:sp>
            <p:nvSpPr>
              <p:cNvPr id="72817" name="Freeform 105"/>
              <p:cNvSpPr>
                <a:spLocks/>
              </p:cNvSpPr>
              <p:nvPr/>
            </p:nvSpPr>
            <p:spPr bwMode="auto">
              <a:xfrm>
                <a:off x="422" y="2701"/>
                <a:ext cx="48" cy="48"/>
              </a:xfrm>
              <a:custGeom>
                <a:avLst/>
                <a:gdLst>
                  <a:gd name="T0" fmla="*/ 0 w 48"/>
                  <a:gd name="T1" fmla="*/ 47 h 48"/>
                  <a:gd name="T2" fmla="*/ 24 w 48"/>
                  <a:gd name="T3" fmla="*/ 0 h 48"/>
                  <a:gd name="T4" fmla="*/ 47 w 48"/>
                  <a:gd name="T5" fmla="*/ 47 h 48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48"/>
                  <a:gd name="T11" fmla="*/ 48 w 48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48">
                    <a:moveTo>
                      <a:pt x="0" y="47"/>
                    </a:moveTo>
                    <a:lnTo>
                      <a:pt x="24" y="0"/>
                    </a:lnTo>
                    <a:lnTo>
                      <a:pt x="47" y="47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72776" name="Rectangle 106"/>
          <p:cNvSpPr>
            <a:spLocks noChangeArrowheads="1"/>
          </p:cNvSpPr>
          <p:nvPr/>
        </p:nvSpPr>
        <p:spPr bwMode="auto">
          <a:xfrm>
            <a:off x="3481388" y="3468688"/>
            <a:ext cx="571500" cy="10636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77" name="Rectangle 107"/>
          <p:cNvSpPr>
            <a:spLocks noChangeArrowheads="1"/>
          </p:cNvSpPr>
          <p:nvPr/>
        </p:nvSpPr>
        <p:spPr bwMode="auto">
          <a:xfrm>
            <a:off x="3725863" y="3871913"/>
            <a:ext cx="401637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rd1</a:t>
            </a:r>
          </a:p>
        </p:txBody>
      </p:sp>
      <p:sp>
        <p:nvSpPr>
          <p:cNvPr id="72778" name="Rectangle 108"/>
          <p:cNvSpPr>
            <a:spLocks noChangeArrowheads="1"/>
          </p:cNvSpPr>
          <p:nvPr/>
        </p:nvSpPr>
        <p:spPr bwMode="auto">
          <a:xfrm>
            <a:off x="3454400" y="4275138"/>
            <a:ext cx="655638" cy="301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rgbClr val="56127A"/>
                </a:solidFill>
              </a:rPr>
              <a:t>GPRs</a:t>
            </a:r>
          </a:p>
        </p:txBody>
      </p:sp>
      <p:sp>
        <p:nvSpPr>
          <p:cNvPr id="72779" name="Rectangle 109"/>
          <p:cNvSpPr>
            <a:spLocks noChangeArrowheads="1"/>
          </p:cNvSpPr>
          <p:nvPr/>
        </p:nvSpPr>
        <p:spPr bwMode="auto">
          <a:xfrm>
            <a:off x="3429000" y="3565525"/>
            <a:ext cx="392113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rs1</a:t>
            </a:r>
          </a:p>
        </p:txBody>
      </p:sp>
      <p:sp>
        <p:nvSpPr>
          <p:cNvPr id="72780" name="Rectangle 110"/>
          <p:cNvSpPr>
            <a:spLocks noChangeArrowheads="1"/>
          </p:cNvSpPr>
          <p:nvPr/>
        </p:nvSpPr>
        <p:spPr bwMode="auto">
          <a:xfrm>
            <a:off x="3429000" y="3716338"/>
            <a:ext cx="392113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rs2</a:t>
            </a:r>
          </a:p>
        </p:txBody>
      </p:sp>
      <p:sp>
        <p:nvSpPr>
          <p:cNvPr id="72781" name="Rectangle 111"/>
          <p:cNvSpPr>
            <a:spLocks noChangeArrowheads="1"/>
          </p:cNvSpPr>
          <p:nvPr/>
        </p:nvSpPr>
        <p:spPr bwMode="auto">
          <a:xfrm>
            <a:off x="3429000" y="4003675"/>
            <a:ext cx="379462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wa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72782" name="Rectangle 112"/>
          <p:cNvSpPr>
            <a:spLocks noChangeArrowheads="1"/>
          </p:cNvSpPr>
          <p:nvPr/>
        </p:nvSpPr>
        <p:spPr bwMode="auto">
          <a:xfrm>
            <a:off x="3429000" y="4149725"/>
            <a:ext cx="3762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wd</a:t>
            </a:r>
          </a:p>
        </p:txBody>
      </p:sp>
      <p:sp>
        <p:nvSpPr>
          <p:cNvPr id="72783" name="Rectangle 113"/>
          <p:cNvSpPr>
            <a:spLocks noChangeArrowheads="1"/>
          </p:cNvSpPr>
          <p:nvPr/>
        </p:nvSpPr>
        <p:spPr bwMode="auto">
          <a:xfrm>
            <a:off x="3733800" y="4151313"/>
            <a:ext cx="401638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rd2</a:t>
            </a:r>
          </a:p>
        </p:txBody>
      </p:sp>
      <p:sp>
        <p:nvSpPr>
          <p:cNvPr id="72784" name="Rectangle 114"/>
          <p:cNvSpPr>
            <a:spLocks noChangeArrowheads="1"/>
          </p:cNvSpPr>
          <p:nvPr/>
        </p:nvSpPr>
        <p:spPr bwMode="auto">
          <a:xfrm>
            <a:off x="3627438" y="3402013"/>
            <a:ext cx="376237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</a:rPr>
              <a:t>we</a:t>
            </a:r>
          </a:p>
        </p:txBody>
      </p:sp>
      <p:grpSp>
        <p:nvGrpSpPr>
          <p:cNvPr id="9" name="Group 115"/>
          <p:cNvGrpSpPr>
            <a:grpSpLocks/>
          </p:cNvGrpSpPr>
          <p:nvPr/>
        </p:nvGrpSpPr>
        <p:grpSpPr bwMode="auto">
          <a:xfrm>
            <a:off x="3479800" y="4667250"/>
            <a:ext cx="571500" cy="396875"/>
            <a:chOff x="2192" y="2996"/>
            <a:chExt cx="360" cy="250"/>
          </a:xfrm>
        </p:grpSpPr>
        <p:sp>
          <p:nvSpPr>
            <p:cNvPr id="72807" name="Rectangle 116"/>
            <p:cNvSpPr>
              <a:spLocks noChangeArrowheads="1"/>
            </p:cNvSpPr>
            <p:nvPr/>
          </p:nvSpPr>
          <p:spPr bwMode="auto">
            <a:xfrm>
              <a:off x="2192" y="3030"/>
              <a:ext cx="360" cy="19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8" name="Rectangle 117"/>
            <p:cNvSpPr>
              <a:spLocks noChangeArrowheads="1"/>
            </p:cNvSpPr>
            <p:nvPr/>
          </p:nvSpPr>
          <p:spPr bwMode="auto">
            <a:xfrm>
              <a:off x="2208" y="2996"/>
              <a:ext cx="341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000" dirty="0" err="1">
                  <a:solidFill>
                    <a:srgbClr val="56127A"/>
                  </a:solidFill>
                </a:rPr>
                <a:t>Imm</a:t>
              </a:r>
              <a:endParaRPr lang="en-US" sz="1000" dirty="0">
                <a:solidFill>
                  <a:srgbClr val="56127A"/>
                </a:solidFill>
              </a:endParaRPr>
            </a:p>
            <a:p>
              <a:pPr algn="ctr">
                <a:spcBef>
                  <a:spcPct val="0"/>
                </a:spcBef>
              </a:pPr>
              <a:r>
                <a:rPr lang="en-US" sz="1000" dirty="0">
                  <a:solidFill>
                    <a:srgbClr val="56127A"/>
                  </a:solidFill>
                </a:rPr>
                <a:t>Select</a:t>
              </a:r>
            </a:p>
          </p:txBody>
        </p:sp>
      </p:grpSp>
      <p:grpSp>
        <p:nvGrpSpPr>
          <p:cNvPr id="10" name="Group 118"/>
          <p:cNvGrpSpPr>
            <a:grpSpLocks/>
          </p:cNvGrpSpPr>
          <p:nvPr/>
        </p:nvGrpSpPr>
        <p:grpSpPr bwMode="auto">
          <a:xfrm>
            <a:off x="5499100" y="3905250"/>
            <a:ext cx="477838" cy="603250"/>
            <a:chOff x="3464" y="2516"/>
            <a:chExt cx="301" cy="380"/>
          </a:xfrm>
        </p:grpSpPr>
        <p:sp>
          <p:nvSpPr>
            <p:cNvPr id="72805" name="Freeform 119"/>
            <p:cNvSpPr>
              <a:spLocks/>
            </p:cNvSpPr>
            <p:nvPr/>
          </p:nvSpPr>
          <p:spPr bwMode="auto">
            <a:xfrm>
              <a:off x="3487" y="2516"/>
              <a:ext cx="236" cy="380"/>
            </a:xfrm>
            <a:custGeom>
              <a:avLst/>
              <a:gdLst>
                <a:gd name="T0" fmla="*/ 0 w 236"/>
                <a:gd name="T1" fmla="*/ 0 h 380"/>
                <a:gd name="T2" fmla="*/ 0 w 236"/>
                <a:gd name="T3" fmla="*/ 158 h 380"/>
                <a:gd name="T4" fmla="*/ 47 w 236"/>
                <a:gd name="T5" fmla="*/ 190 h 380"/>
                <a:gd name="T6" fmla="*/ 0 w 236"/>
                <a:gd name="T7" fmla="*/ 221 h 380"/>
                <a:gd name="T8" fmla="*/ 0 w 236"/>
                <a:gd name="T9" fmla="*/ 379 h 380"/>
                <a:gd name="T10" fmla="*/ 235 w 236"/>
                <a:gd name="T11" fmla="*/ 284 h 380"/>
                <a:gd name="T12" fmla="*/ 235 w 236"/>
                <a:gd name="T13" fmla="*/ 95 h 380"/>
                <a:gd name="T14" fmla="*/ 0 w 236"/>
                <a:gd name="T15" fmla="*/ 0 h 3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36"/>
                <a:gd name="T25" fmla="*/ 0 h 380"/>
                <a:gd name="T26" fmla="*/ 236 w 236"/>
                <a:gd name="T27" fmla="*/ 380 h 3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36" h="380">
                  <a:moveTo>
                    <a:pt x="0" y="0"/>
                  </a:moveTo>
                  <a:lnTo>
                    <a:pt x="0" y="158"/>
                  </a:lnTo>
                  <a:lnTo>
                    <a:pt x="47" y="190"/>
                  </a:lnTo>
                  <a:lnTo>
                    <a:pt x="0" y="221"/>
                  </a:lnTo>
                  <a:lnTo>
                    <a:pt x="0" y="379"/>
                  </a:lnTo>
                  <a:lnTo>
                    <a:pt x="235" y="284"/>
                  </a:lnTo>
                  <a:lnTo>
                    <a:pt x="235" y="95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6" name="Rectangle 120"/>
            <p:cNvSpPr>
              <a:spLocks noChangeArrowheads="1"/>
            </p:cNvSpPr>
            <p:nvPr/>
          </p:nvSpPr>
          <p:spPr bwMode="auto">
            <a:xfrm>
              <a:off x="3464" y="2634"/>
              <a:ext cx="301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</a:rPr>
                <a:t>ALU</a:t>
              </a:r>
            </a:p>
          </p:txBody>
        </p:sp>
      </p:grpSp>
      <p:grpSp>
        <p:nvGrpSpPr>
          <p:cNvPr id="11" name="Group 121"/>
          <p:cNvGrpSpPr>
            <a:grpSpLocks/>
          </p:cNvGrpSpPr>
          <p:nvPr/>
        </p:nvGrpSpPr>
        <p:grpSpPr bwMode="auto">
          <a:xfrm>
            <a:off x="3524250" y="3467100"/>
            <a:ext cx="80963" cy="87313"/>
            <a:chOff x="2815" y="1407"/>
            <a:chExt cx="51" cy="55"/>
          </a:xfrm>
        </p:grpSpPr>
        <p:sp>
          <p:nvSpPr>
            <p:cNvPr id="72803" name="Line 122"/>
            <p:cNvSpPr>
              <a:spLocks noChangeShapeType="1"/>
            </p:cNvSpPr>
            <p:nvPr/>
          </p:nvSpPr>
          <p:spPr bwMode="auto">
            <a:xfrm>
              <a:off x="2815" y="1407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4" name="Line 123"/>
            <p:cNvSpPr>
              <a:spLocks noChangeShapeType="1"/>
            </p:cNvSpPr>
            <p:nvPr/>
          </p:nvSpPr>
          <p:spPr bwMode="auto">
            <a:xfrm flipH="1">
              <a:off x="2842" y="1410"/>
              <a:ext cx="24" cy="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124"/>
          <p:cNvGrpSpPr>
            <a:grpSpLocks/>
          </p:cNvGrpSpPr>
          <p:nvPr/>
        </p:nvGrpSpPr>
        <p:grpSpPr bwMode="auto">
          <a:xfrm>
            <a:off x="4291013" y="5121275"/>
            <a:ext cx="671512" cy="361950"/>
            <a:chOff x="2576" y="2405"/>
            <a:chExt cx="423" cy="228"/>
          </a:xfrm>
        </p:grpSpPr>
        <p:sp>
          <p:nvSpPr>
            <p:cNvPr id="72801" name="Rectangle 125"/>
            <p:cNvSpPr>
              <a:spLocks noChangeArrowheads="1"/>
            </p:cNvSpPr>
            <p:nvPr/>
          </p:nvSpPr>
          <p:spPr bwMode="auto">
            <a:xfrm>
              <a:off x="2609" y="2405"/>
              <a:ext cx="361" cy="19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2" name="Rectangle 126"/>
            <p:cNvSpPr>
              <a:spLocks noChangeArrowheads="1"/>
            </p:cNvSpPr>
            <p:nvPr/>
          </p:nvSpPr>
          <p:spPr bwMode="auto">
            <a:xfrm>
              <a:off x="2576" y="2405"/>
              <a:ext cx="423" cy="22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ALU</a:t>
              </a:r>
            </a:p>
            <a:p>
              <a:pPr algn="ctr">
                <a:lnSpc>
                  <a:spcPct val="75000"/>
                </a:lnSpc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Control</a:t>
              </a:r>
            </a:p>
          </p:txBody>
        </p:sp>
      </p:grpSp>
      <p:sp>
        <p:nvSpPr>
          <p:cNvPr id="72789" name="Freeform 127"/>
          <p:cNvSpPr>
            <a:spLocks/>
          </p:cNvSpPr>
          <p:nvPr/>
        </p:nvSpPr>
        <p:spPr bwMode="auto">
          <a:xfrm flipV="1">
            <a:off x="4759325" y="4292600"/>
            <a:ext cx="2149475" cy="687388"/>
          </a:xfrm>
          <a:custGeom>
            <a:avLst/>
            <a:gdLst>
              <a:gd name="T0" fmla="*/ 0 w 1505"/>
              <a:gd name="T1" fmla="*/ 200 h 201"/>
              <a:gd name="T2" fmla="*/ 0 w 1505"/>
              <a:gd name="T3" fmla="*/ 0 h 201"/>
              <a:gd name="T4" fmla="*/ 1504 w 1505"/>
              <a:gd name="T5" fmla="*/ 0 h 201"/>
              <a:gd name="T6" fmla="*/ 0 60000 65536"/>
              <a:gd name="T7" fmla="*/ 0 60000 65536"/>
              <a:gd name="T8" fmla="*/ 0 60000 65536"/>
              <a:gd name="T9" fmla="*/ 0 w 1505"/>
              <a:gd name="T10" fmla="*/ 0 h 201"/>
              <a:gd name="T11" fmla="*/ 1505 w 1505"/>
              <a:gd name="T12" fmla="*/ 201 h 2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5" h="201">
                <a:moveTo>
                  <a:pt x="0" y="200"/>
                </a:moveTo>
                <a:lnTo>
                  <a:pt x="0" y="0"/>
                </a:lnTo>
                <a:lnTo>
                  <a:pt x="1504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3" name="Group 129"/>
          <p:cNvGrpSpPr>
            <a:grpSpLocks/>
          </p:cNvGrpSpPr>
          <p:nvPr/>
        </p:nvGrpSpPr>
        <p:grpSpPr bwMode="auto">
          <a:xfrm>
            <a:off x="5521325" y="2654300"/>
            <a:ext cx="417513" cy="611188"/>
            <a:chOff x="3478" y="1672"/>
            <a:chExt cx="263" cy="385"/>
          </a:xfrm>
        </p:grpSpPr>
        <p:sp>
          <p:nvSpPr>
            <p:cNvPr id="72799" name="Freeform 130"/>
            <p:cNvSpPr>
              <a:spLocks/>
            </p:cNvSpPr>
            <p:nvPr/>
          </p:nvSpPr>
          <p:spPr bwMode="auto">
            <a:xfrm>
              <a:off x="3478" y="1672"/>
              <a:ext cx="241" cy="385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 w="9525" cap="rnd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0" name="Rectangle 131"/>
            <p:cNvSpPr>
              <a:spLocks noChangeArrowheads="1"/>
            </p:cNvSpPr>
            <p:nvPr/>
          </p:nvSpPr>
          <p:spPr bwMode="auto">
            <a:xfrm>
              <a:off x="3485" y="1796"/>
              <a:ext cx="256" cy="1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Add</a:t>
              </a:r>
            </a:p>
          </p:txBody>
        </p:sp>
      </p:grpSp>
      <p:sp>
        <p:nvSpPr>
          <p:cNvPr id="72795" name="Freeform 132"/>
          <p:cNvSpPr>
            <a:spLocks/>
          </p:cNvSpPr>
          <p:nvPr/>
        </p:nvSpPr>
        <p:spPr bwMode="auto">
          <a:xfrm>
            <a:off x="1597025" y="2768600"/>
            <a:ext cx="79375" cy="50800"/>
          </a:xfrm>
          <a:custGeom>
            <a:avLst/>
            <a:gdLst>
              <a:gd name="T0" fmla="*/ 0 w 2465"/>
              <a:gd name="T1" fmla="*/ 0 h 1"/>
              <a:gd name="T2" fmla="*/ 370 w 2465"/>
              <a:gd name="T3" fmla="*/ 0 h 1"/>
              <a:gd name="T4" fmla="*/ 358 w 2465"/>
              <a:gd name="T5" fmla="*/ 0 h 1"/>
              <a:gd name="T6" fmla="*/ 2464 w 2465"/>
              <a:gd name="T7" fmla="*/ 0 h 1"/>
              <a:gd name="T8" fmla="*/ 0 60000 65536"/>
              <a:gd name="T9" fmla="*/ 0 60000 65536"/>
              <a:gd name="T10" fmla="*/ 0 60000 65536"/>
              <a:gd name="T11" fmla="*/ 0 60000 65536"/>
              <a:gd name="T12" fmla="*/ 0 w 2465"/>
              <a:gd name="T13" fmla="*/ 0 h 1"/>
              <a:gd name="T14" fmla="*/ 2465 w 2465"/>
              <a:gd name="T15" fmla="*/ 1 h 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65" h="1">
                <a:moveTo>
                  <a:pt x="0" y="0"/>
                </a:moveTo>
                <a:lnTo>
                  <a:pt x="370" y="0"/>
                </a:lnTo>
                <a:lnTo>
                  <a:pt x="358" y="0"/>
                </a:lnTo>
                <a:lnTo>
                  <a:pt x="2464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96" name="Freeform 133"/>
          <p:cNvSpPr>
            <a:spLocks/>
          </p:cNvSpPr>
          <p:nvPr/>
        </p:nvSpPr>
        <p:spPr bwMode="auto">
          <a:xfrm>
            <a:off x="1371600" y="1662113"/>
            <a:ext cx="5330825" cy="1309688"/>
          </a:xfrm>
          <a:custGeom>
            <a:avLst/>
            <a:gdLst>
              <a:gd name="T0" fmla="*/ 2857 w 3358"/>
              <a:gd name="T1" fmla="*/ 825 h 825"/>
              <a:gd name="T2" fmla="*/ 3358 w 3358"/>
              <a:gd name="T3" fmla="*/ 825 h 825"/>
              <a:gd name="T4" fmla="*/ 3358 w 3358"/>
              <a:gd name="T5" fmla="*/ 429 h 825"/>
              <a:gd name="T6" fmla="*/ 3358 w 3358"/>
              <a:gd name="T7" fmla="*/ 0 h 825"/>
              <a:gd name="T8" fmla="*/ 0 w 3358"/>
              <a:gd name="T9" fmla="*/ 0 h 8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58"/>
              <a:gd name="T16" fmla="*/ 0 h 825"/>
              <a:gd name="T17" fmla="*/ 3358 w 3358"/>
              <a:gd name="T18" fmla="*/ 825 h 8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58" h="825">
                <a:moveTo>
                  <a:pt x="2857" y="825"/>
                </a:moveTo>
                <a:lnTo>
                  <a:pt x="3358" y="825"/>
                </a:lnTo>
                <a:lnTo>
                  <a:pt x="3358" y="429"/>
                </a:lnTo>
                <a:lnTo>
                  <a:pt x="335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97" name="Freeform 134"/>
          <p:cNvSpPr>
            <a:spLocks/>
          </p:cNvSpPr>
          <p:nvPr/>
        </p:nvSpPr>
        <p:spPr bwMode="auto">
          <a:xfrm>
            <a:off x="4432300" y="3149600"/>
            <a:ext cx="1104900" cy="1409700"/>
          </a:xfrm>
          <a:custGeom>
            <a:avLst/>
            <a:gdLst>
              <a:gd name="T0" fmla="*/ 0 w 696"/>
              <a:gd name="T1" fmla="*/ 888 h 888"/>
              <a:gd name="T2" fmla="*/ 0 w 696"/>
              <a:gd name="T3" fmla="*/ 0 h 888"/>
              <a:gd name="T4" fmla="*/ 696 w 696"/>
              <a:gd name="T5" fmla="*/ 0 h 888"/>
              <a:gd name="T6" fmla="*/ 0 60000 65536"/>
              <a:gd name="T7" fmla="*/ 0 60000 65536"/>
              <a:gd name="T8" fmla="*/ 0 60000 65536"/>
              <a:gd name="T9" fmla="*/ 0 w 696"/>
              <a:gd name="T10" fmla="*/ 0 h 888"/>
              <a:gd name="T11" fmla="*/ 696 w 696"/>
              <a:gd name="T12" fmla="*/ 888 h 8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96" h="888">
                <a:moveTo>
                  <a:pt x="0" y="888"/>
                </a:moveTo>
                <a:lnTo>
                  <a:pt x="0" y="0"/>
                </a:lnTo>
                <a:lnTo>
                  <a:pt x="696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798" name="Rectangle 135"/>
          <p:cNvSpPr>
            <a:spLocks noChangeArrowheads="1"/>
          </p:cNvSpPr>
          <p:nvPr/>
        </p:nvSpPr>
        <p:spPr bwMode="auto">
          <a:xfrm>
            <a:off x="1371600" y="1447800"/>
            <a:ext cx="336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 b="1">
                <a:solidFill>
                  <a:srgbClr val="56127A"/>
                </a:solidFill>
              </a:rPr>
              <a:t>br</a:t>
            </a:r>
          </a:p>
        </p:txBody>
      </p:sp>
      <p:sp>
        <p:nvSpPr>
          <p:cNvPr id="72791" name="Rectangle 136"/>
          <p:cNvSpPr>
            <a:spLocks noChangeArrowheads="1"/>
          </p:cNvSpPr>
          <p:nvPr/>
        </p:nvSpPr>
        <p:spPr bwMode="auto">
          <a:xfrm>
            <a:off x="1370013" y="1981200"/>
            <a:ext cx="5349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200" b="1">
                <a:solidFill>
                  <a:srgbClr val="56127A"/>
                </a:solidFill>
              </a:rPr>
              <a:t>pc+4</a:t>
            </a:r>
          </a:p>
        </p:txBody>
      </p:sp>
      <p:sp>
        <p:nvSpPr>
          <p:cNvPr id="72792" name="Rectangle 137"/>
          <p:cNvSpPr>
            <a:spLocks noChangeArrowheads="1"/>
          </p:cNvSpPr>
          <p:nvPr/>
        </p:nvSpPr>
        <p:spPr bwMode="auto">
          <a:xfrm>
            <a:off x="3429000" y="1219200"/>
            <a:ext cx="846988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</a:rPr>
              <a:t>RegWrEn</a:t>
            </a:r>
            <a:endParaRPr lang="en-US" sz="1200" dirty="0">
              <a:solidFill>
                <a:srgbClr val="56127A"/>
              </a:solidFill>
            </a:endParaRPr>
          </a:p>
        </p:txBody>
      </p:sp>
      <p:sp>
        <p:nvSpPr>
          <p:cNvPr id="72793" name="Line 138"/>
          <p:cNvSpPr>
            <a:spLocks noChangeShapeType="1"/>
          </p:cNvSpPr>
          <p:nvPr/>
        </p:nvSpPr>
        <p:spPr bwMode="auto">
          <a:xfrm>
            <a:off x="1570038" y="2757488"/>
            <a:ext cx="106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6" name="Line 43"/>
          <p:cNvSpPr>
            <a:spLocks noChangeShapeType="1"/>
          </p:cNvSpPr>
          <p:nvPr/>
        </p:nvSpPr>
        <p:spPr bwMode="auto">
          <a:xfrm flipH="1">
            <a:off x="5001578" y="3609394"/>
            <a:ext cx="6115" cy="353007"/>
          </a:xfrm>
          <a:prstGeom prst="line">
            <a:avLst/>
          </a:prstGeom>
          <a:noFill/>
          <a:ln w="76200">
            <a:solidFill>
              <a:srgbClr val="CFBDC8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" name="Line 88"/>
          <p:cNvSpPr>
            <a:spLocks noChangeShapeType="1"/>
          </p:cNvSpPr>
          <p:nvPr/>
        </p:nvSpPr>
        <p:spPr bwMode="auto">
          <a:xfrm flipH="1" flipV="1">
            <a:off x="5004930" y="3615469"/>
            <a:ext cx="6039" cy="37731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" name="Rectangle 125"/>
          <p:cNvSpPr>
            <a:spLocks noChangeArrowheads="1"/>
          </p:cNvSpPr>
          <p:nvPr/>
        </p:nvSpPr>
        <p:spPr bwMode="auto">
          <a:xfrm>
            <a:off x="4530109" y="3386468"/>
            <a:ext cx="645414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</a:rPr>
              <a:t>Br Logic</a:t>
            </a:r>
          </a:p>
        </p:txBody>
      </p:sp>
      <p:sp>
        <p:nvSpPr>
          <p:cNvPr id="137" name="Freeform 136"/>
          <p:cNvSpPr/>
          <p:nvPr/>
        </p:nvSpPr>
        <p:spPr bwMode="auto">
          <a:xfrm>
            <a:off x="840725" y="2745883"/>
            <a:ext cx="4677649" cy="500878"/>
          </a:xfrm>
          <a:custGeom>
            <a:avLst/>
            <a:gdLst>
              <a:gd name="connsiteX0" fmla="*/ 0 w 4677649"/>
              <a:gd name="connsiteY0" fmla="*/ 500878 h 500878"/>
              <a:gd name="connsiteX1" fmla="*/ 2039205 w 4677649"/>
              <a:gd name="connsiteY1" fmla="*/ 500878 h 500878"/>
              <a:gd name="connsiteX2" fmla="*/ 2048148 w 4677649"/>
              <a:gd name="connsiteY2" fmla="*/ 0 h 500878"/>
              <a:gd name="connsiteX3" fmla="*/ 4677649 w 4677649"/>
              <a:gd name="connsiteY3" fmla="*/ 17889 h 50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7649" h="500878">
                <a:moveTo>
                  <a:pt x="0" y="500878"/>
                </a:moveTo>
                <a:lnTo>
                  <a:pt x="2039205" y="500878"/>
                </a:lnTo>
                <a:lnTo>
                  <a:pt x="2048148" y="0"/>
                </a:lnTo>
                <a:lnTo>
                  <a:pt x="4677649" y="17889"/>
                </a:ln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2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225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25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2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45" grpId="0" animBg="1"/>
      <p:bldP spid="1225730" grpId="0" animBg="1"/>
      <p:bldP spid="1225731" grpId="0" animBg="1"/>
      <p:bldP spid="1225733" grpId="0" animBg="1"/>
      <p:bldP spid="1225734" grpId="0" animBg="1"/>
      <p:bldP spid="1225735" grpId="0" animBg="1"/>
      <p:bldP spid="1225736" grpId="0" animBg="1"/>
      <p:bldP spid="1225771" grpId="0" animBg="1"/>
      <p:bldP spid="14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Unconditional Jumps</a:t>
            </a:r>
          </a:p>
        </p:txBody>
      </p:sp>
      <p:sp>
        <p:nvSpPr>
          <p:cNvPr id="66" name="Content Placeholder 65"/>
          <p:cNvSpPr>
            <a:spLocks noGrp="1"/>
          </p:cNvSpPr>
          <p:nvPr>
            <p:ph idx="1"/>
          </p:nvPr>
        </p:nvSpPr>
        <p:spPr>
          <a:xfrm>
            <a:off x="457200" y="3276600"/>
            <a:ext cx="7683500" cy="2590800"/>
          </a:xfrm>
        </p:spPr>
        <p:txBody>
          <a:bodyPr/>
          <a:lstStyle/>
          <a:p>
            <a:r>
              <a:rPr lang="en-US" dirty="0"/>
              <a:t>25-bit immediate encodes jump target address as a signed offset from PC, in units of 16-bits (i.e., shift left by 1 then add to PC). (+/- 16MB)</a:t>
            </a:r>
          </a:p>
          <a:p>
            <a:r>
              <a:rPr lang="en-US" dirty="0"/>
              <a:t>JAL is a subroutine call that also saves return address (PC+4) in register x1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FD071-345F-074F-ACB4-FB27A4E13900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0662" name="Rectangle 3"/>
          <p:cNvSpPr>
            <a:spLocks noChangeArrowheads="1"/>
          </p:cNvSpPr>
          <p:nvPr/>
        </p:nvSpPr>
        <p:spPr bwMode="auto">
          <a:xfrm>
            <a:off x="76200" y="6402388"/>
            <a:ext cx="59324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7696200" y="819090"/>
            <a:ext cx="609600" cy="40011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/>
              <a:cs typeface="Verdana"/>
            </a:endParaRPr>
          </a:p>
        </p:txBody>
      </p:sp>
      <p:grpSp>
        <p:nvGrpSpPr>
          <p:cNvPr id="2" name="Group 88"/>
          <p:cNvGrpSpPr/>
          <p:nvPr/>
        </p:nvGrpSpPr>
        <p:grpSpPr>
          <a:xfrm>
            <a:off x="609600" y="1524000"/>
            <a:ext cx="7627501" cy="990600"/>
            <a:chOff x="457200" y="1143000"/>
            <a:chExt cx="7627501" cy="990600"/>
          </a:xfrm>
        </p:grpSpPr>
        <p:sp>
          <p:nvSpPr>
            <p:cNvPr id="63" name="TextBox 62"/>
            <p:cNvSpPr txBox="1"/>
            <p:nvPr/>
          </p:nvSpPr>
          <p:spPr>
            <a:xfrm>
              <a:off x="7467600" y="1219200"/>
              <a:ext cx="617101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</a:rPr>
                <a:t>J</a:t>
              </a:r>
            </a:p>
            <a:p>
              <a:r>
                <a:rPr lang="en-US" sz="2000" dirty="0">
                  <a:solidFill>
                    <a:srgbClr val="000000"/>
                  </a:solidFill>
                </a:rPr>
                <a:t>JAL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6019800" y="1143000"/>
              <a:ext cx="1219200" cy="990600"/>
              <a:chOff x="7086600" y="76200"/>
              <a:chExt cx="1219200" cy="990600"/>
            </a:xfrm>
          </p:grpSpPr>
          <p:sp>
            <p:nvSpPr>
              <p:cNvPr id="84" name="Rectangle 83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7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6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0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 err="1">
                    <a:solidFill>
                      <a:srgbClr val="000000"/>
                    </a:solidFill>
                    <a:latin typeface="Verdana"/>
                    <a:cs typeface="Verdana"/>
                  </a:rPr>
                  <a:t>opcode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  <p:grpSp>
          <p:nvGrpSpPr>
            <p:cNvPr id="4" name="Group 30"/>
            <p:cNvGrpSpPr/>
            <p:nvPr/>
          </p:nvGrpSpPr>
          <p:grpSpPr>
            <a:xfrm>
              <a:off x="457200" y="1143000"/>
              <a:ext cx="5562600" cy="990600"/>
              <a:chOff x="7086600" y="76200"/>
              <a:chExt cx="1219200" cy="990600"/>
            </a:xfrm>
          </p:grpSpPr>
          <p:sp>
            <p:nvSpPr>
              <p:cNvPr id="80" name="Rectangle 79"/>
              <p:cNvSpPr/>
              <p:nvPr/>
            </p:nvSpPr>
            <p:spPr bwMode="auto">
              <a:xfrm>
                <a:off x="7086600" y="76200"/>
                <a:ext cx="12192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b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25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 bwMode="auto">
              <a:xfrm>
                <a:off x="70866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solidFill>
                      <a:srgbClr val="000000"/>
                    </a:solidFill>
                    <a:latin typeface="Verdana"/>
                    <a:cs typeface="Verdana"/>
                  </a:rPr>
                  <a:t>31</a:t>
                </a:r>
                <a:endPara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 bwMode="auto">
              <a:xfrm>
                <a:off x="7696200" y="762000"/>
                <a:ext cx="609600" cy="3048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Verdana"/>
                    <a:cs typeface="Verdana"/>
                  </a:rPr>
                  <a:t>7</a:t>
                </a:r>
              </a:p>
            </p:txBody>
          </p:sp>
          <p:sp>
            <p:nvSpPr>
              <p:cNvPr id="83" name="Rectangle 82"/>
              <p:cNvSpPr/>
              <p:nvPr/>
            </p:nvSpPr>
            <p:spPr bwMode="auto">
              <a:xfrm>
                <a:off x="7086600" y="381000"/>
                <a:ext cx="1219200" cy="381000"/>
              </a:xfrm>
              <a:prstGeom prst="rect">
                <a:avLst/>
              </a:prstGeom>
              <a:solidFill>
                <a:schemeClr val="bg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solidFill>
                      <a:srgbClr val="000000"/>
                    </a:solidFill>
                    <a:latin typeface="Verdana"/>
                    <a:cs typeface="Verdana"/>
                  </a:rPr>
                  <a:t>Jump Offset[24:0]</a:t>
                </a:r>
                <a:endParaRPr kumimoji="0" lang="en-US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RISC-V Register Indirect Jumps</a:t>
            </a:r>
          </a:p>
        </p:txBody>
      </p:sp>
      <p:sp>
        <p:nvSpPr>
          <p:cNvPr id="66" name="Content Placeholder 65"/>
          <p:cNvSpPr>
            <a:spLocks noGrp="1"/>
          </p:cNvSpPr>
          <p:nvPr>
            <p:ph idx="1"/>
          </p:nvPr>
        </p:nvSpPr>
        <p:spPr>
          <a:xfrm>
            <a:off x="698500" y="2895600"/>
            <a:ext cx="7683500" cy="3225800"/>
          </a:xfrm>
        </p:spPr>
        <p:txBody>
          <a:bodyPr/>
          <a:lstStyle/>
          <a:p>
            <a:r>
              <a:rPr lang="en-US" dirty="0"/>
              <a:t>Jumps to target address given by adding 12-bit offset (</a:t>
            </a:r>
            <a:r>
              <a:rPr lang="en-US" i="1" dirty="0"/>
              <a:t>not </a:t>
            </a:r>
            <a:r>
              <a:rPr lang="en-US" dirty="0"/>
              <a:t>shifted by 1 bit) to register rs1</a:t>
            </a:r>
          </a:p>
          <a:p>
            <a:r>
              <a:rPr lang="en-US" dirty="0"/>
              <a:t>The return address (PC+4) is written to rd (can be </a:t>
            </a:r>
            <a:r>
              <a:rPr lang="en-US" b="1" dirty="0">
                <a:latin typeface="Courier New"/>
                <a:cs typeface="Courier New"/>
              </a:rPr>
              <a:t>x0</a:t>
            </a:r>
            <a:r>
              <a:rPr lang="en-US" dirty="0"/>
              <a:t> if value not needed)</a:t>
            </a:r>
          </a:p>
          <a:p>
            <a:r>
              <a:rPr lang="en-US" dirty="0"/>
              <a:t>The RDNPC instruction simply writes return address to register rd without jumping (used for dynamic linking)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FD071-345F-074F-ACB4-FB27A4E1390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0662" name="Rectangle 3"/>
          <p:cNvSpPr>
            <a:spLocks noChangeArrowheads="1"/>
          </p:cNvSpPr>
          <p:nvPr/>
        </p:nvSpPr>
        <p:spPr bwMode="auto">
          <a:xfrm>
            <a:off x="76200" y="6402388"/>
            <a:ext cx="5932488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Rectangle 27"/>
          <p:cNvSpPr/>
          <p:nvPr/>
        </p:nvSpPr>
        <p:spPr bwMode="auto">
          <a:xfrm>
            <a:off x="7696200" y="819090"/>
            <a:ext cx="609600" cy="400110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/>
              <a:cs typeface="Verdana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5924446" y="1295400"/>
            <a:ext cx="1219200" cy="990600"/>
            <a:chOff x="7086600" y="76200"/>
            <a:chExt cx="1219200" cy="990600"/>
          </a:xfrm>
        </p:grpSpPr>
        <p:sp>
          <p:nvSpPr>
            <p:cNvPr id="27" name="Rectangle 26"/>
            <p:cNvSpPr/>
            <p:nvPr/>
          </p:nvSpPr>
          <p:spPr bwMode="auto">
            <a:xfrm>
              <a:off x="7086600" y="76200"/>
              <a:ext cx="12192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latin typeface="Verdana"/>
                  <a:cs typeface="Verdana"/>
                </a:rPr>
                <a:t>7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70866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6</a:t>
              </a: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76962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0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7086600" y="381000"/>
              <a:ext cx="1219200" cy="381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 err="1">
                  <a:solidFill>
                    <a:srgbClr val="000000"/>
                  </a:solidFill>
                  <a:latin typeface="Verdana"/>
                  <a:cs typeface="Verdana"/>
                </a:rPr>
                <a:t>opcode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</p:grpSp>
      <p:grpSp>
        <p:nvGrpSpPr>
          <p:cNvPr id="3" name="Group 30"/>
          <p:cNvGrpSpPr/>
          <p:nvPr/>
        </p:nvGrpSpPr>
        <p:grpSpPr>
          <a:xfrm>
            <a:off x="4933846" y="1295400"/>
            <a:ext cx="990600" cy="990600"/>
            <a:chOff x="7086600" y="76200"/>
            <a:chExt cx="1219200" cy="990600"/>
          </a:xfrm>
        </p:grpSpPr>
        <p:sp>
          <p:nvSpPr>
            <p:cNvPr id="32" name="Rectangle 31"/>
            <p:cNvSpPr/>
            <p:nvPr/>
          </p:nvSpPr>
          <p:spPr bwMode="auto">
            <a:xfrm>
              <a:off x="7086600" y="76200"/>
              <a:ext cx="12192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latin typeface="Verdana"/>
                  <a:cs typeface="Verdana"/>
                </a:rPr>
                <a:t>3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70866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9</a:t>
              </a: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76962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7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7086600" y="381000"/>
              <a:ext cx="1219200" cy="381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000000"/>
                  </a:solidFill>
                  <a:latin typeface="Verdana"/>
                  <a:cs typeface="Verdana"/>
                </a:rPr>
                <a:t>func3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</p:grpSp>
      <p:grpSp>
        <p:nvGrpSpPr>
          <p:cNvPr id="4" name="Group 41"/>
          <p:cNvGrpSpPr/>
          <p:nvPr/>
        </p:nvGrpSpPr>
        <p:grpSpPr>
          <a:xfrm>
            <a:off x="2743200" y="1295400"/>
            <a:ext cx="2190646" cy="990600"/>
            <a:chOff x="7086600" y="76200"/>
            <a:chExt cx="1219200" cy="990600"/>
          </a:xfrm>
        </p:grpSpPr>
        <p:sp>
          <p:nvSpPr>
            <p:cNvPr id="43" name="Rectangle 42"/>
            <p:cNvSpPr/>
            <p:nvPr/>
          </p:nvSpPr>
          <p:spPr bwMode="auto">
            <a:xfrm>
              <a:off x="7086600" y="76200"/>
              <a:ext cx="12192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latin typeface="Verdana"/>
                  <a:cs typeface="Verdana"/>
                </a:rPr>
                <a:t>12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70866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21</a:t>
              </a: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76962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10</a:t>
              </a: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7086600" y="381000"/>
              <a:ext cx="1219200" cy="381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000000"/>
                  </a:solidFill>
                  <a:latin typeface="Verdana"/>
                  <a:cs typeface="Verdana"/>
                </a:rPr>
                <a:t>Imm[11:0]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</p:grpSp>
      <p:grpSp>
        <p:nvGrpSpPr>
          <p:cNvPr id="5" name="Group 51"/>
          <p:cNvGrpSpPr/>
          <p:nvPr/>
        </p:nvGrpSpPr>
        <p:grpSpPr>
          <a:xfrm>
            <a:off x="1752600" y="1295400"/>
            <a:ext cx="990600" cy="990600"/>
            <a:chOff x="7086600" y="76200"/>
            <a:chExt cx="1219200" cy="990600"/>
          </a:xfrm>
        </p:grpSpPr>
        <p:sp>
          <p:nvSpPr>
            <p:cNvPr id="53" name="Rectangle 52"/>
            <p:cNvSpPr/>
            <p:nvPr/>
          </p:nvSpPr>
          <p:spPr bwMode="auto">
            <a:xfrm>
              <a:off x="7086600" y="76200"/>
              <a:ext cx="12192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latin typeface="Verdana"/>
                  <a:cs typeface="Verdana"/>
                </a:rPr>
                <a:t>5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70866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26</a:t>
              </a: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76962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22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7086600" y="381000"/>
              <a:ext cx="1219200" cy="381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000000"/>
                  </a:solidFill>
                  <a:latin typeface="Verdana"/>
                  <a:cs typeface="Verdana"/>
                </a:rPr>
                <a:t>rs1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7315200" y="1295400"/>
            <a:ext cx="109662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JALR</a:t>
            </a:r>
          </a:p>
          <a:p>
            <a:r>
              <a:rPr lang="en-US" sz="2000" dirty="0">
                <a:solidFill>
                  <a:srgbClr val="000000"/>
                </a:solidFill>
              </a:rPr>
              <a:t>RDNPC</a:t>
            </a:r>
          </a:p>
        </p:txBody>
      </p:sp>
      <p:grpSp>
        <p:nvGrpSpPr>
          <p:cNvPr id="6" name="Group 51"/>
          <p:cNvGrpSpPr/>
          <p:nvPr/>
        </p:nvGrpSpPr>
        <p:grpSpPr>
          <a:xfrm>
            <a:off x="762000" y="1295400"/>
            <a:ext cx="990600" cy="990600"/>
            <a:chOff x="7086600" y="76200"/>
            <a:chExt cx="1219200" cy="990600"/>
          </a:xfrm>
        </p:grpSpPr>
        <p:sp>
          <p:nvSpPr>
            <p:cNvPr id="40" name="Rectangle 39"/>
            <p:cNvSpPr/>
            <p:nvPr/>
          </p:nvSpPr>
          <p:spPr bwMode="auto">
            <a:xfrm>
              <a:off x="7086600" y="76200"/>
              <a:ext cx="12192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solidFill>
                    <a:srgbClr val="000000"/>
                  </a:solidFill>
                  <a:latin typeface="Verdana"/>
                  <a:cs typeface="Verdana"/>
                </a:rPr>
                <a:t>5</a:t>
              </a:r>
              <a:endPara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70866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31</a:t>
              </a: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7696200" y="762000"/>
              <a:ext cx="609600" cy="3048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Verdana"/>
                  <a:cs typeface="Verdana"/>
                </a:rPr>
                <a:t>27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7086600" y="381000"/>
              <a:ext cx="1219200" cy="381000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rgbClr val="000000"/>
                  </a:solidFill>
                  <a:latin typeface="Verdana"/>
                  <a:cs typeface="Verdana"/>
                </a:rPr>
                <a:t>rd</a:t>
              </a: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/>
                <a:cs typeface="Verdana"/>
              </a:endParaRPr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500897"/>
            <a:ext cx="8912522" cy="63571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292975" cy="736600"/>
          </a:xfrm>
        </p:spPr>
        <p:txBody>
          <a:bodyPr/>
          <a:lstStyle/>
          <a:p>
            <a:r>
              <a:rPr lang="en-US" dirty="0"/>
              <a:t>Full RISCV1Stage </a:t>
            </a:r>
            <a:r>
              <a:rPr lang="en-US" dirty="0" err="1"/>
              <a:t>Datapath</a:t>
            </a:r>
            <a:r>
              <a:rPr lang="en-US" dirty="0"/>
              <a:t> (Lab1)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55E8C9-94CC-FC42-AFE8-1224D17E4F20}" type="slidenum">
              <a:rPr lang="en-US" smtClean="0"/>
              <a:pPr>
                <a:defRPr/>
              </a:pPr>
              <a:t>40</a:t>
            </a:fld>
            <a:endParaRPr lang="en-US" b="0">
              <a:solidFill>
                <a:srgbClr val="FBBA03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AFEC3AD-0076-F74A-9D6C-F4B18338DB22}" type="slidenum">
              <a:rPr lang="en-US"/>
              <a:pPr/>
              <a:t>41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/>
          <a:lstStyle/>
          <a:p>
            <a:r>
              <a:rPr lang="en-US"/>
              <a:t>Hardwired Control is pure Combinational Logic </a:t>
            </a:r>
          </a:p>
        </p:txBody>
      </p:sp>
      <p:sp>
        <p:nvSpPr>
          <p:cNvPr id="82950" name="Rectangle 3"/>
          <p:cNvSpPr>
            <a:spLocks noChangeArrowheads="1"/>
          </p:cNvSpPr>
          <p:nvPr/>
        </p:nvSpPr>
        <p:spPr bwMode="auto">
          <a:xfrm>
            <a:off x="3124200" y="1930400"/>
            <a:ext cx="2336800" cy="29845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combinational 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logic</a:t>
            </a:r>
          </a:p>
        </p:txBody>
      </p:sp>
      <p:sp>
        <p:nvSpPr>
          <p:cNvPr id="82951" name="Line 4"/>
          <p:cNvSpPr>
            <a:spLocks noChangeShapeType="1"/>
          </p:cNvSpPr>
          <p:nvPr/>
        </p:nvSpPr>
        <p:spPr bwMode="auto">
          <a:xfrm>
            <a:off x="2171700" y="29781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52" name="Line 5"/>
          <p:cNvSpPr>
            <a:spLocks noChangeShapeType="1"/>
          </p:cNvSpPr>
          <p:nvPr/>
        </p:nvSpPr>
        <p:spPr bwMode="auto">
          <a:xfrm>
            <a:off x="2159000" y="3625850"/>
            <a:ext cx="939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953" name="Rectangle 6"/>
          <p:cNvSpPr>
            <a:spLocks noChangeArrowheads="1"/>
          </p:cNvSpPr>
          <p:nvPr/>
        </p:nvSpPr>
        <p:spPr bwMode="auto">
          <a:xfrm>
            <a:off x="1109663" y="2778125"/>
            <a:ext cx="1079500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op code</a:t>
            </a:r>
          </a:p>
        </p:txBody>
      </p:sp>
      <p:sp>
        <p:nvSpPr>
          <p:cNvPr id="82954" name="Rectangle 7"/>
          <p:cNvSpPr>
            <a:spLocks noChangeArrowheads="1"/>
          </p:cNvSpPr>
          <p:nvPr/>
        </p:nvSpPr>
        <p:spPr bwMode="auto">
          <a:xfrm>
            <a:off x="1191889" y="3489325"/>
            <a:ext cx="946474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Equal?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480050" y="1895475"/>
            <a:ext cx="2390775" cy="2897489"/>
            <a:chOff x="3452" y="1194"/>
            <a:chExt cx="1506" cy="1667"/>
          </a:xfrm>
        </p:grpSpPr>
        <p:sp>
          <p:nvSpPr>
            <p:cNvPr id="82956" name="Line 9"/>
            <p:cNvSpPr>
              <a:spLocks noChangeShapeType="1"/>
            </p:cNvSpPr>
            <p:nvPr/>
          </p:nvSpPr>
          <p:spPr bwMode="auto">
            <a:xfrm>
              <a:off x="3460" y="1328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57" name="Line 10"/>
            <p:cNvSpPr>
              <a:spLocks noChangeShapeType="1"/>
            </p:cNvSpPr>
            <p:nvPr/>
          </p:nvSpPr>
          <p:spPr bwMode="auto">
            <a:xfrm>
              <a:off x="3460" y="1520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58" name="Line 11"/>
            <p:cNvSpPr>
              <a:spLocks noChangeShapeType="1"/>
            </p:cNvSpPr>
            <p:nvPr/>
          </p:nvSpPr>
          <p:spPr bwMode="auto">
            <a:xfrm>
              <a:off x="3460" y="1736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59" name="Line 12"/>
            <p:cNvSpPr>
              <a:spLocks noChangeShapeType="1"/>
            </p:cNvSpPr>
            <p:nvPr/>
          </p:nvSpPr>
          <p:spPr bwMode="auto">
            <a:xfrm>
              <a:off x="3452" y="1936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60" name="Line 13"/>
            <p:cNvSpPr>
              <a:spLocks noChangeShapeType="1"/>
            </p:cNvSpPr>
            <p:nvPr/>
          </p:nvSpPr>
          <p:spPr bwMode="auto">
            <a:xfrm>
              <a:off x="3460" y="2136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61" name="Line 14"/>
            <p:cNvSpPr>
              <a:spLocks noChangeShapeType="1"/>
            </p:cNvSpPr>
            <p:nvPr/>
          </p:nvSpPr>
          <p:spPr bwMode="auto">
            <a:xfrm>
              <a:off x="3460" y="2360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62" name="Rectangle 15"/>
            <p:cNvSpPr>
              <a:spLocks noChangeArrowheads="1"/>
            </p:cNvSpPr>
            <p:nvPr/>
          </p:nvSpPr>
          <p:spPr bwMode="auto">
            <a:xfrm>
              <a:off x="3959" y="1194"/>
              <a:ext cx="685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ImmSel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2963" name="Rectangle 16"/>
            <p:cNvSpPr>
              <a:spLocks noChangeArrowheads="1"/>
            </p:cNvSpPr>
            <p:nvPr/>
          </p:nvSpPr>
          <p:spPr bwMode="auto">
            <a:xfrm>
              <a:off x="3967" y="1402"/>
              <a:ext cx="639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  <a:latin typeface="Verdana" charset="0"/>
                </a:rPr>
                <a:t>Op2Sel</a:t>
              </a:r>
            </a:p>
          </p:txBody>
        </p:sp>
        <p:sp>
          <p:nvSpPr>
            <p:cNvPr id="82964" name="Rectangle 17"/>
            <p:cNvSpPr>
              <a:spLocks noChangeArrowheads="1"/>
            </p:cNvSpPr>
            <p:nvPr/>
          </p:nvSpPr>
          <p:spPr bwMode="auto">
            <a:xfrm>
              <a:off x="3975" y="1610"/>
              <a:ext cx="684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FuncSel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2965" name="Rectangle 18"/>
            <p:cNvSpPr>
              <a:spLocks noChangeArrowheads="1"/>
            </p:cNvSpPr>
            <p:nvPr/>
          </p:nvSpPr>
          <p:spPr bwMode="auto">
            <a:xfrm>
              <a:off x="3983" y="1818"/>
              <a:ext cx="847" cy="2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MemWrite</a:t>
              </a:r>
            </a:p>
          </p:txBody>
        </p:sp>
        <p:sp>
          <p:nvSpPr>
            <p:cNvPr id="82966" name="Rectangle 19"/>
            <p:cNvSpPr>
              <a:spLocks noChangeArrowheads="1"/>
            </p:cNvSpPr>
            <p:nvPr/>
          </p:nvSpPr>
          <p:spPr bwMode="auto">
            <a:xfrm>
              <a:off x="3991" y="2026"/>
              <a:ext cx="584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WBSel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2967" name="Rectangle 20"/>
            <p:cNvSpPr>
              <a:spLocks noChangeArrowheads="1"/>
            </p:cNvSpPr>
            <p:nvPr/>
          </p:nvSpPr>
          <p:spPr bwMode="auto">
            <a:xfrm>
              <a:off x="3999" y="2234"/>
              <a:ext cx="580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WASel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2968" name="Line 21"/>
            <p:cNvSpPr>
              <a:spLocks noChangeShapeType="1"/>
            </p:cNvSpPr>
            <p:nvPr/>
          </p:nvSpPr>
          <p:spPr bwMode="auto">
            <a:xfrm>
              <a:off x="3460" y="2568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69" name="Rectangle 22"/>
            <p:cNvSpPr>
              <a:spLocks noChangeArrowheads="1"/>
            </p:cNvSpPr>
            <p:nvPr/>
          </p:nvSpPr>
          <p:spPr bwMode="auto">
            <a:xfrm>
              <a:off x="3999" y="2442"/>
              <a:ext cx="959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RegWriteEn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  <p:sp>
          <p:nvSpPr>
            <p:cNvPr id="82970" name="Line 23"/>
            <p:cNvSpPr>
              <a:spLocks noChangeShapeType="1"/>
            </p:cNvSpPr>
            <p:nvPr/>
          </p:nvSpPr>
          <p:spPr bwMode="auto">
            <a:xfrm>
              <a:off x="3460" y="2776"/>
              <a:ext cx="464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71" name="Rectangle 24"/>
            <p:cNvSpPr>
              <a:spLocks noChangeArrowheads="1"/>
            </p:cNvSpPr>
            <p:nvPr/>
          </p:nvSpPr>
          <p:spPr bwMode="auto">
            <a:xfrm>
              <a:off x="3999" y="2650"/>
              <a:ext cx="530" cy="21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 err="1">
                  <a:solidFill>
                    <a:srgbClr val="56127A"/>
                  </a:solidFill>
                  <a:latin typeface="Verdana" charset="0"/>
                </a:rPr>
                <a:t>PCSel</a:t>
              </a:r>
              <a:endParaRPr lang="en-US" sz="1800" dirty="0">
                <a:solidFill>
                  <a:srgbClr val="56127A"/>
                </a:solidFill>
                <a:latin typeface="Verdana" charset="0"/>
              </a:endParaRPr>
            </a:p>
          </p:txBody>
        </p:sp>
      </p:grp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38E388F-B193-B643-8007-21F2490F29BF}" type="slidenum">
              <a:rPr lang="en-US"/>
              <a:pPr/>
              <a:t>42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84997" name="Rectangle 2"/>
          <p:cNvSpPr>
            <a:spLocks noChangeArrowheads="1"/>
          </p:cNvSpPr>
          <p:nvPr/>
        </p:nvSpPr>
        <p:spPr bwMode="auto">
          <a:xfrm>
            <a:off x="2984500" y="1435100"/>
            <a:ext cx="4089400" cy="2349500"/>
          </a:xfrm>
          <a:prstGeom prst="rect">
            <a:avLst/>
          </a:prstGeom>
          <a:noFill/>
          <a:ln w="25400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4998" name="Rectangle 3"/>
          <p:cNvSpPr>
            <a:spLocks noGrp="1" noChangeArrowheads="1"/>
          </p:cNvSpPr>
          <p:nvPr>
            <p:ph type="title"/>
          </p:nvPr>
        </p:nvSpPr>
        <p:spPr>
          <a:xfrm>
            <a:off x="241300" y="508000"/>
            <a:ext cx="8636000" cy="800100"/>
          </a:xfrm>
          <a:noFill/>
        </p:spPr>
        <p:txBody>
          <a:bodyPr lIns="90488" tIns="44450" rIns="90488" bIns="44450"/>
          <a:lstStyle/>
          <a:p>
            <a:r>
              <a:rPr lang="en-US"/>
              <a:t>ALU Control &amp; Immediate Extension</a:t>
            </a:r>
          </a:p>
        </p:txBody>
      </p:sp>
      <p:sp>
        <p:nvSpPr>
          <p:cNvPr id="84999" name="Line 4"/>
          <p:cNvSpPr>
            <a:spLocks noChangeShapeType="1"/>
          </p:cNvSpPr>
          <p:nvPr/>
        </p:nvSpPr>
        <p:spPr bwMode="auto">
          <a:xfrm>
            <a:off x="698500" y="19685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0" name="Rectangle 5"/>
          <p:cNvSpPr>
            <a:spLocks noChangeArrowheads="1"/>
          </p:cNvSpPr>
          <p:nvPr/>
        </p:nvSpPr>
        <p:spPr bwMode="auto">
          <a:xfrm>
            <a:off x="1660525" y="1639888"/>
            <a:ext cx="14414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1" name="Line 6"/>
          <p:cNvSpPr>
            <a:spLocks noChangeShapeType="1"/>
          </p:cNvSpPr>
          <p:nvPr/>
        </p:nvSpPr>
        <p:spPr bwMode="auto">
          <a:xfrm>
            <a:off x="698500" y="2425700"/>
            <a:ext cx="530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2" name="Rectangle 7"/>
          <p:cNvSpPr>
            <a:spLocks noChangeArrowheads="1"/>
          </p:cNvSpPr>
          <p:nvPr/>
        </p:nvSpPr>
        <p:spPr bwMode="auto">
          <a:xfrm>
            <a:off x="506413" y="2098675"/>
            <a:ext cx="2215168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Inst</a:t>
            </a:r>
            <a:r>
              <a:rPr lang="en-US" sz="1800" dirty="0">
                <a:solidFill>
                  <a:srgbClr val="56127A"/>
                </a:solidFill>
              </a:rPr>
              <a:t>&lt;6:0&gt; </a:t>
            </a:r>
            <a:r>
              <a:rPr lang="en-US" sz="1800" i="1" dirty="0">
                <a:solidFill>
                  <a:srgbClr val="56127A"/>
                </a:solidFill>
              </a:rPr>
              <a:t>(</a:t>
            </a:r>
            <a:r>
              <a:rPr lang="en-US" sz="1800" i="1" dirty="0" err="1">
                <a:solidFill>
                  <a:srgbClr val="56127A"/>
                </a:solidFill>
              </a:rPr>
              <a:t>Opcode</a:t>
            </a:r>
            <a:r>
              <a:rPr lang="en-US" sz="1800" i="1" dirty="0">
                <a:solidFill>
                  <a:srgbClr val="56127A"/>
                </a:solidFill>
              </a:rPr>
              <a:t>) </a:t>
            </a:r>
          </a:p>
        </p:txBody>
      </p:sp>
      <p:sp>
        <p:nvSpPr>
          <p:cNvPr id="85003" name="Freeform 8"/>
          <p:cNvSpPr>
            <a:spLocks/>
          </p:cNvSpPr>
          <p:nvPr/>
        </p:nvSpPr>
        <p:spPr bwMode="auto">
          <a:xfrm>
            <a:off x="6007100" y="1714500"/>
            <a:ext cx="687388" cy="1830388"/>
          </a:xfrm>
          <a:custGeom>
            <a:avLst/>
            <a:gdLst>
              <a:gd name="T0" fmla="*/ 0 w 433"/>
              <a:gd name="T1" fmla="*/ 0 h 1153"/>
              <a:gd name="T2" fmla="*/ 432 w 433"/>
              <a:gd name="T3" fmla="*/ 240 h 1153"/>
              <a:gd name="T4" fmla="*/ 432 w 433"/>
              <a:gd name="T5" fmla="*/ 912 h 1153"/>
              <a:gd name="T6" fmla="*/ 0 w 433"/>
              <a:gd name="T7" fmla="*/ 1152 h 1153"/>
              <a:gd name="T8" fmla="*/ 0 w 433"/>
              <a:gd name="T9" fmla="*/ 0 h 11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33"/>
              <a:gd name="T16" fmla="*/ 0 h 1153"/>
              <a:gd name="T17" fmla="*/ 433 w 433"/>
              <a:gd name="T18" fmla="*/ 1153 h 11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33" h="1153">
                <a:moveTo>
                  <a:pt x="0" y="0"/>
                </a:moveTo>
                <a:lnTo>
                  <a:pt x="432" y="240"/>
                </a:lnTo>
                <a:lnTo>
                  <a:pt x="432" y="912"/>
                </a:lnTo>
                <a:lnTo>
                  <a:pt x="0" y="1152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4" name="Rectangle 9"/>
          <p:cNvSpPr>
            <a:spLocks noChangeArrowheads="1"/>
          </p:cNvSpPr>
          <p:nvPr/>
        </p:nvSpPr>
        <p:spPr bwMode="auto">
          <a:xfrm>
            <a:off x="6540500" y="4459288"/>
            <a:ext cx="232410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5" name="Line 10"/>
          <p:cNvSpPr>
            <a:spLocks noChangeShapeType="1"/>
          </p:cNvSpPr>
          <p:nvPr/>
        </p:nvSpPr>
        <p:spPr bwMode="auto">
          <a:xfrm>
            <a:off x="6705600" y="2667000"/>
            <a:ext cx="134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6" name="Rectangle 11"/>
          <p:cNvSpPr>
            <a:spLocks noChangeArrowheads="1"/>
          </p:cNvSpPr>
          <p:nvPr/>
        </p:nvSpPr>
        <p:spPr bwMode="auto">
          <a:xfrm>
            <a:off x="2603500" y="4419600"/>
            <a:ext cx="34036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</a:rPr>
              <a:t>Decode Map</a:t>
            </a:r>
          </a:p>
        </p:txBody>
      </p:sp>
      <p:sp>
        <p:nvSpPr>
          <p:cNvPr id="85007" name="Rectangle 12"/>
          <p:cNvSpPr>
            <a:spLocks noChangeArrowheads="1"/>
          </p:cNvSpPr>
          <p:nvPr/>
        </p:nvSpPr>
        <p:spPr bwMode="auto">
          <a:xfrm>
            <a:off x="519113" y="1641475"/>
            <a:ext cx="2048243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Inst</a:t>
            </a:r>
            <a:r>
              <a:rPr lang="en-US" sz="1800" dirty="0">
                <a:solidFill>
                  <a:srgbClr val="56127A"/>
                </a:solidFill>
              </a:rPr>
              <a:t>&lt;16:7&gt;</a:t>
            </a:r>
            <a:r>
              <a:rPr lang="en-US" sz="1800" i="1" dirty="0">
                <a:solidFill>
                  <a:srgbClr val="56127A"/>
                </a:solidFill>
              </a:rPr>
              <a:t> (</a:t>
            </a:r>
            <a:r>
              <a:rPr lang="en-US" sz="1800" i="1" dirty="0" err="1">
                <a:solidFill>
                  <a:srgbClr val="56127A"/>
                </a:solidFill>
              </a:rPr>
              <a:t>Func</a:t>
            </a:r>
            <a:r>
              <a:rPr lang="en-US" sz="1800" i="1" dirty="0">
                <a:solidFill>
                  <a:srgbClr val="56127A"/>
                </a:solidFill>
              </a:rPr>
              <a:t>)</a:t>
            </a:r>
          </a:p>
        </p:txBody>
      </p:sp>
      <p:sp>
        <p:nvSpPr>
          <p:cNvPr id="85008" name="Freeform 13"/>
          <p:cNvSpPr>
            <a:spLocks/>
          </p:cNvSpPr>
          <p:nvPr/>
        </p:nvSpPr>
        <p:spPr bwMode="auto">
          <a:xfrm>
            <a:off x="2057400" y="2438400"/>
            <a:ext cx="534988" cy="2732088"/>
          </a:xfrm>
          <a:custGeom>
            <a:avLst/>
            <a:gdLst>
              <a:gd name="T0" fmla="*/ 0 w 337"/>
              <a:gd name="T1" fmla="*/ 0 h 1721"/>
              <a:gd name="T2" fmla="*/ 0 w 337"/>
              <a:gd name="T3" fmla="*/ 1720 h 1721"/>
              <a:gd name="T4" fmla="*/ 336 w 337"/>
              <a:gd name="T5" fmla="*/ 1720 h 1721"/>
              <a:gd name="T6" fmla="*/ 0 60000 65536"/>
              <a:gd name="T7" fmla="*/ 0 60000 65536"/>
              <a:gd name="T8" fmla="*/ 0 60000 65536"/>
              <a:gd name="T9" fmla="*/ 0 w 337"/>
              <a:gd name="T10" fmla="*/ 0 h 1721"/>
              <a:gd name="T11" fmla="*/ 337 w 337"/>
              <a:gd name="T12" fmla="*/ 1721 h 17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7" h="1721">
                <a:moveTo>
                  <a:pt x="0" y="0"/>
                </a:moveTo>
                <a:lnTo>
                  <a:pt x="0" y="1720"/>
                </a:lnTo>
                <a:lnTo>
                  <a:pt x="336" y="1720"/>
                </a:lnTo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09" name="Rectangle 14"/>
          <p:cNvSpPr>
            <a:spLocks noChangeArrowheads="1"/>
          </p:cNvSpPr>
          <p:nvPr/>
        </p:nvSpPr>
        <p:spPr bwMode="auto">
          <a:xfrm>
            <a:off x="7315368" y="2263775"/>
            <a:ext cx="901365" cy="3667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ALUop</a:t>
            </a:r>
            <a:endParaRPr lang="en-US" sz="1800" dirty="0">
              <a:solidFill>
                <a:srgbClr val="56127A"/>
              </a:solidFill>
            </a:endParaRPr>
          </a:p>
        </p:txBody>
      </p:sp>
      <p:sp>
        <p:nvSpPr>
          <p:cNvPr id="85010" name="Line 15"/>
          <p:cNvSpPr>
            <a:spLocks noChangeShapeType="1"/>
          </p:cNvSpPr>
          <p:nvPr/>
        </p:nvSpPr>
        <p:spPr bwMode="auto">
          <a:xfrm>
            <a:off x="5359400" y="2844800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11" name="Line 16"/>
          <p:cNvSpPr>
            <a:spLocks noChangeShapeType="1"/>
          </p:cNvSpPr>
          <p:nvPr/>
        </p:nvSpPr>
        <p:spPr bwMode="auto">
          <a:xfrm>
            <a:off x="5359400" y="3263900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12" name="Rectangle 17"/>
          <p:cNvSpPr>
            <a:spLocks noChangeArrowheads="1"/>
          </p:cNvSpPr>
          <p:nvPr/>
        </p:nvSpPr>
        <p:spPr bwMode="auto">
          <a:xfrm>
            <a:off x="4786313" y="3038475"/>
            <a:ext cx="4349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0?</a:t>
            </a:r>
          </a:p>
        </p:txBody>
      </p:sp>
      <p:sp>
        <p:nvSpPr>
          <p:cNvPr id="85013" name="Rectangle 18"/>
          <p:cNvSpPr>
            <a:spLocks noChangeArrowheads="1"/>
          </p:cNvSpPr>
          <p:nvPr/>
        </p:nvSpPr>
        <p:spPr bwMode="auto">
          <a:xfrm>
            <a:off x="4849813" y="2632075"/>
            <a:ext cx="31432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+</a:t>
            </a:r>
          </a:p>
        </p:txBody>
      </p:sp>
      <p:sp>
        <p:nvSpPr>
          <p:cNvPr id="85014" name="Rectangle 19"/>
          <p:cNvSpPr>
            <a:spLocks noChangeArrowheads="1"/>
          </p:cNvSpPr>
          <p:nvPr/>
        </p:nvSpPr>
        <p:spPr bwMode="auto">
          <a:xfrm>
            <a:off x="6577013" y="3927475"/>
            <a:ext cx="2062202" cy="643766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FuncSel</a:t>
            </a:r>
            <a:endParaRPr lang="en-US" sz="1800" dirty="0">
              <a:solidFill>
                <a:srgbClr val="56127A"/>
              </a:solidFill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( </a:t>
            </a:r>
            <a:r>
              <a:rPr lang="en-US" sz="1800" dirty="0" err="1">
                <a:solidFill>
                  <a:srgbClr val="56127A"/>
                </a:solidFill>
              </a:rPr>
              <a:t>Func</a:t>
            </a:r>
            <a:r>
              <a:rPr lang="en-US" sz="1800" dirty="0">
                <a:solidFill>
                  <a:srgbClr val="56127A"/>
                </a:solidFill>
              </a:rPr>
              <a:t>, Op, +, 0? )</a:t>
            </a:r>
          </a:p>
        </p:txBody>
      </p:sp>
      <p:sp>
        <p:nvSpPr>
          <p:cNvPr id="85015" name="Line 20"/>
          <p:cNvSpPr>
            <a:spLocks noChangeShapeType="1"/>
          </p:cNvSpPr>
          <p:nvPr/>
        </p:nvSpPr>
        <p:spPr bwMode="auto">
          <a:xfrm>
            <a:off x="6007100" y="5549900"/>
            <a:ext cx="24130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016" name="Rectangle 21"/>
          <p:cNvSpPr>
            <a:spLocks noChangeArrowheads="1"/>
          </p:cNvSpPr>
          <p:nvPr/>
        </p:nvSpPr>
        <p:spPr bwMode="auto">
          <a:xfrm>
            <a:off x="6589713" y="5591175"/>
            <a:ext cx="2192871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ImmSel</a:t>
            </a:r>
            <a:endParaRPr lang="en-US" sz="1800" dirty="0">
              <a:solidFill>
                <a:srgbClr val="56127A"/>
              </a:solidFill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( IType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  <a:r>
              <a:rPr lang="en-US" sz="1800" dirty="0">
                <a:solidFill>
                  <a:srgbClr val="56127A"/>
                </a:solidFill>
              </a:rPr>
              <a:t>, BsType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  <a:r>
              <a:rPr lang="en-US" sz="1800" dirty="0">
                <a:solidFill>
                  <a:srgbClr val="56127A"/>
                </a:solidFill>
              </a:rPr>
              <a:t>,</a:t>
            </a:r>
            <a:endParaRPr lang="en-US" sz="1800" baseline="-25000" dirty="0">
              <a:solidFill>
                <a:srgbClr val="56127A"/>
              </a:solidFill>
            </a:endParaRPr>
          </a:p>
          <a:p>
            <a:pPr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  BrType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  <a:r>
              <a:rPr lang="en-US" sz="1800" dirty="0">
                <a:solidFill>
                  <a:srgbClr val="56127A"/>
                </a:solidFill>
              </a:rPr>
              <a:t>)</a:t>
            </a:r>
          </a:p>
        </p:txBody>
      </p:sp>
      <p:sp>
        <p:nvSpPr>
          <p:cNvPr id="85017" name="Freeform 22"/>
          <p:cNvSpPr>
            <a:spLocks/>
          </p:cNvSpPr>
          <p:nvPr/>
        </p:nvSpPr>
        <p:spPr bwMode="auto">
          <a:xfrm>
            <a:off x="6007100" y="3343275"/>
            <a:ext cx="368300" cy="1828800"/>
          </a:xfrm>
          <a:custGeom>
            <a:avLst/>
            <a:gdLst>
              <a:gd name="T0" fmla="*/ 0 w 232"/>
              <a:gd name="T1" fmla="*/ 1152 h 1152"/>
              <a:gd name="T2" fmla="*/ 232 w 232"/>
              <a:gd name="T3" fmla="*/ 1152 h 1152"/>
              <a:gd name="T4" fmla="*/ 232 w 232"/>
              <a:gd name="T5" fmla="*/ 0 h 1152"/>
              <a:gd name="T6" fmla="*/ 0 60000 65536"/>
              <a:gd name="T7" fmla="*/ 0 60000 65536"/>
              <a:gd name="T8" fmla="*/ 0 60000 65536"/>
              <a:gd name="T9" fmla="*/ 0 w 232"/>
              <a:gd name="T10" fmla="*/ 0 h 1152"/>
              <a:gd name="T11" fmla="*/ 232 w 232"/>
              <a:gd name="T12" fmla="*/ 1152 h 11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2" h="1152">
                <a:moveTo>
                  <a:pt x="0" y="1152"/>
                </a:moveTo>
                <a:lnTo>
                  <a:pt x="232" y="1152"/>
                </a:lnTo>
                <a:lnTo>
                  <a:pt x="232" y="0"/>
                </a:lnTo>
              </a:path>
            </a:pathLst>
          </a:cu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1E356-6445-654E-AB2D-4426D4767952}" type="slidenum">
              <a:rPr lang="en-US"/>
              <a:pPr/>
              <a:t>43</a:t>
            </a:fld>
            <a:endParaRPr lang="en-US" b="0">
              <a:solidFill>
                <a:srgbClr val="FBBA03"/>
              </a:solidFill>
            </a:endParaRPr>
          </a:p>
        </p:txBody>
      </p:sp>
      <p:graphicFrame>
        <p:nvGraphicFramePr>
          <p:cNvPr id="123392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875434"/>
              </p:ext>
            </p:extLst>
          </p:nvPr>
        </p:nvGraphicFramePr>
        <p:xfrm>
          <a:off x="533400" y="1320800"/>
          <a:ext cx="8280400" cy="3430588"/>
        </p:xfrm>
        <a:graphic>
          <a:graphicData uri="http://schemas.openxmlformats.org/drawingml/2006/table">
            <a:tbl>
              <a:tblPr/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6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ImmSel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Op2Sel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FuncSel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MemWr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RFWen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PCSel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r>
                        <a:rPr kumimoji="0" lang="en-US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r>
                        <a:rPr kumimoji="0" lang="en-US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7177" name="Rectangle 134"/>
          <p:cNvSpPr>
            <a:spLocks noGrp="1" noChangeArrowheads="1"/>
          </p:cNvSpPr>
          <p:nvPr>
            <p:ph type="title"/>
          </p:nvPr>
        </p:nvSpPr>
        <p:spPr>
          <a:xfrm>
            <a:off x="342900" y="482600"/>
            <a:ext cx="8153400" cy="666750"/>
          </a:xfrm>
          <a:noFill/>
        </p:spPr>
        <p:txBody>
          <a:bodyPr lIns="90488" tIns="44450" rIns="90488" bIns="44450"/>
          <a:lstStyle/>
          <a:p>
            <a:r>
              <a:rPr lang="en-US" dirty="0"/>
              <a:t>Hardwired Control Table</a:t>
            </a:r>
            <a:endParaRPr lang="en-US" sz="2000" i="1" dirty="0"/>
          </a:p>
        </p:txBody>
      </p:sp>
      <p:sp>
        <p:nvSpPr>
          <p:cNvPr id="87178" name="Rectangle 135"/>
          <p:cNvSpPr>
            <a:spLocks noChangeArrowheads="1"/>
          </p:cNvSpPr>
          <p:nvPr/>
        </p:nvSpPr>
        <p:spPr bwMode="auto">
          <a:xfrm>
            <a:off x="685800" y="5915025"/>
            <a:ext cx="5967868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solidFill>
                  <a:schemeClr val="bg2"/>
                </a:solidFill>
              </a:rPr>
              <a:t>Op2Sel= </a:t>
            </a:r>
            <a:r>
              <a:rPr lang="en-US" sz="1800" dirty="0" err="1">
                <a:solidFill>
                  <a:schemeClr val="bg2"/>
                </a:solidFill>
              </a:rPr>
              <a:t>Reg</a:t>
            </a:r>
            <a:r>
              <a:rPr lang="en-US" sz="1800" dirty="0">
                <a:solidFill>
                  <a:schemeClr val="bg2"/>
                </a:solidFill>
              </a:rPr>
              <a:t> / </a:t>
            </a:r>
            <a:r>
              <a:rPr lang="en-US" sz="1800" dirty="0" err="1">
                <a:solidFill>
                  <a:schemeClr val="bg2"/>
                </a:solidFill>
              </a:rPr>
              <a:t>Imm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 err="1">
                <a:solidFill>
                  <a:schemeClr val="bg2"/>
                </a:solidFill>
              </a:rPr>
              <a:t>WBSel</a:t>
            </a:r>
            <a:r>
              <a:rPr lang="en-US" sz="1800" dirty="0">
                <a:solidFill>
                  <a:schemeClr val="bg2"/>
                </a:solidFill>
              </a:rPr>
              <a:t> = ALU / </a:t>
            </a:r>
            <a:r>
              <a:rPr lang="en-US" sz="1800" dirty="0" err="1">
                <a:solidFill>
                  <a:schemeClr val="bg2"/>
                </a:solidFill>
              </a:rPr>
              <a:t>Mem</a:t>
            </a:r>
            <a:r>
              <a:rPr lang="en-US" sz="1800" dirty="0">
                <a:solidFill>
                  <a:schemeClr val="bg2"/>
                </a:solidFill>
              </a:rPr>
              <a:t> / PC    </a:t>
            </a:r>
          </a:p>
          <a:p>
            <a:pPr>
              <a:spcBef>
                <a:spcPct val="0"/>
              </a:spcBef>
            </a:pPr>
            <a:r>
              <a:rPr lang="en-US" sz="1800" dirty="0" err="1">
                <a:solidFill>
                  <a:schemeClr val="bg2"/>
                </a:solidFill>
              </a:rPr>
              <a:t>WASel</a:t>
            </a:r>
            <a:r>
              <a:rPr lang="en-US" sz="1800" dirty="0">
                <a:solidFill>
                  <a:schemeClr val="bg2"/>
                </a:solidFill>
              </a:rPr>
              <a:t> = </a:t>
            </a:r>
            <a:r>
              <a:rPr lang="en-US" sz="1800" dirty="0" err="1">
                <a:solidFill>
                  <a:schemeClr val="bg2"/>
                </a:solidFill>
              </a:rPr>
              <a:t>rd</a:t>
            </a:r>
            <a:r>
              <a:rPr lang="en-US" sz="1800" dirty="0">
                <a:solidFill>
                  <a:schemeClr val="bg2"/>
                </a:solidFill>
              </a:rPr>
              <a:t> / X1	  	</a:t>
            </a:r>
            <a:r>
              <a:rPr lang="en-US" sz="1800" dirty="0" err="1">
                <a:solidFill>
                  <a:schemeClr val="bg2"/>
                </a:solidFill>
              </a:rPr>
              <a:t>PCSel</a:t>
            </a:r>
            <a:r>
              <a:rPr lang="en-US" sz="1800" dirty="0">
                <a:solidFill>
                  <a:schemeClr val="bg2"/>
                </a:solidFill>
              </a:rPr>
              <a:t> = pc+4 / </a:t>
            </a:r>
            <a:r>
              <a:rPr lang="en-US" sz="1800" dirty="0" err="1">
                <a:solidFill>
                  <a:schemeClr val="bg2"/>
                </a:solidFill>
              </a:rPr>
              <a:t>br</a:t>
            </a:r>
            <a:r>
              <a:rPr lang="en-US" sz="1800" dirty="0">
                <a:solidFill>
                  <a:schemeClr val="bg2"/>
                </a:solidFill>
              </a:rPr>
              <a:t> / rind / jabs	</a:t>
            </a:r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1943100" y="4429125"/>
            <a:ext cx="6607175" cy="371475"/>
            <a:chOff x="1224" y="3176"/>
            <a:chExt cx="4162" cy="234"/>
          </a:xfrm>
        </p:grpSpPr>
        <p:grpSp>
          <p:nvGrpSpPr>
            <p:cNvPr id="3" name="Group 137"/>
            <p:cNvGrpSpPr>
              <a:grpSpLocks/>
            </p:cNvGrpSpPr>
            <p:nvPr/>
          </p:nvGrpSpPr>
          <p:grpSpPr bwMode="auto">
            <a:xfrm>
              <a:off x="1224" y="3176"/>
              <a:ext cx="1764" cy="231"/>
              <a:chOff x="1248" y="4032"/>
              <a:chExt cx="1764" cy="277"/>
            </a:xfrm>
          </p:grpSpPr>
          <p:sp>
            <p:nvSpPr>
              <p:cNvPr id="87275" name="Text Box 138"/>
              <p:cNvSpPr txBox="1">
                <a:spLocks noChangeArrowheads="1"/>
              </p:cNvSpPr>
              <p:nvPr/>
            </p:nvSpPr>
            <p:spPr bwMode="auto">
              <a:xfrm>
                <a:off x="1248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6" name="Text Box 139"/>
              <p:cNvSpPr txBox="1">
                <a:spLocks noChangeArrowheads="1"/>
              </p:cNvSpPr>
              <p:nvPr/>
            </p:nvSpPr>
            <p:spPr bwMode="auto">
              <a:xfrm>
                <a:off x="1728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7" name="Text Box 140"/>
              <p:cNvSpPr txBox="1">
                <a:spLocks noChangeArrowheads="1"/>
              </p:cNvSpPr>
              <p:nvPr/>
            </p:nvSpPr>
            <p:spPr bwMode="auto">
              <a:xfrm>
                <a:off x="2256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8" name="Text Box 141"/>
              <p:cNvSpPr txBox="1">
                <a:spLocks noChangeArrowheads="1"/>
              </p:cNvSpPr>
              <p:nvPr/>
            </p:nvSpPr>
            <p:spPr bwMode="auto">
              <a:xfrm>
                <a:off x="2736" y="4032"/>
                <a:ext cx="276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no</a:t>
                </a:r>
              </a:p>
            </p:txBody>
          </p:sp>
        </p:grpSp>
        <p:sp>
          <p:nvSpPr>
            <p:cNvPr id="87271" name="Text Box 142"/>
            <p:cNvSpPr txBox="1">
              <a:spLocks noChangeArrowheads="1"/>
            </p:cNvSpPr>
            <p:nvPr/>
          </p:nvSpPr>
          <p:spPr bwMode="auto">
            <a:xfrm>
              <a:off x="3308" y="3176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72" name="Text Box 143"/>
            <p:cNvSpPr txBox="1">
              <a:spLocks noChangeArrowheads="1"/>
            </p:cNvSpPr>
            <p:nvPr/>
          </p:nvSpPr>
          <p:spPr bwMode="auto">
            <a:xfrm>
              <a:off x="5030" y="3176"/>
              <a:ext cx="35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rind</a:t>
              </a:r>
            </a:p>
          </p:txBody>
        </p:sp>
        <p:sp>
          <p:nvSpPr>
            <p:cNvPr id="87273" name="Text Box 144"/>
            <p:cNvSpPr txBox="1">
              <a:spLocks noChangeArrowheads="1"/>
            </p:cNvSpPr>
            <p:nvPr/>
          </p:nvSpPr>
          <p:spPr bwMode="auto">
            <a:xfrm>
              <a:off x="3852" y="3176"/>
              <a:ext cx="31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</a:t>
              </a:r>
            </a:p>
          </p:txBody>
        </p:sp>
        <p:sp>
          <p:nvSpPr>
            <p:cNvPr id="87274" name="Text Box 145"/>
            <p:cNvSpPr txBox="1">
              <a:spLocks noChangeArrowheads="1"/>
            </p:cNvSpPr>
            <p:nvPr/>
          </p:nvSpPr>
          <p:spPr bwMode="auto">
            <a:xfrm>
              <a:off x="4458" y="3177"/>
              <a:ext cx="246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</a:rPr>
                <a:t>rd</a:t>
              </a:r>
            </a:p>
          </p:txBody>
        </p:sp>
      </p:grpSp>
      <p:sp>
        <p:nvSpPr>
          <p:cNvPr id="1234076" name="Text Box 156"/>
          <p:cNvSpPr txBox="1">
            <a:spLocks noChangeArrowheads="1"/>
          </p:cNvSpPr>
          <p:nvPr/>
        </p:nvSpPr>
        <p:spPr bwMode="auto">
          <a:xfrm>
            <a:off x="7972425" y="4111625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jabs</a:t>
            </a:r>
          </a:p>
        </p:txBody>
      </p:sp>
      <p:grpSp>
        <p:nvGrpSpPr>
          <p:cNvPr id="4" name="Group 157"/>
          <p:cNvGrpSpPr>
            <a:grpSpLocks/>
          </p:cNvGrpSpPr>
          <p:nvPr/>
        </p:nvGrpSpPr>
        <p:grpSpPr bwMode="auto">
          <a:xfrm>
            <a:off x="1928813" y="4048125"/>
            <a:ext cx="2828925" cy="393700"/>
            <a:chOff x="1215" y="2744"/>
            <a:chExt cx="1782" cy="248"/>
          </a:xfrm>
        </p:grpSpPr>
        <p:sp>
          <p:nvSpPr>
            <p:cNvPr id="87259" name="Text Box 158"/>
            <p:cNvSpPr txBox="1">
              <a:spLocks noChangeArrowheads="1"/>
            </p:cNvSpPr>
            <p:nvPr/>
          </p:nvSpPr>
          <p:spPr bwMode="auto">
            <a:xfrm>
              <a:off x="1215" y="274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0" name="Text Box 159"/>
            <p:cNvSpPr txBox="1">
              <a:spLocks noChangeArrowheads="1"/>
            </p:cNvSpPr>
            <p:nvPr/>
          </p:nvSpPr>
          <p:spPr bwMode="auto">
            <a:xfrm>
              <a:off x="1736" y="274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1" name="Text Box 160"/>
            <p:cNvSpPr txBox="1">
              <a:spLocks noChangeArrowheads="1"/>
            </p:cNvSpPr>
            <p:nvPr/>
          </p:nvSpPr>
          <p:spPr bwMode="auto">
            <a:xfrm>
              <a:off x="2244" y="276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2" name="Text Box 161"/>
            <p:cNvSpPr txBox="1">
              <a:spLocks noChangeArrowheads="1"/>
            </p:cNvSpPr>
            <p:nvPr/>
          </p:nvSpPr>
          <p:spPr bwMode="auto">
            <a:xfrm>
              <a:off x="2721" y="274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</p:grpSp>
      <p:sp>
        <p:nvSpPr>
          <p:cNvPr id="1234082" name="Text Box 162"/>
          <p:cNvSpPr txBox="1">
            <a:spLocks noChangeArrowheads="1"/>
          </p:cNvSpPr>
          <p:nvPr/>
        </p:nvSpPr>
        <p:spPr bwMode="auto">
          <a:xfrm>
            <a:off x="5257800" y="4111625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083" name="Text Box 163"/>
          <p:cNvSpPr txBox="1">
            <a:spLocks noChangeArrowheads="1"/>
          </p:cNvSpPr>
          <p:nvPr/>
        </p:nvSpPr>
        <p:spPr bwMode="auto">
          <a:xfrm>
            <a:off x="6121400" y="4111625"/>
            <a:ext cx="501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</a:t>
            </a:r>
          </a:p>
        </p:txBody>
      </p:sp>
      <p:sp>
        <p:nvSpPr>
          <p:cNvPr id="1234084" name="Text Box 164"/>
          <p:cNvSpPr txBox="1">
            <a:spLocks noChangeArrowheads="1"/>
          </p:cNvSpPr>
          <p:nvPr/>
        </p:nvSpPr>
        <p:spPr bwMode="auto">
          <a:xfrm>
            <a:off x="7083143" y="4111625"/>
            <a:ext cx="4670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X1 </a:t>
            </a:r>
          </a:p>
        </p:txBody>
      </p:sp>
      <p:sp>
        <p:nvSpPr>
          <p:cNvPr id="1234085" name="Text Box 165"/>
          <p:cNvSpPr txBox="1">
            <a:spLocks noChangeArrowheads="1"/>
          </p:cNvSpPr>
          <p:nvPr/>
        </p:nvSpPr>
        <p:spPr bwMode="auto">
          <a:xfrm>
            <a:off x="7966075" y="3714750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jabs</a:t>
            </a:r>
          </a:p>
        </p:txBody>
      </p:sp>
      <p:grpSp>
        <p:nvGrpSpPr>
          <p:cNvPr id="5" name="Group 166"/>
          <p:cNvGrpSpPr>
            <a:grpSpLocks/>
          </p:cNvGrpSpPr>
          <p:nvPr/>
        </p:nvGrpSpPr>
        <p:grpSpPr bwMode="auto">
          <a:xfrm>
            <a:off x="1928813" y="3708400"/>
            <a:ext cx="1906587" cy="392113"/>
            <a:chOff x="1215" y="2530"/>
            <a:chExt cx="1201" cy="247"/>
          </a:xfrm>
        </p:grpSpPr>
        <p:sp>
          <p:nvSpPr>
            <p:cNvPr id="87256" name="Text Box 167"/>
            <p:cNvSpPr txBox="1">
              <a:spLocks noChangeArrowheads="1"/>
            </p:cNvSpPr>
            <p:nvPr/>
          </p:nvSpPr>
          <p:spPr bwMode="auto">
            <a:xfrm>
              <a:off x="1215" y="2530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7" name="Text Box 168"/>
            <p:cNvSpPr txBox="1">
              <a:spLocks noChangeArrowheads="1"/>
            </p:cNvSpPr>
            <p:nvPr/>
          </p:nvSpPr>
          <p:spPr bwMode="auto">
            <a:xfrm>
              <a:off x="1736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8" name="Text Box 169"/>
            <p:cNvSpPr txBox="1">
              <a:spLocks noChangeArrowheads="1"/>
            </p:cNvSpPr>
            <p:nvPr/>
          </p:nvSpPr>
          <p:spPr bwMode="auto">
            <a:xfrm>
              <a:off x="2244" y="2546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grpSp>
        <p:nvGrpSpPr>
          <p:cNvPr id="6" name="Group 170"/>
          <p:cNvGrpSpPr>
            <a:grpSpLocks/>
          </p:cNvGrpSpPr>
          <p:nvPr/>
        </p:nvGrpSpPr>
        <p:grpSpPr bwMode="auto">
          <a:xfrm>
            <a:off x="4319588" y="3714750"/>
            <a:ext cx="3059112" cy="366713"/>
            <a:chOff x="2721" y="2534"/>
            <a:chExt cx="1927" cy="231"/>
          </a:xfrm>
        </p:grpSpPr>
        <p:sp>
          <p:nvSpPr>
            <p:cNvPr id="87252" name="Text Box 171"/>
            <p:cNvSpPr txBox="1">
              <a:spLocks noChangeArrowheads="1"/>
            </p:cNvSpPr>
            <p:nvPr/>
          </p:nvSpPr>
          <p:spPr bwMode="auto">
            <a:xfrm>
              <a:off x="2721" y="253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3" name="Text Box 172"/>
            <p:cNvSpPr txBox="1">
              <a:spLocks noChangeArrowheads="1"/>
            </p:cNvSpPr>
            <p:nvPr/>
          </p:nvSpPr>
          <p:spPr bwMode="auto">
            <a:xfrm>
              <a:off x="3340" y="253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4" name="Text Box 173"/>
            <p:cNvSpPr txBox="1">
              <a:spLocks noChangeArrowheads="1"/>
            </p:cNvSpPr>
            <p:nvPr/>
          </p:nvSpPr>
          <p:spPr bwMode="auto">
            <a:xfrm>
              <a:off x="3924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5" name="Text Box 174"/>
            <p:cNvSpPr txBox="1">
              <a:spLocks noChangeArrowheads="1"/>
            </p:cNvSpPr>
            <p:nvPr/>
          </p:nvSpPr>
          <p:spPr bwMode="auto">
            <a:xfrm>
              <a:off x="4476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095" name="Text Box 175"/>
          <p:cNvSpPr txBox="1">
            <a:spLocks noChangeArrowheads="1"/>
          </p:cNvSpPr>
          <p:nvPr/>
        </p:nvSpPr>
        <p:spPr bwMode="auto">
          <a:xfrm>
            <a:off x="7924800" y="3425825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grpSp>
        <p:nvGrpSpPr>
          <p:cNvPr id="7" name="Group 176"/>
          <p:cNvGrpSpPr>
            <a:grpSpLocks/>
          </p:cNvGrpSpPr>
          <p:nvPr/>
        </p:nvGrpSpPr>
        <p:grpSpPr bwMode="auto">
          <a:xfrm>
            <a:off x="1541464" y="3425828"/>
            <a:ext cx="5856289" cy="369361"/>
            <a:chOff x="995" y="2976"/>
            <a:chExt cx="3689" cy="279"/>
          </a:xfrm>
        </p:grpSpPr>
        <p:sp>
          <p:nvSpPr>
            <p:cNvPr id="87245" name="Text Box 177"/>
            <p:cNvSpPr txBox="1">
              <a:spLocks noChangeArrowheads="1"/>
            </p:cNvSpPr>
            <p:nvPr/>
          </p:nvSpPr>
          <p:spPr bwMode="auto">
            <a:xfrm>
              <a:off x="995" y="2976"/>
              <a:ext cx="622" cy="25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dirty="0">
                  <a:solidFill>
                    <a:srgbClr val="56127A"/>
                  </a:solidFill>
                </a:rPr>
                <a:t>BrType</a:t>
              </a:r>
              <a:r>
                <a:rPr lang="en-US" baseline="-25000" dirty="0">
                  <a:solidFill>
                    <a:srgbClr val="56127A"/>
                  </a:solidFill>
                </a:rPr>
                <a:t>12</a:t>
              </a:r>
              <a:endParaRPr lang="en-US" dirty="0">
                <a:solidFill>
                  <a:srgbClr val="56127A"/>
                </a:solidFill>
              </a:endParaRPr>
            </a:p>
          </p:txBody>
        </p:sp>
        <p:sp>
          <p:nvSpPr>
            <p:cNvPr id="87246" name="Text Box 178"/>
            <p:cNvSpPr txBox="1">
              <a:spLocks noChangeArrowheads="1"/>
            </p:cNvSpPr>
            <p:nvPr/>
          </p:nvSpPr>
          <p:spPr bwMode="auto">
            <a:xfrm>
              <a:off x="1728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7" name="Text Box 179"/>
            <p:cNvSpPr txBox="1">
              <a:spLocks noChangeArrowheads="1"/>
            </p:cNvSpPr>
            <p:nvPr/>
          </p:nvSpPr>
          <p:spPr bwMode="auto">
            <a:xfrm>
              <a:off x="2283" y="2976"/>
              <a:ext cx="173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8" name="Text Box 180"/>
            <p:cNvSpPr txBox="1">
              <a:spLocks noChangeArrowheads="1"/>
            </p:cNvSpPr>
            <p:nvPr/>
          </p:nvSpPr>
          <p:spPr bwMode="auto">
            <a:xfrm>
              <a:off x="2768" y="2976"/>
              <a:ext cx="276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9" name="Text Box 181"/>
            <p:cNvSpPr txBox="1">
              <a:spLocks noChangeArrowheads="1"/>
            </p:cNvSpPr>
            <p:nvPr/>
          </p:nvSpPr>
          <p:spPr bwMode="auto">
            <a:xfrm>
              <a:off x="3344" y="2976"/>
              <a:ext cx="276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0" name="Text Box 182"/>
            <p:cNvSpPr txBox="1">
              <a:spLocks noChangeArrowheads="1"/>
            </p:cNvSpPr>
            <p:nvPr/>
          </p:nvSpPr>
          <p:spPr bwMode="auto">
            <a:xfrm>
              <a:off x="3984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1" name="Text Box 183"/>
            <p:cNvSpPr txBox="1">
              <a:spLocks noChangeArrowheads="1"/>
            </p:cNvSpPr>
            <p:nvPr/>
          </p:nvSpPr>
          <p:spPr bwMode="auto">
            <a:xfrm>
              <a:off x="4512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104" name="Text Box 184"/>
          <p:cNvSpPr txBox="1">
            <a:spLocks noChangeArrowheads="1"/>
          </p:cNvSpPr>
          <p:nvPr/>
        </p:nvSpPr>
        <p:spPr bwMode="auto">
          <a:xfrm>
            <a:off x="8074025" y="3059113"/>
            <a:ext cx="3873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br</a:t>
            </a:r>
          </a:p>
        </p:txBody>
      </p:sp>
      <p:sp>
        <p:nvSpPr>
          <p:cNvPr id="1234105" name="Text Box 185"/>
          <p:cNvSpPr txBox="1">
            <a:spLocks noChangeArrowheads="1"/>
          </p:cNvSpPr>
          <p:nvPr/>
        </p:nvSpPr>
        <p:spPr bwMode="auto">
          <a:xfrm>
            <a:off x="1532528" y="3059113"/>
            <a:ext cx="98683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dirty="0">
                <a:solidFill>
                  <a:srgbClr val="56127A"/>
                </a:solidFill>
              </a:rPr>
              <a:t>BrType</a:t>
            </a:r>
            <a:r>
              <a:rPr lang="en-US" baseline="-25000" dirty="0">
                <a:solidFill>
                  <a:srgbClr val="56127A"/>
                </a:solidFill>
              </a:rPr>
              <a:t>12</a:t>
            </a:r>
            <a:endParaRPr lang="en-US" dirty="0">
              <a:solidFill>
                <a:srgbClr val="56127A"/>
              </a:solidFill>
            </a:endParaRPr>
          </a:p>
        </p:txBody>
      </p:sp>
      <p:sp>
        <p:nvSpPr>
          <p:cNvPr id="1234106" name="Text Box 186"/>
          <p:cNvSpPr txBox="1">
            <a:spLocks noChangeArrowheads="1"/>
          </p:cNvSpPr>
          <p:nvPr/>
        </p:nvSpPr>
        <p:spPr bwMode="auto">
          <a:xfrm>
            <a:off x="2755900" y="3059113"/>
            <a:ext cx="2730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*</a:t>
            </a:r>
          </a:p>
        </p:txBody>
      </p:sp>
      <p:sp>
        <p:nvSpPr>
          <p:cNvPr id="1234107" name="Text Box 187"/>
          <p:cNvSpPr txBox="1">
            <a:spLocks noChangeArrowheads="1"/>
          </p:cNvSpPr>
          <p:nvPr/>
        </p:nvSpPr>
        <p:spPr bwMode="auto">
          <a:xfrm>
            <a:off x="3643453" y="3059113"/>
            <a:ext cx="2744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*</a:t>
            </a:r>
          </a:p>
        </p:txBody>
      </p:sp>
      <p:grpSp>
        <p:nvGrpSpPr>
          <p:cNvPr id="8" name="Group 188"/>
          <p:cNvGrpSpPr>
            <a:grpSpLocks/>
          </p:cNvGrpSpPr>
          <p:nvPr/>
        </p:nvGrpSpPr>
        <p:grpSpPr bwMode="auto">
          <a:xfrm>
            <a:off x="4319588" y="3059113"/>
            <a:ext cx="3059112" cy="366712"/>
            <a:chOff x="2721" y="2121"/>
            <a:chExt cx="1927" cy="231"/>
          </a:xfrm>
        </p:grpSpPr>
        <p:sp>
          <p:nvSpPr>
            <p:cNvPr id="87241" name="Text Box 189"/>
            <p:cNvSpPr txBox="1">
              <a:spLocks noChangeArrowheads="1"/>
            </p:cNvSpPr>
            <p:nvPr/>
          </p:nvSpPr>
          <p:spPr bwMode="auto">
            <a:xfrm>
              <a:off x="2721" y="2121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2" name="Text Box 190"/>
            <p:cNvSpPr txBox="1">
              <a:spLocks noChangeArrowheads="1"/>
            </p:cNvSpPr>
            <p:nvPr/>
          </p:nvSpPr>
          <p:spPr bwMode="auto">
            <a:xfrm>
              <a:off x="3340" y="2121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3" name="Text Box 191"/>
            <p:cNvSpPr txBox="1">
              <a:spLocks noChangeArrowheads="1"/>
            </p:cNvSpPr>
            <p:nvPr/>
          </p:nvSpPr>
          <p:spPr bwMode="auto">
            <a:xfrm>
              <a:off x="3924" y="212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4" name="Text Box 192"/>
            <p:cNvSpPr txBox="1">
              <a:spLocks noChangeArrowheads="1"/>
            </p:cNvSpPr>
            <p:nvPr/>
          </p:nvSpPr>
          <p:spPr bwMode="auto">
            <a:xfrm>
              <a:off x="4476" y="212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1498603" y="2697163"/>
            <a:ext cx="7112003" cy="366712"/>
            <a:chOff x="944" y="1893"/>
            <a:chExt cx="4480" cy="231"/>
          </a:xfrm>
        </p:grpSpPr>
        <p:sp>
          <p:nvSpPr>
            <p:cNvPr id="87233" name="Text Box 194"/>
            <p:cNvSpPr txBox="1">
              <a:spLocks noChangeArrowheads="1"/>
            </p:cNvSpPr>
            <p:nvPr/>
          </p:nvSpPr>
          <p:spPr bwMode="auto">
            <a:xfrm>
              <a:off x="4992" y="1893"/>
              <a:ext cx="43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pc+4</a:t>
              </a:r>
            </a:p>
          </p:txBody>
        </p:sp>
        <p:sp>
          <p:nvSpPr>
            <p:cNvPr id="87234" name="Text Box 195"/>
            <p:cNvSpPr txBox="1">
              <a:spLocks noChangeArrowheads="1"/>
            </p:cNvSpPr>
            <p:nvPr/>
          </p:nvSpPr>
          <p:spPr bwMode="auto">
            <a:xfrm>
              <a:off x="944" y="1893"/>
              <a:ext cx="643" cy="2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dirty="0">
                  <a:solidFill>
                    <a:srgbClr val="56127A"/>
                  </a:solidFill>
                </a:rPr>
                <a:t>BsType</a:t>
              </a:r>
              <a:r>
                <a:rPr lang="en-US" baseline="-25000" dirty="0">
                  <a:solidFill>
                    <a:srgbClr val="56127A"/>
                  </a:solidFill>
                </a:rPr>
                <a:t>12</a:t>
              </a:r>
              <a:endParaRPr lang="en-US" dirty="0">
                <a:solidFill>
                  <a:srgbClr val="56127A"/>
                </a:solidFill>
              </a:endParaRPr>
            </a:p>
          </p:txBody>
        </p:sp>
        <p:sp>
          <p:nvSpPr>
            <p:cNvPr id="87235" name="Text Box 196"/>
            <p:cNvSpPr txBox="1">
              <a:spLocks noChangeArrowheads="1"/>
            </p:cNvSpPr>
            <p:nvPr/>
          </p:nvSpPr>
          <p:spPr bwMode="auto">
            <a:xfrm>
              <a:off x="1659" y="1893"/>
              <a:ext cx="39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Imm</a:t>
              </a:r>
            </a:p>
          </p:txBody>
        </p:sp>
        <p:sp>
          <p:nvSpPr>
            <p:cNvPr id="87236" name="Text Box 197"/>
            <p:cNvSpPr txBox="1">
              <a:spLocks noChangeArrowheads="1"/>
            </p:cNvSpPr>
            <p:nvPr/>
          </p:nvSpPr>
          <p:spPr bwMode="auto">
            <a:xfrm>
              <a:off x="2230" y="1893"/>
              <a:ext cx="20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+</a:t>
              </a:r>
            </a:p>
          </p:txBody>
        </p:sp>
        <p:sp>
          <p:nvSpPr>
            <p:cNvPr id="87237" name="Text Box 198"/>
            <p:cNvSpPr txBox="1">
              <a:spLocks noChangeArrowheads="1"/>
            </p:cNvSpPr>
            <p:nvPr/>
          </p:nvSpPr>
          <p:spPr bwMode="auto">
            <a:xfrm>
              <a:off x="2688" y="1893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38" name="Text Box 199"/>
            <p:cNvSpPr txBox="1">
              <a:spLocks noChangeArrowheads="1"/>
            </p:cNvSpPr>
            <p:nvPr/>
          </p:nvSpPr>
          <p:spPr bwMode="auto">
            <a:xfrm>
              <a:off x="3340" y="1893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39" name="Text Box 200"/>
            <p:cNvSpPr txBox="1">
              <a:spLocks noChangeArrowheads="1"/>
            </p:cNvSpPr>
            <p:nvPr/>
          </p:nvSpPr>
          <p:spPr bwMode="auto">
            <a:xfrm>
              <a:off x="3924" y="1893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0" name="Text Box 201"/>
            <p:cNvSpPr txBox="1">
              <a:spLocks noChangeArrowheads="1"/>
            </p:cNvSpPr>
            <p:nvPr/>
          </p:nvSpPr>
          <p:spPr bwMode="auto">
            <a:xfrm>
              <a:off x="4476" y="1893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130" name="Text Box 210"/>
          <p:cNvSpPr txBox="1">
            <a:spLocks noChangeArrowheads="1"/>
          </p:cNvSpPr>
          <p:nvPr/>
        </p:nvSpPr>
        <p:spPr bwMode="auto">
          <a:xfrm>
            <a:off x="7924800" y="1727200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sp>
        <p:nvSpPr>
          <p:cNvPr id="1234131" name="Text Box 211"/>
          <p:cNvSpPr txBox="1">
            <a:spLocks noChangeArrowheads="1"/>
          </p:cNvSpPr>
          <p:nvPr/>
        </p:nvSpPr>
        <p:spPr bwMode="auto">
          <a:xfrm>
            <a:off x="1928813" y="1727200"/>
            <a:ext cx="2730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*</a:t>
            </a:r>
          </a:p>
        </p:txBody>
      </p:sp>
      <p:sp>
        <p:nvSpPr>
          <p:cNvPr id="1234132" name="Text Box 212"/>
          <p:cNvSpPr txBox="1">
            <a:spLocks noChangeArrowheads="1"/>
          </p:cNvSpPr>
          <p:nvPr/>
        </p:nvSpPr>
        <p:spPr bwMode="auto">
          <a:xfrm>
            <a:off x="2590800" y="1727200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Reg</a:t>
            </a:r>
          </a:p>
        </p:txBody>
      </p:sp>
      <p:sp>
        <p:nvSpPr>
          <p:cNvPr id="1234133" name="Text Box 213"/>
          <p:cNvSpPr txBox="1">
            <a:spLocks noChangeArrowheads="1"/>
          </p:cNvSpPr>
          <p:nvPr/>
        </p:nvSpPr>
        <p:spPr bwMode="auto">
          <a:xfrm>
            <a:off x="3352800" y="1727200"/>
            <a:ext cx="692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Func</a:t>
            </a:r>
          </a:p>
        </p:txBody>
      </p:sp>
      <p:sp>
        <p:nvSpPr>
          <p:cNvPr id="1234134" name="Text Box 214"/>
          <p:cNvSpPr txBox="1">
            <a:spLocks noChangeArrowheads="1"/>
          </p:cNvSpPr>
          <p:nvPr/>
        </p:nvSpPr>
        <p:spPr bwMode="auto">
          <a:xfrm>
            <a:off x="4319588" y="1727200"/>
            <a:ext cx="438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no</a:t>
            </a:r>
          </a:p>
        </p:txBody>
      </p:sp>
      <p:sp>
        <p:nvSpPr>
          <p:cNvPr id="1234135" name="Text Box 215"/>
          <p:cNvSpPr txBox="1">
            <a:spLocks noChangeArrowheads="1"/>
          </p:cNvSpPr>
          <p:nvPr/>
        </p:nvSpPr>
        <p:spPr bwMode="auto">
          <a:xfrm>
            <a:off x="5251450" y="1727200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136" name="Text Box 216"/>
          <p:cNvSpPr txBox="1">
            <a:spLocks noChangeArrowheads="1"/>
          </p:cNvSpPr>
          <p:nvPr/>
        </p:nvSpPr>
        <p:spPr bwMode="auto">
          <a:xfrm>
            <a:off x="6051550" y="1727200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ALU</a:t>
            </a:r>
          </a:p>
        </p:txBody>
      </p:sp>
      <p:sp>
        <p:nvSpPr>
          <p:cNvPr id="1234137" name="Text Box 217"/>
          <p:cNvSpPr txBox="1">
            <a:spLocks noChangeArrowheads="1"/>
          </p:cNvSpPr>
          <p:nvPr/>
        </p:nvSpPr>
        <p:spPr bwMode="auto">
          <a:xfrm>
            <a:off x="7080250" y="1727200"/>
            <a:ext cx="387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rd</a:t>
            </a:r>
          </a:p>
        </p:txBody>
      </p:sp>
      <p:sp>
        <p:nvSpPr>
          <p:cNvPr id="1234138" name="Text Box 218"/>
          <p:cNvSpPr txBox="1">
            <a:spLocks noChangeArrowheads="1"/>
          </p:cNvSpPr>
          <p:nvPr/>
        </p:nvSpPr>
        <p:spPr bwMode="auto">
          <a:xfrm>
            <a:off x="1605928" y="2057400"/>
            <a:ext cx="9204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IType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</a:p>
        </p:txBody>
      </p:sp>
      <p:sp>
        <p:nvSpPr>
          <p:cNvPr id="1234139" name="Text Box 219"/>
          <p:cNvSpPr txBox="1">
            <a:spLocks noChangeArrowheads="1"/>
          </p:cNvSpPr>
          <p:nvPr/>
        </p:nvSpPr>
        <p:spPr bwMode="auto">
          <a:xfrm>
            <a:off x="2633663" y="2057400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Imm</a:t>
            </a:r>
          </a:p>
        </p:txBody>
      </p:sp>
      <p:sp>
        <p:nvSpPr>
          <p:cNvPr id="1234140" name="Text Box 220"/>
          <p:cNvSpPr txBox="1">
            <a:spLocks noChangeArrowheads="1"/>
          </p:cNvSpPr>
          <p:nvPr/>
        </p:nvSpPr>
        <p:spPr bwMode="auto">
          <a:xfrm>
            <a:off x="3454400" y="2057400"/>
            <a:ext cx="4889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Op</a:t>
            </a:r>
          </a:p>
        </p:txBody>
      </p:sp>
      <p:grpSp>
        <p:nvGrpSpPr>
          <p:cNvPr id="10" name="Group 221"/>
          <p:cNvGrpSpPr>
            <a:grpSpLocks/>
          </p:cNvGrpSpPr>
          <p:nvPr/>
        </p:nvGrpSpPr>
        <p:grpSpPr bwMode="auto">
          <a:xfrm>
            <a:off x="4319588" y="2057400"/>
            <a:ext cx="4291012" cy="366713"/>
            <a:chOff x="2721" y="1296"/>
            <a:chExt cx="2703" cy="231"/>
          </a:xfrm>
        </p:grpSpPr>
        <p:sp>
          <p:nvSpPr>
            <p:cNvPr id="87222" name="Text Box 222"/>
            <p:cNvSpPr txBox="1">
              <a:spLocks noChangeArrowheads="1"/>
            </p:cNvSpPr>
            <p:nvPr/>
          </p:nvSpPr>
          <p:spPr bwMode="auto">
            <a:xfrm>
              <a:off x="4992" y="1296"/>
              <a:ext cx="43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pc+4</a:t>
              </a:r>
            </a:p>
          </p:txBody>
        </p:sp>
        <p:sp>
          <p:nvSpPr>
            <p:cNvPr id="87223" name="Text Box 223"/>
            <p:cNvSpPr txBox="1">
              <a:spLocks noChangeArrowheads="1"/>
            </p:cNvSpPr>
            <p:nvPr/>
          </p:nvSpPr>
          <p:spPr bwMode="auto">
            <a:xfrm>
              <a:off x="2721" y="1296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24" name="Text Box 224"/>
            <p:cNvSpPr txBox="1">
              <a:spLocks noChangeArrowheads="1"/>
            </p:cNvSpPr>
            <p:nvPr/>
          </p:nvSpPr>
          <p:spPr bwMode="auto">
            <a:xfrm>
              <a:off x="3308" y="1296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25" name="Text Box 225"/>
            <p:cNvSpPr txBox="1">
              <a:spLocks noChangeArrowheads="1"/>
            </p:cNvSpPr>
            <p:nvPr/>
          </p:nvSpPr>
          <p:spPr bwMode="auto">
            <a:xfrm>
              <a:off x="3812" y="1296"/>
              <a:ext cx="39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ALU</a:t>
              </a:r>
            </a:p>
          </p:txBody>
        </p:sp>
      </p:grpSp>
      <p:sp>
        <p:nvSpPr>
          <p:cNvPr id="1234146" name="Text Box 226"/>
          <p:cNvSpPr txBox="1">
            <a:spLocks noChangeArrowheads="1"/>
          </p:cNvSpPr>
          <p:nvPr/>
        </p:nvSpPr>
        <p:spPr bwMode="auto">
          <a:xfrm>
            <a:off x="7069750" y="2057400"/>
            <a:ext cx="38991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rd</a:t>
            </a:r>
            <a:endParaRPr lang="en-US" sz="1800" dirty="0">
              <a:solidFill>
                <a:srgbClr val="56127A"/>
              </a:solidFill>
            </a:endParaRPr>
          </a:p>
        </p:txBody>
      </p:sp>
      <p:sp>
        <p:nvSpPr>
          <p:cNvPr id="1234147" name="Text Box 227"/>
          <p:cNvSpPr txBox="1">
            <a:spLocks noChangeArrowheads="1"/>
          </p:cNvSpPr>
          <p:nvPr/>
        </p:nvSpPr>
        <p:spPr bwMode="auto">
          <a:xfrm>
            <a:off x="7924800" y="2378075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sp>
        <p:nvSpPr>
          <p:cNvPr id="1234148" name="Text Box 228"/>
          <p:cNvSpPr txBox="1">
            <a:spLocks noChangeArrowheads="1"/>
          </p:cNvSpPr>
          <p:nvPr/>
        </p:nvSpPr>
        <p:spPr bwMode="auto">
          <a:xfrm>
            <a:off x="1598956" y="2378075"/>
            <a:ext cx="9204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IType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  <a:endParaRPr lang="en-US" sz="1800" dirty="0">
              <a:solidFill>
                <a:srgbClr val="56127A"/>
              </a:solidFill>
            </a:endParaRPr>
          </a:p>
        </p:txBody>
      </p:sp>
      <p:sp>
        <p:nvSpPr>
          <p:cNvPr id="1234149" name="Text Box 229"/>
          <p:cNvSpPr txBox="1">
            <a:spLocks noChangeArrowheads="1"/>
          </p:cNvSpPr>
          <p:nvPr/>
        </p:nvSpPr>
        <p:spPr bwMode="auto">
          <a:xfrm>
            <a:off x="2633663" y="2378075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Imm</a:t>
            </a:r>
          </a:p>
        </p:txBody>
      </p:sp>
      <p:sp>
        <p:nvSpPr>
          <p:cNvPr id="1234150" name="Text Box 230"/>
          <p:cNvSpPr txBox="1">
            <a:spLocks noChangeArrowheads="1"/>
          </p:cNvSpPr>
          <p:nvPr/>
        </p:nvSpPr>
        <p:spPr bwMode="auto">
          <a:xfrm>
            <a:off x="3540125" y="2378075"/>
            <a:ext cx="317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+</a:t>
            </a:r>
          </a:p>
        </p:txBody>
      </p:sp>
      <p:sp>
        <p:nvSpPr>
          <p:cNvPr id="1234151" name="Text Box 231"/>
          <p:cNvSpPr txBox="1">
            <a:spLocks noChangeArrowheads="1"/>
          </p:cNvSpPr>
          <p:nvPr/>
        </p:nvSpPr>
        <p:spPr bwMode="auto">
          <a:xfrm>
            <a:off x="4319588" y="2378075"/>
            <a:ext cx="438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no</a:t>
            </a:r>
          </a:p>
        </p:txBody>
      </p:sp>
      <p:sp>
        <p:nvSpPr>
          <p:cNvPr id="1234152" name="Text Box 232"/>
          <p:cNvSpPr txBox="1">
            <a:spLocks noChangeArrowheads="1"/>
          </p:cNvSpPr>
          <p:nvPr/>
        </p:nvSpPr>
        <p:spPr bwMode="auto">
          <a:xfrm>
            <a:off x="5251450" y="2378075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153" name="Text Box 233"/>
          <p:cNvSpPr txBox="1">
            <a:spLocks noChangeArrowheads="1"/>
          </p:cNvSpPr>
          <p:nvPr/>
        </p:nvSpPr>
        <p:spPr bwMode="auto">
          <a:xfrm>
            <a:off x="6075363" y="2378075"/>
            <a:ext cx="692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Mem</a:t>
            </a:r>
          </a:p>
        </p:txBody>
      </p:sp>
      <p:sp>
        <p:nvSpPr>
          <p:cNvPr id="1234154" name="Text Box 234"/>
          <p:cNvSpPr txBox="1">
            <a:spLocks noChangeArrowheads="1"/>
          </p:cNvSpPr>
          <p:nvPr/>
        </p:nvSpPr>
        <p:spPr bwMode="auto">
          <a:xfrm>
            <a:off x="7069750" y="2378075"/>
            <a:ext cx="38991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rd</a:t>
            </a:r>
            <a:endParaRPr lang="en-US" sz="1800" dirty="0">
              <a:solidFill>
                <a:srgbClr val="561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7891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076" grpId="0" autoUpdateAnimBg="0"/>
      <p:bldP spid="1234082" grpId="0" autoUpdateAnimBg="0"/>
      <p:bldP spid="1234083" grpId="0" autoUpdateAnimBg="0"/>
      <p:bldP spid="1234084" grpId="0" autoUpdateAnimBg="0"/>
      <p:bldP spid="1234085" grpId="0" autoUpdateAnimBg="0"/>
      <p:bldP spid="1234095" grpId="0" autoUpdateAnimBg="0"/>
      <p:bldP spid="1234104" grpId="0" autoUpdateAnimBg="0"/>
      <p:bldP spid="1234105" grpId="0" autoUpdateAnimBg="0"/>
      <p:bldP spid="1234106" grpId="0" autoUpdateAnimBg="0"/>
      <p:bldP spid="1234107" grpId="0" autoUpdateAnimBg="0"/>
      <p:bldP spid="1234130" grpId="0" autoUpdateAnimBg="0"/>
      <p:bldP spid="1234131" grpId="0" autoUpdateAnimBg="0"/>
      <p:bldP spid="1234132" grpId="0" autoUpdateAnimBg="0"/>
      <p:bldP spid="1234133" grpId="0" autoUpdateAnimBg="0"/>
      <p:bldP spid="1234134" grpId="0" autoUpdateAnimBg="0"/>
      <p:bldP spid="1234135" grpId="0" autoUpdateAnimBg="0"/>
      <p:bldP spid="1234136" grpId="0" autoUpdateAnimBg="0"/>
      <p:bldP spid="1234137" grpId="0" autoUpdateAnimBg="0"/>
      <p:bldP spid="1234138" grpId="0" autoUpdateAnimBg="0"/>
      <p:bldP spid="1234139" grpId="0" autoUpdateAnimBg="0"/>
      <p:bldP spid="1234140" grpId="0" autoUpdateAnimBg="0"/>
      <p:bldP spid="1234146" grpId="0"/>
      <p:bldP spid="1234147" grpId="0" autoUpdateAnimBg="0"/>
      <p:bldP spid="1234148" grpId="0" autoUpdateAnimBg="0"/>
      <p:bldP spid="1234149" grpId="0" autoUpdateAnimBg="0"/>
      <p:bldP spid="1234150" grpId="0" autoUpdateAnimBg="0"/>
      <p:bldP spid="1234151" grpId="0" autoUpdateAnimBg="0"/>
      <p:bldP spid="1234152" grpId="0" autoUpdateAnimBg="0"/>
      <p:bldP spid="1234153" grpId="0" autoUpdateAnimBg="0"/>
      <p:bldP spid="123415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3C98430-2360-7B4E-A579-72E8C13B2E1D}" type="slidenum">
              <a:rPr lang="en-US"/>
              <a:pPr/>
              <a:t>44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>
          <a:xfrm>
            <a:off x="361950" y="314325"/>
            <a:ext cx="7975600" cy="863600"/>
          </a:xfrm>
          <a:noFill/>
        </p:spPr>
        <p:txBody>
          <a:bodyPr lIns="90488" tIns="44450" rIns="90488" bIns="44450"/>
          <a:lstStyle/>
          <a:p>
            <a:r>
              <a:rPr lang="en-US"/>
              <a:t>Single-Cycle Hardwired Control:</a:t>
            </a:r>
            <a:br>
              <a:rPr lang="en-US"/>
            </a:br>
            <a:r>
              <a:rPr lang="en-US" sz="2000" i="1"/>
              <a:t>Harvard architecture</a:t>
            </a:r>
          </a:p>
        </p:txBody>
      </p:sp>
      <p:sp>
        <p:nvSpPr>
          <p:cNvPr id="89094" name="Rectangle 3"/>
          <p:cNvSpPr>
            <a:spLocks noChangeArrowheads="1"/>
          </p:cNvSpPr>
          <p:nvPr/>
        </p:nvSpPr>
        <p:spPr bwMode="auto">
          <a:xfrm>
            <a:off x="582613" y="1344613"/>
            <a:ext cx="8407944" cy="476797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 We will assume 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 clock period is sufficiently long for all of </a:t>
            </a:r>
          </a:p>
          <a:p>
            <a:pPr lvl="1">
              <a:spcBef>
                <a:spcPct val="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  the following steps to be “completed”:</a:t>
            </a:r>
          </a:p>
          <a:p>
            <a:pPr>
              <a:spcBef>
                <a:spcPct val="0"/>
              </a:spcBef>
            </a:pPr>
            <a:endParaRPr lang="en-US" sz="2400" dirty="0">
              <a:solidFill>
                <a:schemeClr val="tx1"/>
              </a:solidFill>
              <a:latin typeface="Verdana" charset="0"/>
            </a:endParaRPr>
          </a:p>
          <a:p>
            <a:pPr lvl="3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1. instruction fetch</a:t>
            </a:r>
          </a:p>
          <a:p>
            <a:pPr lvl="3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2. decode and register fetch</a:t>
            </a:r>
          </a:p>
          <a:p>
            <a:pPr lvl="3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3. ALU operation</a:t>
            </a:r>
          </a:p>
          <a:p>
            <a:pPr lvl="3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4. data fetch if required</a:t>
            </a:r>
          </a:p>
          <a:p>
            <a:pPr lvl="3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5. register write-back setup time</a:t>
            </a:r>
          </a:p>
          <a:p>
            <a:pPr lvl="3">
              <a:spcBef>
                <a:spcPct val="0"/>
              </a:spcBef>
            </a:pPr>
            <a:endParaRPr lang="en-US" sz="2000" dirty="0">
              <a:solidFill>
                <a:srgbClr val="56127A"/>
              </a:solidFill>
              <a:latin typeface="Verdana" charset="0"/>
            </a:endParaRPr>
          </a:p>
          <a:p>
            <a:pPr lvl="4"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Symbol" charset="2"/>
              </a:rPr>
              <a:t>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  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C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 &gt; 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IFetch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 +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RFetch</a:t>
            </a:r>
            <a:r>
              <a:rPr lang="en-US" sz="2000" baseline="-25000" dirty="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+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ALU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+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DMem</a:t>
            </a: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+ </a:t>
            </a:r>
            <a:r>
              <a:rPr lang="en-US" sz="2000" dirty="0" err="1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 dirty="0" err="1">
                <a:solidFill>
                  <a:srgbClr val="56127A"/>
                </a:solidFill>
                <a:latin typeface="Verdana" charset="0"/>
              </a:rPr>
              <a:t>RWB</a:t>
            </a:r>
            <a:endParaRPr lang="en-US" sz="2000" dirty="0">
              <a:solidFill>
                <a:srgbClr val="56127A"/>
              </a:solidFill>
              <a:latin typeface="Verdana" charset="0"/>
            </a:endParaRPr>
          </a:p>
          <a:p>
            <a:pPr lvl="2">
              <a:spcBef>
                <a:spcPct val="0"/>
              </a:spcBef>
            </a:pPr>
            <a:endParaRPr lang="en-US" sz="2000" dirty="0">
              <a:solidFill>
                <a:srgbClr val="56127A"/>
              </a:solidFill>
              <a:latin typeface="Verdana" charset="0"/>
            </a:endParaRP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 At the rising edge of the following clock, the PC,</a:t>
            </a:r>
          </a:p>
          <a:p>
            <a:pPr lvl="1">
              <a:spcBef>
                <a:spcPct val="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   the register file and the memory are updated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29FFFB8-F710-4F4C-BACE-798B96DEEBF0}" type="slidenum">
              <a:rPr lang="en-US"/>
              <a:pPr/>
              <a:t>45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784225" y="2344738"/>
            <a:ext cx="7543800" cy="1143000"/>
          </a:xfrm>
          <a:noFill/>
        </p:spPr>
        <p:txBody>
          <a:bodyPr lIns="90488" tIns="44450" rIns="90488" bIns="44450"/>
          <a:lstStyle/>
          <a:p>
            <a:pPr algn="ctr"/>
            <a:r>
              <a:rPr lang="en-US" dirty="0"/>
              <a:t>Increasing Processor Clock Speed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Pipeling</a:t>
            </a:r>
            <a:r>
              <a:rPr lang="en-US" dirty="0"/>
              <a:t> </a:t>
            </a:r>
            <a:r>
              <a:rPr lang="en-US" sz="2800" dirty="0"/>
              <a:t>RISC-V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7C545-974E-6948-AA96-780454980F60}" type="slidenum">
              <a:rPr lang="en-US"/>
              <a:pPr/>
              <a:t>46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44500"/>
            <a:ext cx="7162800" cy="7874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An Ideal Pipeline </a:t>
            </a:r>
          </a:p>
        </p:txBody>
      </p:sp>
      <p:sp>
        <p:nvSpPr>
          <p:cNvPr id="1326083" name="Rectangle 3"/>
          <p:cNvSpPr>
            <a:spLocks noChangeArrowheads="1"/>
          </p:cNvSpPr>
          <p:nvPr/>
        </p:nvSpPr>
        <p:spPr bwMode="auto">
          <a:xfrm>
            <a:off x="1100138" y="2770188"/>
            <a:ext cx="7243762" cy="2527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All objects go through the same stages</a:t>
            </a:r>
          </a:p>
          <a:p>
            <a:pPr>
              <a:spcBef>
                <a:spcPct val="0"/>
              </a:spcBef>
            </a:pPr>
            <a:endParaRPr lang="en-US" sz="2000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No sharing of resources between any two stages</a:t>
            </a:r>
          </a:p>
          <a:p>
            <a:pPr>
              <a:spcBef>
                <a:spcPct val="0"/>
              </a:spcBef>
            </a:pPr>
            <a:endParaRPr lang="en-US" sz="2000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Propagation delay through all pipeline stages is equal</a:t>
            </a:r>
          </a:p>
          <a:p>
            <a:pPr>
              <a:spcBef>
                <a:spcPct val="0"/>
              </a:spcBef>
            </a:pPr>
            <a:endParaRPr lang="en-US" sz="2000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The scheduling of an object entering the pipeline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  is not affected by the objects in other stages</a:t>
            </a:r>
            <a:endParaRPr lang="en-US" sz="2000" i="1">
              <a:solidFill>
                <a:schemeClr val="bg2"/>
              </a:solidFill>
              <a:latin typeface="Verdana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09588" y="1430338"/>
            <a:ext cx="8366125" cy="1130300"/>
            <a:chOff x="321" y="837"/>
            <a:chExt cx="5270" cy="712"/>
          </a:xfrm>
        </p:grpSpPr>
        <p:sp>
          <p:nvSpPr>
            <p:cNvPr id="1326085" name="Rectangle 5"/>
            <p:cNvSpPr>
              <a:spLocks noChangeArrowheads="1"/>
            </p:cNvSpPr>
            <p:nvPr/>
          </p:nvSpPr>
          <p:spPr bwMode="auto">
            <a:xfrm>
              <a:off x="951" y="845"/>
              <a:ext cx="608" cy="7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86" name="Rectangle 6"/>
            <p:cNvSpPr>
              <a:spLocks noChangeArrowheads="1"/>
            </p:cNvSpPr>
            <p:nvPr/>
          </p:nvSpPr>
          <p:spPr bwMode="auto">
            <a:xfrm>
              <a:off x="1759" y="893"/>
              <a:ext cx="2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87" name="Line 7"/>
            <p:cNvSpPr>
              <a:spLocks noChangeShapeType="1"/>
            </p:cNvSpPr>
            <p:nvPr/>
          </p:nvSpPr>
          <p:spPr bwMode="auto">
            <a:xfrm>
              <a:off x="1575" y="1197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88" name="Rectangle 8"/>
            <p:cNvSpPr>
              <a:spLocks noChangeArrowheads="1"/>
            </p:cNvSpPr>
            <p:nvPr/>
          </p:nvSpPr>
          <p:spPr bwMode="auto">
            <a:xfrm>
              <a:off x="2231" y="837"/>
              <a:ext cx="608" cy="7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89" name="Rectangle 9"/>
            <p:cNvSpPr>
              <a:spLocks noChangeArrowheads="1"/>
            </p:cNvSpPr>
            <p:nvPr/>
          </p:nvSpPr>
          <p:spPr bwMode="auto">
            <a:xfrm>
              <a:off x="3039" y="885"/>
              <a:ext cx="2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0" name="Line 10"/>
            <p:cNvSpPr>
              <a:spLocks noChangeShapeType="1"/>
            </p:cNvSpPr>
            <p:nvPr/>
          </p:nvSpPr>
          <p:spPr bwMode="auto">
            <a:xfrm>
              <a:off x="2855" y="1189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1" name="Rectangle 11"/>
            <p:cNvSpPr>
              <a:spLocks noChangeArrowheads="1"/>
            </p:cNvSpPr>
            <p:nvPr/>
          </p:nvSpPr>
          <p:spPr bwMode="auto">
            <a:xfrm>
              <a:off x="3511" y="837"/>
              <a:ext cx="608" cy="7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2" name="Rectangle 12"/>
            <p:cNvSpPr>
              <a:spLocks noChangeArrowheads="1"/>
            </p:cNvSpPr>
            <p:nvPr/>
          </p:nvSpPr>
          <p:spPr bwMode="auto">
            <a:xfrm>
              <a:off x="4319" y="885"/>
              <a:ext cx="2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3" name="Line 13"/>
            <p:cNvSpPr>
              <a:spLocks noChangeShapeType="1"/>
            </p:cNvSpPr>
            <p:nvPr/>
          </p:nvSpPr>
          <p:spPr bwMode="auto">
            <a:xfrm>
              <a:off x="4135" y="1189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4" name="Rectangle 14"/>
            <p:cNvSpPr>
              <a:spLocks noChangeArrowheads="1"/>
            </p:cNvSpPr>
            <p:nvPr/>
          </p:nvSpPr>
          <p:spPr bwMode="auto">
            <a:xfrm>
              <a:off x="4791" y="837"/>
              <a:ext cx="608" cy="7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5" name="Line 15"/>
            <p:cNvSpPr>
              <a:spLocks noChangeShapeType="1"/>
            </p:cNvSpPr>
            <p:nvPr/>
          </p:nvSpPr>
          <p:spPr bwMode="auto">
            <a:xfrm>
              <a:off x="5415" y="1189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6" name="Rectangle 16"/>
            <p:cNvSpPr>
              <a:spLocks noChangeArrowheads="1"/>
            </p:cNvSpPr>
            <p:nvPr/>
          </p:nvSpPr>
          <p:spPr bwMode="auto">
            <a:xfrm>
              <a:off x="495" y="889"/>
              <a:ext cx="200" cy="6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7" name="Line 17"/>
            <p:cNvSpPr>
              <a:spLocks noChangeShapeType="1"/>
            </p:cNvSpPr>
            <p:nvPr/>
          </p:nvSpPr>
          <p:spPr bwMode="auto">
            <a:xfrm flipV="1">
              <a:off x="703" y="1199"/>
              <a:ext cx="24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098" name="Rectangle 18"/>
            <p:cNvSpPr>
              <a:spLocks noChangeArrowheads="1"/>
            </p:cNvSpPr>
            <p:nvPr/>
          </p:nvSpPr>
          <p:spPr bwMode="auto">
            <a:xfrm>
              <a:off x="1000" y="985"/>
              <a:ext cx="508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stage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1</a:t>
              </a:r>
            </a:p>
          </p:txBody>
        </p:sp>
        <p:sp>
          <p:nvSpPr>
            <p:cNvPr id="1326099" name="Rectangle 19"/>
            <p:cNvSpPr>
              <a:spLocks noChangeArrowheads="1"/>
            </p:cNvSpPr>
            <p:nvPr/>
          </p:nvSpPr>
          <p:spPr bwMode="auto">
            <a:xfrm>
              <a:off x="2288" y="979"/>
              <a:ext cx="508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stage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2</a:t>
              </a:r>
            </a:p>
          </p:txBody>
        </p:sp>
        <p:sp>
          <p:nvSpPr>
            <p:cNvPr id="1326100" name="Rectangle 20"/>
            <p:cNvSpPr>
              <a:spLocks noChangeArrowheads="1"/>
            </p:cNvSpPr>
            <p:nvPr/>
          </p:nvSpPr>
          <p:spPr bwMode="auto">
            <a:xfrm>
              <a:off x="3568" y="953"/>
              <a:ext cx="508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stage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3</a:t>
              </a:r>
            </a:p>
          </p:txBody>
        </p:sp>
        <p:sp>
          <p:nvSpPr>
            <p:cNvPr id="1326101" name="Rectangle 21"/>
            <p:cNvSpPr>
              <a:spLocks noChangeArrowheads="1"/>
            </p:cNvSpPr>
            <p:nvPr/>
          </p:nvSpPr>
          <p:spPr bwMode="auto">
            <a:xfrm>
              <a:off x="4856" y="961"/>
              <a:ext cx="508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stage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4</a:t>
              </a:r>
            </a:p>
          </p:txBody>
        </p:sp>
        <p:sp>
          <p:nvSpPr>
            <p:cNvPr id="1326102" name="Line 22"/>
            <p:cNvSpPr>
              <a:spLocks noChangeShapeType="1"/>
            </p:cNvSpPr>
            <p:nvPr/>
          </p:nvSpPr>
          <p:spPr bwMode="auto">
            <a:xfrm flipV="1">
              <a:off x="4536" y="1190"/>
              <a:ext cx="24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103" name="Line 23"/>
            <p:cNvSpPr>
              <a:spLocks noChangeShapeType="1"/>
            </p:cNvSpPr>
            <p:nvPr/>
          </p:nvSpPr>
          <p:spPr bwMode="auto">
            <a:xfrm flipV="1">
              <a:off x="3254" y="1185"/>
              <a:ext cx="24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104" name="Line 24"/>
            <p:cNvSpPr>
              <a:spLocks noChangeShapeType="1"/>
            </p:cNvSpPr>
            <p:nvPr/>
          </p:nvSpPr>
          <p:spPr bwMode="auto">
            <a:xfrm flipV="1">
              <a:off x="1969" y="1183"/>
              <a:ext cx="245" cy="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6105" name="Line 25"/>
            <p:cNvSpPr>
              <a:spLocks noChangeShapeType="1"/>
            </p:cNvSpPr>
            <p:nvPr/>
          </p:nvSpPr>
          <p:spPr bwMode="auto">
            <a:xfrm>
              <a:off x="321" y="1210"/>
              <a:ext cx="1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6106" name="Text Box 26"/>
          <p:cNvSpPr txBox="1">
            <a:spLocks noChangeArrowheads="1"/>
          </p:cNvSpPr>
          <p:nvPr/>
        </p:nvSpPr>
        <p:spPr bwMode="auto">
          <a:xfrm>
            <a:off x="1787525" y="5365750"/>
            <a:ext cx="702151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solidFill>
                  <a:srgbClr val="FF0000"/>
                </a:solidFill>
                <a:latin typeface="Verdana" charset="0"/>
              </a:rPr>
              <a:t>These conditions generally hold for industrial assembly lines, but instructions depend on each other!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610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A37A1-7863-304C-B24D-C49CD8F9FF69}" type="slidenum">
              <a:rPr lang="en-US"/>
              <a:pPr/>
              <a:t>47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47700"/>
            <a:ext cx="7162800" cy="533400"/>
          </a:xfrm>
        </p:spPr>
        <p:txBody>
          <a:bodyPr/>
          <a:lstStyle/>
          <a:p>
            <a:r>
              <a:rPr lang="en-US" dirty="0"/>
              <a:t>Pipelined RISC-V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06513"/>
            <a:ext cx="7772400" cy="4789487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sz="3200" dirty="0"/>
              <a:t>To pipeline RISC-V:</a:t>
            </a:r>
          </a:p>
          <a:p>
            <a:endParaRPr lang="en-US" sz="3200" dirty="0"/>
          </a:p>
          <a:p>
            <a:r>
              <a:rPr lang="en-US" sz="3200" dirty="0"/>
              <a:t>First build RISC-V without pipelining with CPI=1 </a:t>
            </a:r>
          </a:p>
          <a:p>
            <a:endParaRPr lang="en-US" sz="3200" dirty="0"/>
          </a:p>
          <a:p>
            <a:r>
              <a:rPr lang="en-US" sz="3200" dirty="0"/>
              <a:t>Next, add pipeline registers to reduce cycle time while maintaining CPI=1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540B12C-8877-6543-81C7-80EC3944DB28}" type="slidenum">
              <a:rPr lang="en-US"/>
              <a:pPr/>
              <a:t>48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>
          <a:xfrm>
            <a:off x="255588" y="436559"/>
            <a:ext cx="8736012" cy="685800"/>
          </a:xfrm>
          <a:noFill/>
        </p:spPr>
        <p:txBody>
          <a:bodyPr lIns="90488" tIns="44450" rIns="90488" bIns="44450"/>
          <a:lstStyle/>
          <a:p>
            <a:r>
              <a:rPr lang="en-US" dirty="0" err="1"/>
              <a:t>Unpipelined</a:t>
            </a:r>
            <a:r>
              <a:rPr lang="en-US" dirty="0"/>
              <a:t> </a:t>
            </a:r>
            <a:r>
              <a:rPr lang="en-US" dirty="0" err="1"/>
              <a:t>Datapath</a:t>
            </a:r>
            <a:r>
              <a:rPr lang="en-US" dirty="0"/>
              <a:t> for RISC-V</a:t>
            </a:r>
          </a:p>
        </p:txBody>
      </p:sp>
      <p:grpSp>
        <p:nvGrpSpPr>
          <p:cNvPr id="2" name="Group 142"/>
          <p:cNvGrpSpPr/>
          <p:nvPr/>
        </p:nvGrpSpPr>
        <p:grpSpPr>
          <a:xfrm>
            <a:off x="288925" y="1071551"/>
            <a:ext cx="8732840" cy="5237163"/>
            <a:chOff x="288925" y="1254125"/>
            <a:chExt cx="8732840" cy="5237163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808038" y="2444750"/>
              <a:ext cx="777875" cy="630238"/>
              <a:chOff x="509" y="1540"/>
              <a:chExt cx="490" cy="397"/>
            </a:xfrm>
          </p:grpSpPr>
          <p:sp>
            <p:nvSpPr>
              <p:cNvPr id="81033" name="Rectangle 4"/>
              <p:cNvSpPr>
                <a:spLocks noChangeArrowheads="1"/>
              </p:cNvSpPr>
              <p:nvPr/>
            </p:nvSpPr>
            <p:spPr bwMode="auto">
              <a:xfrm>
                <a:off x="509" y="1540"/>
                <a:ext cx="243" cy="15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0x4</a:t>
                </a:r>
              </a:p>
            </p:txBody>
          </p:sp>
          <p:sp>
            <p:nvSpPr>
              <p:cNvPr id="81034" name="Freeform 5"/>
              <p:cNvSpPr>
                <a:spLocks/>
              </p:cNvSpPr>
              <p:nvPr/>
            </p:nvSpPr>
            <p:spPr bwMode="auto">
              <a:xfrm>
                <a:off x="758" y="1552"/>
                <a:ext cx="241" cy="385"/>
              </a:xfrm>
              <a:custGeom>
                <a:avLst/>
                <a:gdLst>
                  <a:gd name="T0" fmla="*/ 0 w 241"/>
                  <a:gd name="T1" fmla="*/ 0 h 385"/>
                  <a:gd name="T2" fmla="*/ 0 w 241"/>
                  <a:gd name="T3" fmla="*/ 160 h 385"/>
                  <a:gd name="T4" fmla="*/ 48 w 241"/>
                  <a:gd name="T5" fmla="*/ 192 h 385"/>
                  <a:gd name="T6" fmla="*/ 0 w 241"/>
                  <a:gd name="T7" fmla="*/ 224 h 385"/>
                  <a:gd name="T8" fmla="*/ 0 w 241"/>
                  <a:gd name="T9" fmla="*/ 384 h 385"/>
                  <a:gd name="T10" fmla="*/ 240 w 241"/>
                  <a:gd name="T11" fmla="*/ 288 h 385"/>
                  <a:gd name="T12" fmla="*/ 240 w 241"/>
                  <a:gd name="T13" fmla="*/ 96 h 385"/>
                  <a:gd name="T14" fmla="*/ 0 w 241"/>
                  <a:gd name="T15" fmla="*/ 0 h 3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41"/>
                  <a:gd name="T25" fmla="*/ 0 h 385"/>
                  <a:gd name="T26" fmla="*/ 241 w 241"/>
                  <a:gd name="T27" fmla="*/ 385 h 38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41" h="385">
                    <a:moveTo>
                      <a:pt x="0" y="0"/>
                    </a:moveTo>
                    <a:lnTo>
                      <a:pt x="0" y="160"/>
                    </a:lnTo>
                    <a:lnTo>
                      <a:pt x="48" y="192"/>
                    </a:lnTo>
                    <a:lnTo>
                      <a:pt x="0" y="224"/>
                    </a:lnTo>
                    <a:lnTo>
                      <a:pt x="0" y="384"/>
                    </a:lnTo>
                    <a:lnTo>
                      <a:pt x="240" y="288"/>
                    </a:lnTo>
                    <a:lnTo>
                      <a:pt x="240" y="96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35" name="Line 6"/>
              <p:cNvSpPr>
                <a:spLocks noChangeShapeType="1"/>
              </p:cNvSpPr>
              <p:nvPr/>
            </p:nvSpPr>
            <p:spPr bwMode="auto">
              <a:xfrm>
                <a:off x="714" y="1600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36" name="Line 7"/>
              <p:cNvSpPr>
                <a:spLocks noChangeShapeType="1"/>
              </p:cNvSpPr>
              <p:nvPr/>
            </p:nvSpPr>
            <p:spPr bwMode="auto">
              <a:xfrm>
                <a:off x="714" y="1888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0903" name="Freeform 8"/>
            <p:cNvSpPr>
              <a:spLocks/>
            </p:cNvSpPr>
            <p:nvPr/>
          </p:nvSpPr>
          <p:spPr bwMode="auto">
            <a:xfrm>
              <a:off x="288925" y="1943100"/>
              <a:ext cx="893763" cy="2046288"/>
            </a:xfrm>
            <a:custGeom>
              <a:avLst/>
              <a:gdLst>
                <a:gd name="T0" fmla="*/ 562 w 563"/>
                <a:gd name="T1" fmla="*/ 0 h 1289"/>
                <a:gd name="T2" fmla="*/ 2 w 563"/>
                <a:gd name="T3" fmla="*/ 0 h 1289"/>
                <a:gd name="T4" fmla="*/ 0 w 563"/>
                <a:gd name="T5" fmla="*/ 1288 h 1289"/>
                <a:gd name="T6" fmla="*/ 192 w 563"/>
                <a:gd name="T7" fmla="*/ 1288 h 12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3"/>
                <a:gd name="T13" fmla="*/ 0 h 1289"/>
                <a:gd name="T14" fmla="*/ 563 w 563"/>
                <a:gd name="T15" fmla="*/ 1289 h 12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3" h="1289">
                  <a:moveTo>
                    <a:pt x="562" y="0"/>
                  </a:moveTo>
                  <a:lnTo>
                    <a:pt x="2" y="0"/>
                  </a:lnTo>
                  <a:lnTo>
                    <a:pt x="0" y="1288"/>
                  </a:lnTo>
                  <a:lnTo>
                    <a:pt x="192" y="1288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04" name="Freeform 9"/>
            <p:cNvSpPr>
              <a:spLocks/>
            </p:cNvSpPr>
            <p:nvPr/>
          </p:nvSpPr>
          <p:spPr bwMode="auto">
            <a:xfrm>
              <a:off x="6537325" y="4156075"/>
              <a:ext cx="1752600" cy="1279525"/>
            </a:xfrm>
            <a:custGeom>
              <a:avLst/>
              <a:gdLst>
                <a:gd name="T0" fmla="*/ 2 w 1104"/>
                <a:gd name="T1" fmla="*/ 0 h 806"/>
                <a:gd name="T2" fmla="*/ 0 w 1104"/>
                <a:gd name="T3" fmla="*/ 806 h 806"/>
                <a:gd name="T4" fmla="*/ 784 w 1104"/>
                <a:gd name="T5" fmla="*/ 806 h 806"/>
                <a:gd name="T6" fmla="*/ 784 w 1104"/>
                <a:gd name="T7" fmla="*/ 326 h 806"/>
                <a:gd name="T8" fmla="*/ 1104 w 1104"/>
                <a:gd name="T9" fmla="*/ 326 h 8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04"/>
                <a:gd name="T16" fmla="*/ 0 h 806"/>
                <a:gd name="T17" fmla="*/ 1104 w 1104"/>
                <a:gd name="T18" fmla="*/ 806 h 8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04" h="806">
                  <a:moveTo>
                    <a:pt x="2" y="0"/>
                  </a:moveTo>
                  <a:lnTo>
                    <a:pt x="0" y="806"/>
                  </a:lnTo>
                  <a:lnTo>
                    <a:pt x="784" y="806"/>
                  </a:lnTo>
                  <a:lnTo>
                    <a:pt x="784" y="326"/>
                  </a:lnTo>
                  <a:lnTo>
                    <a:pt x="1104" y="326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05" name="Freeform 10"/>
            <p:cNvSpPr>
              <a:spLocks/>
            </p:cNvSpPr>
            <p:nvPr/>
          </p:nvSpPr>
          <p:spPr bwMode="auto">
            <a:xfrm>
              <a:off x="3108325" y="4292600"/>
              <a:ext cx="5570538" cy="1830388"/>
            </a:xfrm>
            <a:custGeom>
              <a:avLst/>
              <a:gdLst>
                <a:gd name="T0" fmla="*/ 3392 w 3509"/>
                <a:gd name="T1" fmla="*/ 200 h 1153"/>
                <a:gd name="T2" fmla="*/ 3508 w 3509"/>
                <a:gd name="T3" fmla="*/ 200 h 1153"/>
                <a:gd name="T4" fmla="*/ 3504 w 3509"/>
                <a:gd name="T5" fmla="*/ 1152 h 1153"/>
                <a:gd name="T6" fmla="*/ 0 w 3509"/>
                <a:gd name="T7" fmla="*/ 1152 h 1153"/>
                <a:gd name="T8" fmla="*/ 0 w 3509"/>
                <a:gd name="T9" fmla="*/ 0 h 1153"/>
                <a:gd name="T10" fmla="*/ 240 w 3509"/>
                <a:gd name="T11" fmla="*/ 0 h 11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09"/>
                <a:gd name="T19" fmla="*/ 0 h 1153"/>
                <a:gd name="T20" fmla="*/ 3509 w 3509"/>
                <a:gd name="T21" fmla="*/ 1153 h 11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09" h="1153">
                  <a:moveTo>
                    <a:pt x="3392" y="200"/>
                  </a:moveTo>
                  <a:lnTo>
                    <a:pt x="3508" y="200"/>
                  </a:lnTo>
                  <a:lnTo>
                    <a:pt x="3504" y="1152"/>
                  </a:lnTo>
                  <a:lnTo>
                    <a:pt x="0" y="1152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06" name="Rectangle 11"/>
            <p:cNvSpPr>
              <a:spLocks noChangeArrowheads="1"/>
            </p:cNvSpPr>
            <p:nvPr/>
          </p:nvSpPr>
          <p:spPr bwMode="auto">
            <a:xfrm>
              <a:off x="3792538" y="1390650"/>
              <a:ext cx="1052047" cy="2744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 dirty="0" err="1">
                  <a:solidFill>
                    <a:srgbClr val="56127A"/>
                  </a:solidFill>
                </a:rPr>
                <a:t>RegWriteEn</a:t>
              </a:r>
              <a:endParaRPr lang="en-US" sz="1200" b="1" dirty="0">
                <a:solidFill>
                  <a:srgbClr val="56127A"/>
                </a:solidFill>
              </a:endParaRPr>
            </a:p>
          </p:txBody>
        </p:sp>
        <p:sp>
          <p:nvSpPr>
            <p:cNvPr id="80907" name="Rectangle 12"/>
            <p:cNvSpPr>
              <a:spLocks noChangeArrowheads="1"/>
            </p:cNvSpPr>
            <p:nvPr/>
          </p:nvSpPr>
          <p:spPr bwMode="auto">
            <a:xfrm>
              <a:off x="1227138" y="2673350"/>
              <a:ext cx="406400" cy="2413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Add</a:t>
              </a:r>
            </a:p>
          </p:txBody>
        </p:sp>
        <p:sp>
          <p:nvSpPr>
            <p:cNvPr id="80908" name="Freeform 13"/>
            <p:cNvSpPr>
              <a:spLocks/>
            </p:cNvSpPr>
            <p:nvPr/>
          </p:nvSpPr>
          <p:spPr bwMode="auto">
            <a:xfrm>
              <a:off x="5534025" y="2654300"/>
              <a:ext cx="382588" cy="611188"/>
            </a:xfrm>
            <a:custGeom>
              <a:avLst/>
              <a:gdLst>
                <a:gd name="T0" fmla="*/ 0 w 241"/>
                <a:gd name="T1" fmla="*/ 0 h 385"/>
                <a:gd name="T2" fmla="*/ 0 w 241"/>
                <a:gd name="T3" fmla="*/ 160 h 385"/>
                <a:gd name="T4" fmla="*/ 48 w 241"/>
                <a:gd name="T5" fmla="*/ 192 h 385"/>
                <a:gd name="T6" fmla="*/ 0 w 241"/>
                <a:gd name="T7" fmla="*/ 224 h 385"/>
                <a:gd name="T8" fmla="*/ 0 w 241"/>
                <a:gd name="T9" fmla="*/ 384 h 385"/>
                <a:gd name="T10" fmla="*/ 240 w 241"/>
                <a:gd name="T11" fmla="*/ 288 h 385"/>
                <a:gd name="T12" fmla="*/ 240 w 241"/>
                <a:gd name="T13" fmla="*/ 96 h 385"/>
                <a:gd name="T14" fmla="*/ 0 w 241"/>
                <a:gd name="T15" fmla="*/ 0 h 3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1"/>
                <a:gd name="T25" fmla="*/ 0 h 385"/>
                <a:gd name="T26" fmla="*/ 241 w 241"/>
                <a:gd name="T27" fmla="*/ 385 h 38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09" name="Rectangle 14"/>
            <p:cNvSpPr>
              <a:spLocks noChangeArrowheads="1"/>
            </p:cNvSpPr>
            <p:nvPr/>
          </p:nvSpPr>
          <p:spPr bwMode="auto">
            <a:xfrm>
              <a:off x="5545138" y="2851150"/>
              <a:ext cx="406400" cy="2413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rgbClr val="56127A"/>
                  </a:solidFill>
                </a:rPr>
                <a:t>Add</a:t>
              </a:r>
            </a:p>
          </p:txBody>
        </p:sp>
        <p:sp>
          <p:nvSpPr>
            <p:cNvPr id="80910" name="Freeform 15"/>
            <p:cNvSpPr>
              <a:spLocks/>
            </p:cNvSpPr>
            <p:nvPr/>
          </p:nvSpPr>
          <p:spPr bwMode="auto">
            <a:xfrm flipV="1">
              <a:off x="1609725" y="2722880"/>
              <a:ext cx="2809875" cy="45719"/>
            </a:xfrm>
            <a:custGeom>
              <a:avLst/>
              <a:gdLst>
                <a:gd name="T0" fmla="*/ 0 w 2465"/>
                <a:gd name="T1" fmla="*/ 0 h 1"/>
                <a:gd name="T2" fmla="*/ 370 w 2465"/>
                <a:gd name="T3" fmla="*/ 0 h 1"/>
                <a:gd name="T4" fmla="*/ 358 w 2465"/>
                <a:gd name="T5" fmla="*/ 0 h 1"/>
                <a:gd name="T6" fmla="*/ 2464 w 2465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5"/>
                <a:gd name="T13" fmla="*/ 0 h 1"/>
                <a:gd name="T14" fmla="*/ 2465 w 2465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5" h="1">
                  <a:moveTo>
                    <a:pt x="0" y="0"/>
                  </a:moveTo>
                  <a:lnTo>
                    <a:pt x="370" y="0"/>
                  </a:lnTo>
                  <a:lnTo>
                    <a:pt x="358" y="0"/>
                  </a:lnTo>
                  <a:lnTo>
                    <a:pt x="2464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/>
              <a:tailEnd type="non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1" name="Freeform 16"/>
            <p:cNvSpPr>
              <a:spLocks/>
            </p:cNvSpPr>
            <p:nvPr/>
          </p:nvSpPr>
          <p:spPr bwMode="auto">
            <a:xfrm flipH="1">
              <a:off x="3776663" y="1498600"/>
              <a:ext cx="42862" cy="1944688"/>
            </a:xfrm>
            <a:custGeom>
              <a:avLst/>
              <a:gdLst>
                <a:gd name="T0" fmla="*/ 0 w 1"/>
                <a:gd name="T1" fmla="*/ 0 h 1537"/>
                <a:gd name="T2" fmla="*/ 0 w 1"/>
                <a:gd name="T3" fmla="*/ 1536 h 1537"/>
                <a:gd name="T4" fmla="*/ 0 60000 65536"/>
                <a:gd name="T5" fmla="*/ 0 60000 65536"/>
                <a:gd name="T6" fmla="*/ 0 w 1"/>
                <a:gd name="T7" fmla="*/ 0 h 1537"/>
                <a:gd name="T8" fmla="*/ 1 w 1"/>
                <a:gd name="T9" fmla="*/ 1537 h 1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537">
                  <a:moveTo>
                    <a:pt x="0" y="0"/>
                  </a:moveTo>
                  <a:lnTo>
                    <a:pt x="0" y="1536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17"/>
            <p:cNvGrpSpPr>
              <a:grpSpLocks/>
            </p:cNvGrpSpPr>
            <p:nvPr/>
          </p:nvGrpSpPr>
          <p:grpSpPr bwMode="auto">
            <a:xfrm>
              <a:off x="6848477" y="1390650"/>
              <a:ext cx="2173288" cy="3740150"/>
              <a:chOff x="4314" y="876"/>
              <a:chExt cx="1369" cy="2356"/>
            </a:xfrm>
          </p:grpSpPr>
          <p:sp>
            <p:nvSpPr>
              <p:cNvPr id="81016" name="Rectangle 18"/>
              <p:cNvSpPr>
                <a:spLocks noChangeArrowheads="1"/>
              </p:cNvSpPr>
              <p:nvPr/>
            </p:nvSpPr>
            <p:spPr bwMode="auto">
              <a:xfrm>
                <a:off x="4314" y="2212"/>
                <a:ext cx="212" cy="1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81017" name="Line 19"/>
              <p:cNvSpPr>
                <a:spLocks noChangeShapeType="1"/>
              </p:cNvSpPr>
              <p:nvPr/>
            </p:nvSpPr>
            <p:spPr bwMode="auto">
              <a:xfrm>
                <a:off x="4422" y="2392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18" name="Freeform 20"/>
              <p:cNvSpPr>
                <a:spLocks/>
              </p:cNvSpPr>
              <p:nvPr/>
            </p:nvSpPr>
            <p:spPr bwMode="auto">
              <a:xfrm>
                <a:off x="4856" y="2848"/>
                <a:ext cx="367" cy="1"/>
              </a:xfrm>
              <a:custGeom>
                <a:avLst/>
                <a:gdLst>
                  <a:gd name="T0" fmla="*/ 0 w 367"/>
                  <a:gd name="T1" fmla="*/ 0 h 1"/>
                  <a:gd name="T2" fmla="*/ 366 w 367"/>
                  <a:gd name="T3" fmla="*/ 0 h 1"/>
                  <a:gd name="T4" fmla="*/ 0 60000 65536"/>
                  <a:gd name="T5" fmla="*/ 0 60000 65536"/>
                  <a:gd name="T6" fmla="*/ 0 w 367"/>
                  <a:gd name="T7" fmla="*/ 0 h 1"/>
                  <a:gd name="T8" fmla="*/ 367 w 36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7" h="1">
                    <a:moveTo>
                      <a:pt x="0" y="0"/>
                    </a:moveTo>
                    <a:lnTo>
                      <a:pt x="366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19" name="Rectangle 21"/>
              <p:cNvSpPr>
                <a:spLocks noChangeArrowheads="1"/>
              </p:cNvSpPr>
              <p:nvPr/>
            </p:nvSpPr>
            <p:spPr bwMode="auto">
              <a:xfrm>
                <a:off x="5253" y="876"/>
                <a:ext cx="430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 dirty="0" err="1">
                    <a:solidFill>
                      <a:srgbClr val="56127A"/>
                    </a:solidFill>
                  </a:rPr>
                  <a:t>WBSel</a:t>
                </a:r>
                <a:endParaRPr lang="en-US" sz="1200" b="1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1020" name="Rectangle 22"/>
              <p:cNvSpPr>
                <a:spLocks noChangeArrowheads="1"/>
              </p:cNvSpPr>
              <p:nvPr/>
            </p:nvSpPr>
            <p:spPr bwMode="auto">
              <a:xfrm>
                <a:off x="4573" y="876"/>
                <a:ext cx="573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>
                    <a:solidFill>
                      <a:srgbClr val="56127A"/>
                    </a:solidFill>
                  </a:rPr>
                  <a:t>MemWrite</a:t>
                </a:r>
              </a:p>
            </p:txBody>
          </p:sp>
          <p:sp>
            <p:nvSpPr>
              <p:cNvPr id="81021" name="Freeform 23"/>
              <p:cNvSpPr>
                <a:spLocks/>
              </p:cNvSpPr>
              <p:nvPr/>
            </p:nvSpPr>
            <p:spPr bwMode="auto">
              <a:xfrm>
                <a:off x="5197" y="2749"/>
                <a:ext cx="145" cy="401"/>
              </a:xfrm>
              <a:custGeom>
                <a:avLst/>
                <a:gdLst>
                  <a:gd name="T0" fmla="*/ 144 w 145"/>
                  <a:gd name="T1" fmla="*/ 48 h 289"/>
                  <a:gd name="T2" fmla="*/ 144 w 145"/>
                  <a:gd name="T3" fmla="*/ 240 h 289"/>
                  <a:gd name="T4" fmla="*/ 0 w 145"/>
                  <a:gd name="T5" fmla="*/ 288 h 289"/>
                  <a:gd name="T6" fmla="*/ 0 w 145"/>
                  <a:gd name="T7" fmla="*/ 0 h 289"/>
                  <a:gd name="T8" fmla="*/ 144 w 145"/>
                  <a:gd name="T9" fmla="*/ 48 h 2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5"/>
                  <a:gd name="T16" fmla="*/ 0 h 289"/>
                  <a:gd name="T17" fmla="*/ 145 w 145"/>
                  <a:gd name="T18" fmla="*/ 289 h 2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5" h="289">
                    <a:moveTo>
                      <a:pt x="144" y="48"/>
                    </a:moveTo>
                    <a:lnTo>
                      <a:pt x="144" y="240"/>
                    </a:lnTo>
                    <a:lnTo>
                      <a:pt x="0" y="288"/>
                    </a:lnTo>
                    <a:lnTo>
                      <a:pt x="0" y="0"/>
                    </a:lnTo>
                    <a:lnTo>
                      <a:pt x="144" y="48"/>
                    </a:lnTo>
                  </a:path>
                </a:pathLst>
              </a:cu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22" name="Freeform 24"/>
              <p:cNvSpPr>
                <a:spLocks/>
              </p:cNvSpPr>
              <p:nvPr/>
            </p:nvSpPr>
            <p:spPr bwMode="auto">
              <a:xfrm>
                <a:off x="5271" y="936"/>
                <a:ext cx="48" cy="1815"/>
              </a:xfrm>
              <a:custGeom>
                <a:avLst/>
                <a:gdLst>
                  <a:gd name="T0" fmla="*/ 0 w 1"/>
                  <a:gd name="T1" fmla="*/ 0 h 2169"/>
                  <a:gd name="T2" fmla="*/ 0 w 1"/>
                  <a:gd name="T3" fmla="*/ 2168 h 2169"/>
                  <a:gd name="T4" fmla="*/ 0 60000 65536"/>
                  <a:gd name="T5" fmla="*/ 0 60000 65536"/>
                  <a:gd name="T6" fmla="*/ 0 w 1"/>
                  <a:gd name="T7" fmla="*/ 0 h 2169"/>
                  <a:gd name="T8" fmla="*/ 1 w 1"/>
                  <a:gd name="T9" fmla="*/ 2169 h 216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169">
                    <a:moveTo>
                      <a:pt x="0" y="0"/>
                    </a:moveTo>
                    <a:lnTo>
                      <a:pt x="0" y="2168"/>
                    </a:lnTo>
                  </a:path>
                </a:pathLst>
              </a:custGeom>
              <a:noFill/>
              <a:ln w="12700" cap="rnd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23" name="Freeform 25"/>
              <p:cNvSpPr>
                <a:spLocks/>
              </p:cNvSpPr>
              <p:nvPr/>
            </p:nvSpPr>
            <p:spPr bwMode="auto">
              <a:xfrm>
                <a:off x="4582" y="936"/>
                <a:ext cx="1" cy="1542"/>
              </a:xfrm>
              <a:custGeom>
                <a:avLst/>
                <a:gdLst>
                  <a:gd name="T0" fmla="*/ 0 w 1"/>
                  <a:gd name="T1" fmla="*/ 0 h 1793"/>
                  <a:gd name="T2" fmla="*/ 0 w 1"/>
                  <a:gd name="T3" fmla="*/ 1792 h 1793"/>
                  <a:gd name="T4" fmla="*/ 0 60000 65536"/>
                  <a:gd name="T5" fmla="*/ 0 60000 65536"/>
                  <a:gd name="T6" fmla="*/ 0 w 1"/>
                  <a:gd name="T7" fmla="*/ 0 h 1793"/>
                  <a:gd name="T8" fmla="*/ 1 w 1"/>
                  <a:gd name="T9" fmla="*/ 1793 h 179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793">
                    <a:moveTo>
                      <a:pt x="0" y="0"/>
                    </a:moveTo>
                    <a:lnTo>
                      <a:pt x="0" y="1792"/>
                    </a:lnTo>
                  </a:path>
                </a:pathLst>
              </a:custGeom>
              <a:noFill/>
              <a:ln w="12700" cap="rnd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24" name="Rectangle 26"/>
              <p:cNvSpPr>
                <a:spLocks noChangeArrowheads="1"/>
              </p:cNvSpPr>
              <p:nvPr/>
            </p:nvSpPr>
            <p:spPr bwMode="auto">
              <a:xfrm>
                <a:off x="4360" y="2480"/>
                <a:ext cx="488" cy="75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025" name="Rectangle 27"/>
              <p:cNvSpPr>
                <a:spLocks noChangeArrowheads="1"/>
              </p:cNvSpPr>
              <p:nvPr/>
            </p:nvSpPr>
            <p:spPr bwMode="auto">
              <a:xfrm>
                <a:off x="4335" y="2526"/>
                <a:ext cx="30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addr</a:t>
                </a:r>
              </a:p>
            </p:txBody>
          </p:sp>
          <p:sp>
            <p:nvSpPr>
              <p:cNvPr id="81026" name="Rectangle 28"/>
              <p:cNvSpPr>
                <a:spLocks noChangeArrowheads="1"/>
              </p:cNvSpPr>
              <p:nvPr/>
            </p:nvSpPr>
            <p:spPr bwMode="auto">
              <a:xfrm>
                <a:off x="4335" y="3055"/>
                <a:ext cx="370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wdata</a:t>
                </a:r>
              </a:p>
            </p:txBody>
          </p:sp>
          <p:sp>
            <p:nvSpPr>
              <p:cNvPr id="81027" name="Rectangle 29"/>
              <p:cNvSpPr>
                <a:spLocks noChangeArrowheads="1"/>
              </p:cNvSpPr>
              <p:nvPr/>
            </p:nvSpPr>
            <p:spPr bwMode="auto">
              <a:xfrm>
                <a:off x="4554" y="2724"/>
                <a:ext cx="33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rdata</a:t>
                </a:r>
              </a:p>
            </p:txBody>
          </p:sp>
          <p:sp>
            <p:nvSpPr>
              <p:cNvPr id="81028" name="Rectangle 30"/>
              <p:cNvSpPr>
                <a:spLocks noChangeArrowheads="1"/>
              </p:cNvSpPr>
              <p:nvPr/>
            </p:nvSpPr>
            <p:spPr bwMode="auto">
              <a:xfrm>
                <a:off x="4351" y="2788"/>
                <a:ext cx="518" cy="32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Data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rgbClr val="56127A"/>
                    </a:solidFill>
                  </a:rPr>
                  <a:t>Memory</a:t>
                </a:r>
              </a:p>
            </p:txBody>
          </p:sp>
          <p:sp>
            <p:nvSpPr>
              <p:cNvPr id="81029" name="Rectangle 31"/>
              <p:cNvSpPr>
                <a:spLocks noChangeArrowheads="1"/>
              </p:cNvSpPr>
              <p:nvPr/>
            </p:nvSpPr>
            <p:spPr bwMode="auto">
              <a:xfrm>
                <a:off x="4455" y="2430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we</a:t>
                </a:r>
              </a:p>
            </p:txBody>
          </p:sp>
          <p:grpSp>
            <p:nvGrpSpPr>
              <p:cNvPr id="5" name="Group 32"/>
              <p:cNvGrpSpPr>
                <a:grpSpLocks/>
              </p:cNvGrpSpPr>
              <p:nvPr/>
            </p:nvGrpSpPr>
            <p:grpSpPr bwMode="auto">
              <a:xfrm>
                <a:off x="4388" y="2481"/>
                <a:ext cx="51" cy="55"/>
                <a:chOff x="2815" y="1407"/>
                <a:chExt cx="51" cy="55"/>
              </a:xfrm>
            </p:grpSpPr>
            <p:sp>
              <p:nvSpPr>
                <p:cNvPr id="81031" name="Line 33"/>
                <p:cNvSpPr>
                  <a:spLocks noChangeShapeType="1"/>
                </p:cNvSpPr>
                <p:nvPr/>
              </p:nvSpPr>
              <p:spPr bwMode="auto">
                <a:xfrm>
                  <a:off x="2815" y="1407"/>
                  <a:ext cx="24" cy="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032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2842" y="1410"/>
                  <a:ext cx="24" cy="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530225" y="2984500"/>
              <a:ext cx="6391275" cy="3506788"/>
              <a:chOff x="334" y="1880"/>
              <a:chExt cx="4026" cy="2209"/>
            </a:xfrm>
          </p:grpSpPr>
          <p:sp>
            <p:nvSpPr>
              <p:cNvPr id="80932" name="Line 36"/>
              <p:cNvSpPr>
                <a:spLocks noChangeShapeType="1"/>
              </p:cNvSpPr>
              <p:nvPr/>
            </p:nvSpPr>
            <p:spPr bwMode="auto">
              <a:xfrm>
                <a:off x="3750" y="2624"/>
                <a:ext cx="6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3" name="Freeform 37"/>
              <p:cNvSpPr>
                <a:spLocks/>
              </p:cNvSpPr>
              <p:nvPr/>
            </p:nvSpPr>
            <p:spPr bwMode="auto">
              <a:xfrm flipV="1">
                <a:off x="2590" y="2880"/>
                <a:ext cx="681" cy="193"/>
              </a:xfrm>
              <a:custGeom>
                <a:avLst/>
                <a:gdLst>
                  <a:gd name="T0" fmla="*/ 0 w 681"/>
                  <a:gd name="T1" fmla="*/ 0 h 193"/>
                  <a:gd name="T2" fmla="*/ 208 w 681"/>
                  <a:gd name="T3" fmla="*/ 0 h 193"/>
                  <a:gd name="T4" fmla="*/ 208 w 681"/>
                  <a:gd name="T5" fmla="*/ 192 h 193"/>
                  <a:gd name="T6" fmla="*/ 680 w 681"/>
                  <a:gd name="T7" fmla="*/ 192 h 19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1"/>
                  <a:gd name="T13" fmla="*/ 0 h 193"/>
                  <a:gd name="T14" fmla="*/ 681 w 681"/>
                  <a:gd name="T15" fmla="*/ 193 h 19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1" h="193">
                    <a:moveTo>
                      <a:pt x="0" y="0"/>
                    </a:moveTo>
                    <a:lnTo>
                      <a:pt x="208" y="0"/>
                    </a:lnTo>
                    <a:lnTo>
                      <a:pt x="208" y="192"/>
                    </a:lnTo>
                    <a:lnTo>
                      <a:pt x="680" y="192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4" name="Rectangle 38"/>
              <p:cNvSpPr>
                <a:spLocks noChangeArrowheads="1"/>
              </p:cNvSpPr>
              <p:nvPr/>
            </p:nvSpPr>
            <p:spPr bwMode="auto">
              <a:xfrm>
                <a:off x="1621" y="3913"/>
                <a:ext cx="425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 dirty="0" err="1">
                    <a:solidFill>
                      <a:srgbClr val="56127A"/>
                    </a:solidFill>
                  </a:rPr>
                  <a:t>WASel</a:t>
                </a:r>
                <a:endParaRPr lang="en-US" sz="1200" b="1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35" name="Freeform 39"/>
              <p:cNvSpPr>
                <a:spLocks/>
              </p:cNvSpPr>
              <p:nvPr/>
            </p:nvSpPr>
            <p:spPr bwMode="auto">
              <a:xfrm>
                <a:off x="552" y="1880"/>
                <a:ext cx="207" cy="633"/>
              </a:xfrm>
              <a:custGeom>
                <a:avLst/>
                <a:gdLst>
                  <a:gd name="T0" fmla="*/ 0 w 207"/>
                  <a:gd name="T1" fmla="*/ 632 h 633"/>
                  <a:gd name="T2" fmla="*/ 0 w 207"/>
                  <a:gd name="T3" fmla="*/ 56 h 633"/>
                  <a:gd name="T4" fmla="*/ 0 w 207"/>
                  <a:gd name="T5" fmla="*/ 0 h 633"/>
                  <a:gd name="T6" fmla="*/ 206 w 207"/>
                  <a:gd name="T7" fmla="*/ 0 h 63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7"/>
                  <a:gd name="T13" fmla="*/ 0 h 633"/>
                  <a:gd name="T14" fmla="*/ 207 w 207"/>
                  <a:gd name="T15" fmla="*/ 633 h 63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7" h="633">
                    <a:moveTo>
                      <a:pt x="0" y="632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206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6" name="Freeform 40"/>
              <p:cNvSpPr>
                <a:spLocks/>
              </p:cNvSpPr>
              <p:nvPr/>
            </p:nvSpPr>
            <p:spPr bwMode="auto">
              <a:xfrm>
                <a:off x="1382" y="2320"/>
                <a:ext cx="817" cy="193"/>
              </a:xfrm>
              <a:custGeom>
                <a:avLst/>
                <a:gdLst>
                  <a:gd name="T0" fmla="*/ 0 w 817"/>
                  <a:gd name="T1" fmla="*/ 192 h 193"/>
                  <a:gd name="T2" fmla="*/ 0 w 817"/>
                  <a:gd name="T3" fmla="*/ 0 h 193"/>
                  <a:gd name="T4" fmla="*/ 816 w 817"/>
                  <a:gd name="T5" fmla="*/ 0 h 193"/>
                  <a:gd name="T6" fmla="*/ 0 60000 65536"/>
                  <a:gd name="T7" fmla="*/ 0 60000 65536"/>
                  <a:gd name="T8" fmla="*/ 0 60000 65536"/>
                  <a:gd name="T9" fmla="*/ 0 w 817"/>
                  <a:gd name="T10" fmla="*/ 0 h 193"/>
                  <a:gd name="T11" fmla="*/ 817 w 817"/>
                  <a:gd name="T12" fmla="*/ 193 h 1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7" h="193">
                    <a:moveTo>
                      <a:pt x="0" y="192"/>
                    </a:moveTo>
                    <a:lnTo>
                      <a:pt x="0" y="0"/>
                    </a:lnTo>
                    <a:lnTo>
                      <a:pt x="81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7" name="Freeform 41"/>
              <p:cNvSpPr>
                <a:spLocks/>
              </p:cNvSpPr>
              <p:nvPr/>
            </p:nvSpPr>
            <p:spPr bwMode="auto">
              <a:xfrm>
                <a:off x="1382" y="2416"/>
                <a:ext cx="817" cy="1"/>
              </a:xfrm>
              <a:custGeom>
                <a:avLst/>
                <a:gdLst>
                  <a:gd name="T0" fmla="*/ 0 w 817"/>
                  <a:gd name="T1" fmla="*/ 0 h 1"/>
                  <a:gd name="T2" fmla="*/ 816 w 817"/>
                  <a:gd name="T3" fmla="*/ 0 h 1"/>
                  <a:gd name="T4" fmla="*/ 0 60000 65536"/>
                  <a:gd name="T5" fmla="*/ 0 60000 65536"/>
                  <a:gd name="T6" fmla="*/ 0 w 817"/>
                  <a:gd name="T7" fmla="*/ 0 h 1"/>
                  <a:gd name="T8" fmla="*/ 817 w 81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17" h="1">
                    <a:moveTo>
                      <a:pt x="0" y="0"/>
                    </a:moveTo>
                    <a:lnTo>
                      <a:pt x="81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8" name="Freeform 42"/>
              <p:cNvSpPr>
                <a:spLocks/>
              </p:cNvSpPr>
              <p:nvPr/>
            </p:nvSpPr>
            <p:spPr bwMode="auto">
              <a:xfrm>
                <a:off x="1382" y="2512"/>
                <a:ext cx="385" cy="193"/>
              </a:xfrm>
              <a:custGeom>
                <a:avLst/>
                <a:gdLst>
                  <a:gd name="T0" fmla="*/ 0 w 385"/>
                  <a:gd name="T1" fmla="*/ 0 h 193"/>
                  <a:gd name="T2" fmla="*/ 0 w 385"/>
                  <a:gd name="T3" fmla="*/ 192 h 193"/>
                  <a:gd name="T4" fmla="*/ 384 w 385"/>
                  <a:gd name="T5" fmla="*/ 192 h 193"/>
                  <a:gd name="T6" fmla="*/ 0 60000 65536"/>
                  <a:gd name="T7" fmla="*/ 0 60000 65536"/>
                  <a:gd name="T8" fmla="*/ 0 60000 65536"/>
                  <a:gd name="T9" fmla="*/ 0 w 385"/>
                  <a:gd name="T10" fmla="*/ 0 h 193"/>
                  <a:gd name="T11" fmla="*/ 385 w 385"/>
                  <a:gd name="T12" fmla="*/ 193 h 1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5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84" y="19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39" name="Freeform 43"/>
              <p:cNvSpPr>
                <a:spLocks/>
              </p:cNvSpPr>
              <p:nvPr/>
            </p:nvSpPr>
            <p:spPr bwMode="auto">
              <a:xfrm>
                <a:off x="1382" y="2704"/>
                <a:ext cx="817" cy="385"/>
              </a:xfrm>
              <a:custGeom>
                <a:avLst/>
                <a:gdLst>
                  <a:gd name="T0" fmla="*/ 0 w 817"/>
                  <a:gd name="T1" fmla="*/ 0 h 385"/>
                  <a:gd name="T2" fmla="*/ 0 w 817"/>
                  <a:gd name="T3" fmla="*/ 384 h 385"/>
                  <a:gd name="T4" fmla="*/ 816 w 817"/>
                  <a:gd name="T5" fmla="*/ 384 h 385"/>
                  <a:gd name="T6" fmla="*/ 0 60000 65536"/>
                  <a:gd name="T7" fmla="*/ 0 60000 65536"/>
                  <a:gd name="T8" fmla="*/ 0 60000 65536"/>
                  <a:gd name="T9" fmla="*/ 0 w 817"/>
                  <a:gd name="T10" fmla="*/ 0 h 385"/>
                  <a:gd name="T11" fmla="*/ 817 w 817"/>
                  <a:gd name="T12" fmla="*/ 385 h 3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7" h="385">
                    <a:moveTo>
                      <a:pt x="0" y="0"/>
                    </a:moveTo>
                    <a:lnTo>
                      <a:pt x="0" y="384"/>
                    </a:lnTo>
                    <a:lnTo>
                      <a:pt x="816" y="384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0" name="Freeform 44"/>
              <p:cNvSpPr>
                <a:spLocks/>
              </p:cNvSpPr>
              <p:nvPr/>
            </p:nvSpPr>
            <p:spPr bwMode="auto">
              <a:xfrm>
                <a:off x="1958" y="2608"/>
                <a:ext cx="241" cy="1"/>
              </a:xfrm>
              <a:custGeom>
                <a:avLst/>
                <a:gdLst>
                  <a:gd name="T0" fmla="*/ 0 w 241"/>
                  <a:gd name="T1" fmla="*/ 0 h 1"/>
                  <a:gd name="T2" fmla="*/ 240 w 241"/>
                  <a:gd name="T3" fmla="*/ 0 h 1"/>
                  <a:gd name="T4" fmla="*/ 0 60000 65536"/>
                  <a:gd name="T5" fmla="*/ 0 60000 65536"/>
                  <a:gd name="T6" fmla="*/ 0 w 241"/>
                  <a:gd name="T7" fmla="*/ 0 h 1"/>
                  <a:gd name="T8" fmla="*/ 241 w 241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1" h="1">
                    <a:moveTo>
                      <a:pt x="0" y="0"/>
                    </a:moveTo>
                    <a:lnTo>
                      <a:pt x="24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1" name="Freeform 45"/>
              <p:cNvSpPr>
                <a:spLocks/>
              </p:cNvSpPr>
              <p:nvPr/>
            </p:nvSpPr>
            <p:spPr bwMode="auto">
              <a:xfrm>
                <a:off x="2574" y="2512"/>
                <a:ext cx="897" cy="1"/>
              </a:xfrm>
              <a:custGeom>
                <a:avLst/>
                <a:gdLst>
                  <a:gd name="T0" fmla="*/ 0 w 897"/>
                  <a:gd name="T1" fmla="*/ 0 h 1"/>
                  <a:gd name="T2" fmla="*/ 896 w 897"/>
                  <a:gd name="T3" fmla="*/ 0 h 1"/>
                  <a:gd name="T4" fmla="*/ 0 60000 65536"/>
                  <a:gd name="T5" fmla="*/ 0 60000 65536"/>
                  <a:gd name="T6" fmla="*/ 0 w 897"/>
                  <a:gd name="T7" fmla="*/ 0 h 1"/>
                  <a:gd name="T8" fmla="*/ 897 w 89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97" h="1">
                    <a:moveTo>
                      <a:pt x="0" y="0"/>
                    </a:moveTo>
                    <a:lnTo>
                      <a:pt x="896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2" name="Freeform 46"/>
              <p:cNvSpPr>
                <a:spLocks/>
              </p:cNvSpPr>
              <p:nvPr/>
            </p:nvSpPr>
            <p:spPr bwMode="auto">
              <a:xfrm>
                <a:off x="1382" y="3088"/>
                <a:ext cx="1345" cy="241"/>
              </a:xfrm>
              <a:custGeom>
                <a:avLst/>
                <a:gdLst>
                  <a:gd name="T0" fmla="*/ 0 w 1345"/>
                  <a:gd name="T1" fmla="*/ 0 h 241"/>
                  <a:gd name="T2" fmla="*/ 0 w 1345"/>
                  <a:gd name="T3" fmla="*/ 240 h 241"/>
                  <a:gd name="T4" fmla="*/ 1344 w 1345"/>
                  <a:gd name="T5" fmla="*/ 240 h 241"/>
                  <a:gd name="T6" fmla="*/ 0 60000 65536"/>
                  <a:gd name="T7" fmla="*/ 0 60000 65536"/>
                  <a:gd name="T8" fmla="*/ 0 60000 65536"/>
                  <a:gd name="T9" fmla="*/ 0 w 1345"/>
                  <a:gd name="T10" fmla="*/ 0 h 241"/>
                  <a:gd name="T11" fmla="*/ 1345 w 1345"/>
                  <a:gd name="T12" fmla="*/ 241 h 2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45" h="241">
                    <a:moveTo>
                      <a:pt x="0" y="0"/>
                    </a:moveTo>
                    <a:lnTo>
                      <a:pt x="0" y="240"/>
                    </a:lnTo>
                    <a:lnTo>
                      <a:pt x="1344" y="24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3" name="Freeform 47"/>
              <p:cNvSpPr>
                <a:spLocks/>
              </p:cNvSpPr>
              <p:nvPr/>
            </p:nvSpPr>
            <p:spPr bwMode="auto">
              <a:xfrm>
                <a:off x="3094" y="2800"/>
                <a:ext cx="545" cy="521"/>
              </a:xfrm>
              <a:custGeom>
                <a:avLst/>
                <a:gdLst>
                  <a:gd name="T0" fmla="*/ 0 w 545"/>
                  <a:gd name="T1" fmla="*/ 520 h 521"/>
                  <a:gd name="T2" fmla="*/ 544 w 545"/>
                  <a:gd name="T3" fmla="*/ 520 h 521"/>
                  <a:gd name="T4" fmla="*/ 544 w 545"/>
                  <a:gd name="T5" fmla="*/ 0 h 521"/>
                  <a:gd name="T6" fmla="*/ 0 60000 65536"/>
                  <a:gd name="T7" fmla="*/ 0 60000 65536"/>
                  <a:gd name="T8" fmla="*/ 0 60000 65536"/>
                  <a:gd name="T9" fmla="*/ 0 w 545"/>
                  <a:gd name="T10" fmla="*/ 0 h 521"/>
                  <a:gd name="T11" fmla="*/ 545 w 545"/>
                  <a:gd name="T12" fmla="*/ 521 h 5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5" h="521">
                    <a:moveTo>
                      <a:pt x="0" y="520"/>
                    </a:moveTo>
                    <a:lnTo>
                      <a:pt x="544" y="520"/>
                    </a:lnTo>
                    <a:lnTo>
                      <a:pt x="544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4" name="Freeform 48"/>
              <p:cNvSpPr>
                <a:spLocks/>
              </p:cNvSpPr>
              <p:nvPr/>
            </p:nvSpPr>
            <p:spPr bwMode="auto">
              <a:xfrm>
                <a:off x="2542" y="2704"/>
                <a:ext cx="713" cy="27"/>
              </a:xfrm>
              <a:custGeom>
                <a:avLst/>
                <a:gdLst>
                  <a:gd name="T0" fmla="*/ 0 w 337"/>
                  <a:gd name="T1" fmla="*/ 0 h 1"/>
                  <a:gd name="T2" fmla="*/ 336 w 337"/>
                  <a:gd name="T3" fmla="*/ 0 h 1"/>
                  <a:gd name="T4" fmla="*/ 0 60000 65536"/>
                  <a:gd name="T5" fmla="*/ 0 60000 65536"/>
                  <a:gd name="T6" fmla="*/ 0 w 337"/>
                  <a:gd name="T7" fmla="*/ 0 h 1"/>
                  <a:gd name="T8" fmla="*/ 337 w 33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37" h="1">
                    <a:moveTo>
                      <a:pt x="0" y="0"/>
                    </a:moveTo>
                    <a:lnTo>
                      <a:pt x="336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5" name="Line 49"/>
              <p:cNvSpPr>
                <a:spLocks noChangeShapeType="1"/>
              </p:cNvSpPr>
              <p:nvPr/>
            </p:nvSpPr>
            <p:spPr bwMode="auto">
              <a:xfrm>
                <a:off x="1214" y="2608"/>
                <a:ext cx="1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6" name="Rectangle 50"/>
              <p:cNvSpPr>
                <a:spLocks noChangeArrowheads="1"/>
              </p:cNvSpPr>
              <p:nvPr/>
            </p:nvSpPr>
            <p:spPr bwMode="auto">
              <a:xfrm>
                <a:off x="3117" y="3916"/>
                <a:ext cx="44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 dirty="0">
                    <a:solidFill>
                      <a:srgbClr val="56127A"/>
                    </a:solidFill>
                  </a:rPr>
                  <a:t>Op2Sel</a:t>
                </a:r>
              </a:p>
            </p:txBody>
          </p:sp>
          <p:sp>
            <p:nvSpPr>
              <p:cNvPr id="80947" name="Oval 51"/>
              <p:cNvSpPr>
                <a:spLocks noChangeArrowheads="1"/>
              </p:cNvSpPr>
              <p:nvPr/>
            </p:nvSpPr>
            <p:spPr bwMode="auto">
              <a:xfrm>
                <a:off x="2786" y="2860"/>
                <a:ext cx="32" cy="3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8" name="Oval 52"/>
              <p:cNvSpPr>
                <a:spLocks noChangeArrowheads="1"/>
              </p:cNvSpPr>
              <p:nvPr/>
            </p:nvSpPr>
            <p:spPr bwMode="auto">
              <a:xfrm>
                <a:off x="1370" y="2596"/>
                <a:ext cx="32" cy="3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49" name="Oval 53"/>
              <p:cNvSpPr>
                <a:spLocks noChangeArrowheads="1"/>
              </p:cNvSpPr>
              <p:nvPr/>
            </p:nvSpPr>
            <p:spPr bwMode="auto">
              <a:xfrm>
                <a:off x="4098" y="2604"/>
                <a:ext cx="32" cy="3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0" name="Line 54"/>
              <p:cNvSpPr>
                <a:spLocks noChangeShapeType="1"/>
              </p:cNvSpPr>
              <p:nvPr/>
            </p:nvSpPr>
            <p:spPr bwMode="auto">
              <a:xfrm>
                <a:off x="1382" y="3332"/>
                <a:ext cx="0" cy="5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1" name="Rectangle 55"/>
              <p:cNvSpPr>
                <a:spLocks noChangeArrowheads="1"/>
              </p:cNvSpPr>
              <p:nvPr/>
            </p:nvSpPr>
            <p:spPr bwMode="auto">
              <a:xfrm>
                <a:off x="2197" y="3913"/>
                <a:ext cx="460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 dirty="0" err="1">
                    <a:solidFill>
                      <a:srgbClr val="56127A"/>
                    </a:solidFill>
                  </a:rPr>
                  <a:t>ImmSel</a:t>
                </a:r>
                <a:endParaRPr lang="en-US" sz="1200" b="1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52" name="Rectangle 56"/>
              <p:cNvSpPr>
                <a:spLocks noChangeArrowheads="1"/>
              </p:cNvSpPr>
              <p:nvPr/>
            </p:nvSpPr>
            <p:spPr bwMode="auto">
              <a:xfrm>
                <a:off x="1189" y="3913"/>
                <a:ext cx="48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>
                    <a:solidFill>
                      <a:srgbClr val="56127A"/>
                    </a:solidFill>
                  </a:rPr>
                  <a:t>OpCode</a:t>
                </a:r>
              </a:p>
            </p:txBody>
          </p:sp>
          <p:sp>
            <p:nvSpPr>
              <p:cNvPr id="80953" name="Line 57"/>
              <p:cNvSpPr>
                <a:spLocks noChangeShapeType="1"/>
              </p:cNvSpPr>
              <p:nvPr/>
            </p:nvSpPr>
            <p:spPr bwMode="auto">
              <a:xfrm flipH="1">
                <a:off x="1720" y="2704"/>
                <a:ext cx="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4" name="Line 58"/>
              <p:cNvSpPr>
                <a:spLocks noChangeShapeType="1"/>
              </p:cNvSpPr>
              <p:nvPr/>
            </p:nvSpPr>
            <p:spPr bwMode="auto">
              <a:xfrm flipH="1">
                <a:off x="1912" y="2608"/>
                <a:ext cx="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5" name="Line 59"/>
              <p:cNvSpPr>
                <a:spLocks noChangeShapeType="1"/>
              </p:cNvSpPr>
              <p:nvPr/>
            </p:nvSpPr>
            <p:spPr bwMode="auto">
              <a:xfrm>
                <a:off x="2154" y="2704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6" name="Line 60"/>
              <p:cNvSpPr>
                <a:spLocks noChangeShapeType="1"/>
              </p:cNvSpPr>
              <p:nvPr/>
            </p:nvSpPr>
            <p:spPr bwMode="auto">
              <a:xfrm>
                <a:off x="2154" y="2608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7" name="Line 61"/>
              <p:cNvSpPr>
                <a:spLocks noChangeShapeType="1"/>
              </p:cNvSpPr>
              <p:nvPr/>
            </p:nvSpPr>
            <p:spPr bwMode="auto">
              <a:xfrm>
                <a:off x="2154" y="2320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58" name="Line 62"/>
              <p:cNvSpPr>
                <a:spLocks noChangeShapeType="1"/>
              </p:cNvSpPr>
              <p:nvPr/>
            </p:nvSpPr>
            <p:spPr bwMode="auto">
              <a:xfrm>
                <a:off x="2154" y="2416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1" name="Line 65"/>
              <p:cNvSpPr>
                <a:spLocks noChangeShapeType="1"/>
              </p:cNvSpPr>
              <p:nvPr/>
            </p:nvSpPr>
            <p:spPr bwMode="auto">
              <a:xfrm>
                <a:off x="3450" y="2512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2" name="Line 66"/>
              <p:cNvSpPr>
                <a:spLocks noChangeShapeType="1"/>
              </p:cNvSpPr>
              <p:nvPr/>
            </p:nvSpPr>
            <p:spPr bwMode="auto">
              <a:xfrm>
                <a:off x="3638" y="2804"/>
                <a:ext cx="0" cy="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3" name="Freeform 67"/>
              <p:cNvSpPr>
                <a:spLocks/>
              </p:cNvSpPr>
              <p:nvPr/>
            </p:nvSpPr>
            <p:spPr bwMode="auto">
              <a:xfrm>
                <a:off x="3260" y="2656"/>
                <a:ext cx="145" cy="289"/>
              </a:xfrm>
              <a:custGeom>
                <a:avLst/>
                <a:gdLst>
                  <a:gd name="T0" fmla="*/ 144 w 145"/>
                  <a:gd name="T1" fmla="*/ 48 h 289"/>
                  <a:gd name="T2" fmla="*/ 144 w 145"/>
                  <a:gd name="T3" fmla="*/ 240 h 289"/>
                  <a:gd name="T4" fmla="*/ 0 w 145"/>
                  <a:gd name="T5" fmla="*/ 288 h 289"/>
                  <a:gd name="T6" fmla="*/ 0 w 145"/>
                  <a:gd name="T7" fmla="*/ 0 h 289"/>
                  <a:gd name="T8" fmla="*/ 144 w 145"/>
                  <a:gd name="T9" fmla="*/ 48 h 2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5"/>
                  <a:gd name="T16" fmla="*/ 0 h 289"/>
                  <a:gd name="T17" fmla="*/ 145 w 145"/>
                  <a:gd name="T18" fmla="*/ 289 h 2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5" h="289">
                    <a:moveTo>
                      <a:pt x="144" y="48"/>
                    </a:moveTo>
                    <a:lnTo>
                      <a:pt x="144" y="240"/>
                    </a:lnTo>
                    <a:lnTo>
                      <a:pt x="0" y="288"/>
                    </a:lnTo>
                    <a:lnTo>
                      <a:pt x="0" y="0"/>
                    </a:lnTo>
                    <a:lnTo>
                      <a:pt x="144" y="48"/>
                    </a:lnTo>
                  </a:path>
                </a:pathLst>
              </a:custGeom>
              <a:solidFill>
                <a:schemeClr val="bg1"/>
              </a:solidFill>
              <a:ln w="254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4" name="Line 68"/>
              <p:cNvSpPr>
                <a:spLocks noChangeShapeType="1"/>
              </p:cNvSpPr>
              <p:nvPr/>
            </p:nvSpPr>
            <p:spPr bwMode="auto">
              <a:xfrm flipH="1">
                <a:off x="3204" y="2896"/>
                <a:ext cx="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5" name="Line 69"/>
              <p:cNvSpPr>
                <a:spLocks noChangeShapeType="1"/>
              </p:cNvSpPr>
              <p:nvPr/>
            </p:nvSpPr>
            <p:spPr bwMode="auto">
              <a:xfrm flipH="1">
                <a:off x="3204" y="2704"/>
                <a:ext cx="6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6" name="Line 70"/>
              <p:cNvSpPr>
                <a:spLocks noChangeShapeType="1"/>
              </p:cNvSpPr>
              <p:nvPr/>
            </p:nvSpPr>
            <p:spPr bwMode="auto">
              <a:xfrm flipH="1">
                <a:off x="3396" y="2800"/>
                <a:ext cx="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7" name="Rectangle 71"/>
              <p:cNvSpPr>
                <a:spLocks noChangeArrowheads="1"/>
              </p:cNvSpPr>
              <p:nvPr/>
            </p:nvSpPr>
            <p:spPr bwMode="auto">
              <a:xfrm>
                <a:off x="2709" y="3913"/>
                <a:ext cx="492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b="1" dirty="0" err="1">
                    <a:solidFill>
                      <a:srgbClr val="56127A"/>
                    </a:solidFill>
                  </a:rPr>
                  <a:t>FuncSel</a:t>
                </a:r>
                <a:endParaRPr lang="en-US" sz="1200" b="1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68" name="Line 72"/>
              <p:cNvSpPr>
                <a:spLocks noChangeShapeType="1"/>
              </p:cNvSpPr>
              <p:nvPr/>
            </p:nvSpPr>
            <p:spPr bwMode="auto">
              <a:xfrm>
                <a:off x="2662" y="3328"/>
                <a:ext cx="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69" name="Rectangle 73"/>
              <p:cNvSpPr>
                <a:spLocks noChangeArrowheads="1"/>
              </p:cNvSpPr>
              <p:nvPr/>
            </p:nvSpPr>
            <p:spPr bwMode="auto">
              <a:xfrm>
                <a:off x="2141" y="1960"/>
                <a:ext cx="212" cy="15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rgbClr val="56127A"/>
                    </a:solidFill>
                  </a:rPr>
                  <a:t>clk</a:t>
                </a:r>
              </a:p>
            </p:txBody>
          </p:sp>
          <p:sp>
            <p:nvSpPr>
              <p:cNvPr id="80970" name="Line 74"/>
              <p:cNvSpPr>
                <a:spLocks noChangeShapeType="1"/>
              </p:cNvSpPr>
              <p:nvPr/>
            </p:nvSpPr>
            <p:spPr bwMode="auto">
              <a:xfrm>
                <a:off x="2254" y="2112"/>
                <a:ext cx="0" cy="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1" name="Oval 75"/>
              <p:cNvSpPr>
                <a:spLocks noChangeArrowheads="1"/>
              </p:cNvSpPr>
              <p:nvPr/>
            </p:nvSpPr>
            <p:spPr bwMode="auto">
              <a:xfrm>
                <a:off x="2994" y="2684"/>
                <a:ext cx="32" cy="3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2" name="Freeform 76"/>
              <p:cNvSpPr>
                <a:spLocks/>
              </p:cNvSpPr>
              <p:nvPr/>
            </p:nvSpPr>
            <p:spPr bwMode="auto">
              <a:xfrm>
                <a:off x="1830" y="2726"/>
                <a:ext cx="1" cy="1199"/>
              </a:xfrm>
              <a:custGeom>
                <a:avLst/>
                <a:gdLst>
                  <a:gd name="T0" fmla="*/ 0 w 1"/>
                  <a:gd name="T1" fmla="*/ 1344 h 1345"/>
                  <a:gd name="T2" fmla="*/ 0 w 1"/>
                  <a:gd name="T3" fmla="*/ 0 h 1345"/>
                  <a:gd name="T4" fmla="*/ 0 60000 65536"/>
                  <a:gd name="T5" fmla="*/ 0 60000 65536"/>
                  <a:gd name="T6" fmla="*/ 0 w 1"/>
                  <a:gd name="T7" fmla="*/ 0 h 1345"/>
                  <a:gd name="T8" fmla="*/ 1 w 1"/>
                  <a:gd name="T9" fmla="*/ 1345 h 13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345">
                    <a:moveTo>
                      <a:pt x="0" y="1344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3" name="Line 77"/>
              <p:cNvSpPr>
                <a:spLocks noChangeShapeType="1"/>
              </p:cNvSpPr>
              <p:nvPr/>
            </p:nvSpPr>
            <p:spPr bwMode="auto">
              <a:xfrm flipV="1">
                <a:off x="2382" y="3185"/>
                <a:ext cx="0" cy="76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4" name="Line 78"/>
              <p:cNvSpPr>
                <a:spLocks noChangeShapeType="1"/>
              </p:cNvSpPr>
              <p:nvPr/>
            </p:nvSpPr>
            <p:spPr bwMode="auto">
              <a:xfrm flipV="1">
                <a:off x="2886" y="3439"/>
                <a:ext cx="0" cy="51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5" name="Line 79"/>
              <p:cNvSpPr>
                <a:spLocks noChangeShapeType="1"/>
              </p:cNvSpPr>
              <p:nvPr/>
            </p:nvSpPr>
            <p:spPr bwMode="auto">
              <a:xfrm>
                <a:off x="3326" y="2908"/>
                <a:ext cx="0" cy="1027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 type="triangle" w="med" len="med"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78" name="Freeform 82"/>
              <p:cNvSpPr>
                <a:spLocks/>
              </p:cNvSpPr>
              <p:nvPr/>
            </p:nvSpPr>
            <p:spPr bwMode="auto">
              <a:xfrm>
                <a:off x="1773" y="2462"/>
                <a:ext cx="145" cy="289"/>
              </a:xfrm>
              <a:custGeom>
                <a:avLst/>
                <a:gdLst>
                  <a:gd name="T0" fmla="*/ 144 w 145"/>
                  <a:gd name="T1" fmla="*/ 48 h 289"/>
                  <a:gd name="T2" fmla="*/ 144 w 145"/>
                  <a:gd name="T3" fmla="*/ 240 h 289"/>
                  <a:gd name="T4" fmla="*/ 0 w 145"/>
                  <a:gd name="T5" fmla="*/ 288 h 289"/>
                  <a:gd name="T6" fmla="*/ 0 w 145"/>
                  <a:gd name="T7" fmla="*/ 0 h 289"/>
                  <a:gd name="T8" fmla="*/ 144 w 145"/>
                  <a:gd name="T9" fmla="*/ 48 h 2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5"/>
                  <a:gd name="T16" fmla="*/ 0 h 289"/>
                  <a:gd name="T17" fmla="*/ 145 w 145"/>
                  <a:gd name="T18" fmla="*/ 289 h 2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5" h="289">
                    <a:moveTo>
                      <a:pt x="144" y="48"/>
                    </a:moveTo>
                    <a:lnTo>
                      <a:pt x="144" y="240"/>
                    </a:lnTo>
                    <a:lnTo>
                      <a:pt x="0" y="288"/>
                    </a:lnTo>
                    <a:lnTo>
                      <a:pt x="0" y="0"/>
                    </a:lnTo>
                    <a:lnTo>
                      <a:pt x="144" y="48"/>
                    </a:lnTo>
                  </a:path>
                </a:pathLst>
              </a:cu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7" name="Group 84"/>
              <p:cNvGrpSpPr>
                <a:grpSpLocks/>
              </p:cNvGrpSpPr>
              <p:nvPr/>
            </p:nvGrpSpPr>
            <p:grpSpPr bwMode="auto">
              <a:xfrm>
                <a:off x="334" y="2330"/>
                <a:ext cx="890" cy="662"/>
                <a:chOff x="326" y="2386"/>
                <a:chExt cx="890" cy="662"/>
              </a:xfrm>
            </p:grpSpPr>
            <p:sp>
              <p:nvSpPr>
                <p:cNvPr id="81003" name="Rectangle 85"/>
                <p:cNvSpPr>
                  <a:spLocks noChangeArrowheads="1"/>
                </p:cNvSpPr>
                <p:nvPr/>
              </p:nvSpPr>
              <p:spPr bwMode="auto">
                <a:xfrm>
                  <a:off x="326" y="2766"/>
                  <a:ext cx="212" cy="15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000">
                      <a:solidFill>
                        <a:srgbClr val="56127A"/>
                      </a:solidFill>
                    </a:rPr>
                    <a:t>clk</a:t>
                  </a:r>
                </a:p>
              </p:txBody>
            </p:sp>
            <p:sp>
              <p:nvSpPr>
                <p:cNvPr id="81004" name="Line 86"/>
                <p:cNvSpPr>
                  <a:spLocks noChangeShapeType="1"/>
                </p:cNvSpPr>
                <p:nvPr/>
              </p:nvSpPr>
              <p:spPr bwMode="auto">
                <a:xfrm>
                  <a:off x="431" y="2742"/>
                  <a:ext cx="0" cy="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8" name="Group 87"/>
                <p:cNvGrpSpPr>
                  <a:grpSpLocks/>
                </p:cNvGrpSpPr>
                <p:nvPr/>
              </p:nvGrpSpPr>
              <p:grpSpPr bwMode="auto">
                <a:xfrm>
                  <a:off x="333" y="2386"/>
                  <a:ext cx="883" cy="662"/>
                  <a:chOff x="333" y="2386"/>
                  <a:chExt cx="883" cy="662"/>
                </a:xfrm>
              </p:grpSpPr>
              <p:sp>
                <p:nvSpPr>
                  <p:cNvPr id="81006" name="Freeform 88"/>
                  <p:cNvSpPr>
                    <a:spLocks/>
                  </p:cNvSpPr>
                  <p:nvPr/>
                </p:nvSpPr>
                <p:spPr bwMode="auto">
                  <a:xfrm>
                    <a:off x="517" y="2567"/>
                    <a:ext cx="189" cy="1"/>
                  </a:xfrm>
                  <a:custGeom>
                    <a:avLst/>
                    <a:gdLst>
                      <a:gd name="T0" fmla="*/ 0 w 189"/>
                      <a:gd name="T1" fmla="*/ 0 h 1"/>
                      <a:gd name="T2" fmla="*/ 141 w 189"/>
                      <a:gd name="T3" fmla="*/ 0 h 1"/>
                      <a:gd name="T4" fmla="*/ 188 w 18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89"/>
                      <a:gd name="T10" fmla="*/ 0 h 1"/>
                      <a:gd name="T11" fmla="*/ 189 w 18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89" h="1">
                        <a:moveTo>
                          <a:pt x="0" y="0"/>
                        </a:moveTo>
                        <a:lnTo>
                          <a:pt x="141" y="0"/>
                        </a:lnTo>
                        <a:lnTo>
                          <a:pt x="188" y="0"/>
                        </a:lnTo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9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684" y="2452"/>
                    <a:ext cx="532" cy="596"/>
                    <a:chOff x="684" y="2452"/>
                    <a:chExt cx="532" cy="596"/>
                  </a:xfrm>
                </p:grpSpPr>
                <p:sp>
                  <p:nvSpPr>
                    <p:cNvPr id="81012" name="Rectangle 9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17" y="2454"/>
                      <a:ext cx="466" cy="576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prstTxWarp prst="textNoShape">
                        <a:avLst/>
                      </a:prstTxWarp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1013" name="Rectangle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84" y="2452"/>
                      <a:ext cx="306" cy="171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0488" tIns="44450" rIns="90488" bIns="44450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sz="1200">
                          <a:solidFill>
                            <a:srgbClr val="56127A"/>
                          </a:solidFill>
                        </a:rPr>
                        <a:t>addr</a:t>
                      </a:r>
                    </a:p>
                  </p:txBody>
                </p:sp>
                <p:sp>
                  <p:nvSpPr>
                    <p:cNvPr id="81014" name="Rectangl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53" y="2554"/>
                      <a:ext cx="263" cy="171"/>
                    </a:xfrm>
                    <a:prstGeom prst="rect">
                      <a:avLst/>
                    </a:prstGeom>
                    <a:noFill/>
                    <a:ln w="12700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0488" tIns="44450" rIns="90488" bIns="44450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sz="1200">
                          <a:solidFill>
                            <a:srgbClr val="56127A"/>
                          </a:solidFill>
                        </a:rPr>
                        <a:t>inst</a:t>
                      </a:r>
                    </a:p>
                  </p:txBody>
                </p:sp>
                <p:sp>
                  <p:nvSpPr>
                    <p:cNvPr id="81015" name="Rectangle 9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91" y="2724"/>
                      <a:ext cx="518" cy="324"/>
                    </a:xfrm>
                    <a:prstGeom prst="rect">
                      <a:avLst/>
                    </a:prstGeom>
                    <a:noFill/>
                    <a:ln w="25400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0488" tIns="44450" rIns="90488" bIns="44450">
                      <a:prstTxWarp prst="textNoShape">
                        <a:avLst/>
                      </a:prstTxWarp>
                      <a:spAutoFit/>
                    </a:bodyPr>
                    <a:lstStyle/>
                    <a:p>
                      <a:pPr>
                        <a:spcBef>
                          <a:spcPct val="0"/>
                        </a:spcBef>
                      </a:pPr>
                      <a:r>
                        <a:rPr lang="en-US" sz="1400">
                          <a:solidFill>
                            <a:srgbClr val="56127A"/>
                          </a:solidFill>
                        </a:rPr>
                        <a:t>Inst.</a:t>
                      </a:r>
                    </a:p>
                    <a:p>
                      <a:pPr>
                        <a:spcBef>
                          <a:spcPct val="0"/>
                        </a:spcBef>
                      </a:pPr>
                      <a:r>
                        <a:rPr lang="en-US" sz="1400">
                          <a:solidFill>
                            <a:srgbClr val="56127A"/>
                          </a:solidFill>
                        </a:rPr>
                        <a:t>Memory</a:t>
                      </a:r>
                    </a:p>
                  </p:txBody>
                </p:sp>
              </p:grpSp>
              <p:sp>
                <p:nvSpPr>
                  <p:cNvPr id="81008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382" y="2386"/>
                    <a:ext cx="127" cy="362"/>
                  </a:xfrm>
                  <a:prstGeom prst="rect">
                    <a:avLst/>
                  </a:prstGeom>
                  <a:noFill/>
                  <a:ln w="254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009" name="Line 95"/>
                  <p:cNvSpPr>
                    <a:spLocks noChangeShapeType="1"/>
                  </p:cNvSpPr>
                  <p:nvPr/>
                </p:nvSpPr>
                <p:spPr bwMode="auto">
                  <a:xfrm>
                    <a:off x="525" y="2567"/>
                    <a:ext cx="30" cy="0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010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333" y="2494"/>
                    <a:ext cx="247" cy="171"/>
                  </a:xfrm>
                  <a:prstGeom prst="rect">
                    <a:avLst/>
                  </a:prstGeom>
                  <a:noFill/>
                  <a:ln w="254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prstTxWarp prst="textNoShape">
                      <a:avLst/>
                    </a:prstTxWarp>
                    <a:spAutoFit/>
                  </a:bodyPr>
                  <a:lstStyle/>
                  <a:p>
                    <a:pPr>
                      <a:spcBef>
                        <a:spcPct val="0"/>
                      </a:spcBef>
                    </a:pPr>
                    <a:r>
                      <a:rPr lang="en-US" sz="1200">
                        <a:solidFill>
                          <a:srgbClr val="56127A"/>
                        </a:solidFill>
                      </a:rPr>
                      <a:t>PC</a:t>
                    </a:r>
                  </a:p>
                </p:txBody>
              </p:sp>
              <p:sp>
                <p:nvSpPr>
                  <p:cNvPr id="81011" name="Freeform 97"/>
                  <p:cNvSpPr>
                    <a:spLocks/>
                  </p:cNvSpPr>
                  <p:nvPr/>
                </p:nvSpPr>
                <p:spPr bwMode="auto">
                  <a:xfrm>
                    <a:off x="422" y="2701"/>
                    <a:ext cx="48" cy="48"/>
                  </a:xfrm>
                  <a:custGeom>
                    <a:avLst/>
                    <a:gdLst>
                      <a:gd name="T0" fmla="*/ 0 w 48"/>
                      <a:gd name="T1" fmla="*/ 47 h 48"/>
                      <a:gd name="T2" fmla="*/ 24 w 48"/>
                      <a:gd name="T3" fmla="*/ 0 h 48"/>
                      <a:gd name="T4" fmla="*/ 47 w 48"/>
                      <a:gd name="T5" fmla="*/ 47 h 48"/>
                      <a:gd name="T6" fmla="*/ 0 60000 65536"/>
                      <a:gd name="T7" fmla="*/ 0 60000 65536"/>
                      <a:gd name="T8" fmla="*/ 0 60000 65536"/>
                      <a:gd name="T9" fmla="*/ 0 w 48"/>
                      <a:gd name="T10" fmla="*/ 0 h 48"/>
                      <a:gd name="T11" fmla="*/ 48 w 48"/>
                      <a:gd name="T12" fmla="*/ 48 h 4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8" h="48">
                        <a:moveTo>
                          <a:pt x="0" y="47"/>
                        </a:moveTo>
                        <a:lnTo>
                          <a:pt x="24" y="0"/>
                        </a:lnTo>
                        <a:lnTo>
                          <a:pt x="47" y="47"/>
                        </a:lnTo>
                      </a:path>
                    </a:pathLst>
                  </a:custGeom>
                  <a:noFill/>
                  <a:ln w="25400" cap="rnd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80981" name="Rectangle 98"/>
              <p:cNvSpPr>
                <a:spLocks noChangeArrowheads="1"/>
              </p:cNvSpPr>
              <p:nvPr/>
            </p:nvSpPr>
            <p:spPr bwMode="auto">
              <a:xfrm>
                <a:off x="2201" y="2185"/>
                <a:ext cx="360" cy="67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982" name="Rectangle 99"/>
              <p:cNvSpPr>
                <a:spLocks noChangeArrowheads="1"/>
              </p:cNvSpPr>
              <p:nvPr/>
            </p:nvSpPr>
            <p:spPr bwMode="auto">
              <a:xfrm>
                <a:off x="2355" y="2439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>
                    <a:solidFill>
                      <a:srgbClr val="56127A"/>
                    </a:solidFill>
                  </a:rPr>
                  <a:t>rd1</a:t>
                </a:r>
              </a:p>
            </p:txBody>
          </p:sp>
          <p:sp>
            <p:nvSpPr>
              <p:cNvPr id="80983" name="Rectangle 100"/>
              <p:cNvSpPr>
                <a:spLocks noChangeArrowheads="1"/>
              </p:cNvSpPr>
              <p:nvPr/>
            </p:nvSpPr>
            <p:spPr bwMode="auto">
              <a:xfrm>
                <a:off x="2184" y="2693"/>
                <a:ext cx="413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 dirty="0" err="1">
                    <a:solidFill>
                      <a:srgbClr val="56127A"/>
                    </a:solidFill>
                  </a:rPr>
                  <a:t>GPRs</a:t>
                </a:r>
                <a:endParaRPr lang="en-US" sz="14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84" name="Rectangle 101"/>
              <p:cNvSpPr>
                <a:spLocks noChangeArrowheads="1"/>
              </p:cNvSpPr>
              <p:nvPr/>
            </p:nvSpPr>
            <p:spPr bwMode="auto">
              <a:xfrm>
                <a:off x="2168" y="2246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rs1</a:t>
                </a:r>
              </a:p>
            </p:txBody>
          </p:sp>
          <p:sp>
            <p:nvSpPr>
              <p:cNvPr id="80985" name="Rectangle 102"/>
              <p:cNvSpPr>
                <a:spLocks noChangeArrowheads="1"/>
              </p:cNvSpPr>
              <p:nvPr/>
            </p:nvSpPr>
            <p:spPr bwMode="auto">
              <a:xfrm>
                <a:off x="2168" y="2341"/>
                <a:ext cx="24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rs2</a:t>
                </a:r>
              </a:p>
            </p:txBody>
          </p:sp>
          <p:sp>
            <p:nvSpPr>
              <p:cNvPr id="80986" name="Rectangle 103"/>
              <p:cNvSpPr>
                <a:spLocks noChangeArrowheads="1"/>
              </p:cNvSpPr>
              <p:nvPr/>
            </p:nvSpPr>
            <p:spPr bwMode="auto">
              <a:xfrm>
                <a:off x="2168" y="2522"/>
                <a:ext cx="239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wa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87" name="Rectangle 104"/>
              <p:cNvSpPr>
                <a:spLocks noChangeArrowheads="1"/>
              </p:cNvSpPr>
              <p:nvPr/>
            </p:nvSpPr>
            <p:spPr bwMode="auto">
              <a:xfrm>
                <a:off x="2168" y="2614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rgbClr val="56127A"/>
                    </a:solidFill>
                  </a:rPr>
                  <a:t>wd</a:t>
                </a:r>
                <a:endParaRPr lang="en-US" sz="1200" dirty="0">
                  <a:solidFill>
                    <a:srgbClr val="56127A"/>
                  </a:solidFill>
                </a:endParaRPr>
              </a:p>
            </p:txBody>
          </p:sp>
          <p:sp>
            <p:nvSpPr>
              <p:cNvPr id="80988" name="Rectangle 105"/>
              <p:cNvSpPr>
                <a:spLocks noChangeArrowheads="1"/>
              </p:cNvSpPr>
              <p:nvPr/>
            </p:nvSpPr>
            <p:spPr bwMode="auto">
              <a:xfrm>
                <a:off x="2360" y="2615"/>
                <a:ext cx="25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rd2</a:t>
                </a:r>
              </a:p>
            </p:txBody>
          </p:sp>
          <p:sp>
            <p:nvSpPr>
              <p:cNvPr id="80989" name="Rectangle 106"/>
              <p:cNvSpPr>
                <a:spLocks noChangeArrowheads="1"/>
              </p:cNvSpPr>
              <p:nvPr/>
            </p:nvSpPr>
            <p:spPr bwMode="auto">
              <a:xfrm>
                <a:off x="2293" y="2143"/>
                <a:ext cx="237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rgbClr val="56127A"/>
                    </a:solidFill>
                  </a:rPr>
                  <a:t>we</a:t>
                </a:r>
              </a:p>
            </p:txBody>
          </p:sp>
          <p:grpSp>
            <p:nvGrpSpPr>
              <p:cNvPr id="10" name="Group 107"/>
              <p:cNvGrpSpPr>
                <a:grpSpLocks/>
              </p:cNvGrpSpPr>
              <p:nvPr/>
            </p:nvGrpSpPr>
            <p:grpSpPr bwMode="auto">
              <a:xfrm>
                <a:off x="2200" y="2940"/>
                <a:ext cx="401" cy="289"/>
                <a:chOff x="2192" y="2996"/>
                <a:chExt cx="401" cy="289"/>
              </a:xfrm>
            </p:grpSpPr>
            <p:sp>
              <p:nvSpPr>
                <p:cNvPr id="81001" name="Rectangle 108"/>
                <p:cNvSpPr>
                  <a:spLocks noChangeArrowheads="1"/>
                </p:cNvSpPr>
                <p:nvPr/>
              </p:nvSpPr>
              <p:spPr bwMode="auto">
                <a:xfrm>
                  <a:off x="2192" y="3030"/>
                  <a:ext cx="360" cy="19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002" name="Rectangle 109"/>
                <p:cNvSpPr>
                  <a:spLocks noChangeArrowheads="1"/>
                </p:cNvSpPr>
                <p:nvPr/>
              </p:nvSpPr>
              <p:spPr bwMode="auto">
                <a:xfrm>
                  <a:off x="2208" y="2996"/>
                  <a:ext cx="385" cy="289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 dirty="0" err="1">
                      <a:solidFill>
                        <a:srgbClr val="56127A"/>
                      </a:solidFill>
                    </a:rPr>
                    <a:t>Imm</a:t>
                  </a:r>
                  <a:endParaRPr lang="en-US" sz="1200" dirty="0">
                    <a:solidFill>
                      <a:srgbClr val="56127A"/>
                    </a:solidFill>
                  </a:endParaRPr>
                </a:p>
                <a:p>
                  <a:pPr algn="ctr">
                    <a:spcBef>
                      <a:spcPct val="0"/>
                    </a:spcBef>
                  </a:pPr>
                  <a:r>
                    <a:rPr lang="en-US" sz="1200" dirty="0">
                      <a:solidFill>
                        <a:srgbClr val="56127A"/>
                      </a:solidFill>
                    </a:rPr>
                    <a:t>Select</a:t>
                  </a:r>
                </a:p>
              </p:txBody>
            </p:sp>
          </p:grpSp>
          <p:grpSp>
            <p:nvGrpSpPr>
              <p:cNvPr id="11" name="Group 110"/>
              <p:cNvGrpSpPr>
                <a:grpSpLocks/>
              </p:cNvGrpSpPr>
              <p:nvPr/>
            </p:nvGrpSpPr>
            <p:grpSpPr bwMode="auto">
              <a:xfrm>
                <a:off x="3472" y="2460"/>
                <a:ext cx="301" cy="380"/>
                <a:chOff x="3464" y="2516"/>
                <a:chExt cx="301" cy="380"/>
              </a:xfrm>
            </p:grpSpPr>
            <p:sp>
              <p:nvSpPr>
                <p:cNvPr id="80999" name="Freeform 111"/>
                <p:cNvSpPr>
                  <a:spLocks/>
                </p:cNvSpPr>
                <p:nvPr/>
              </p:nvSpPr>
              <p:spPr bwMode="auto">
                <a:xfrm>
                  <a:off x="3487" y="2516"/>
                  <a:ext cx="236" cy="380"/>
                </a:xfrm>
                <a:custGeom>
                  <a:avLst/>
                  <a:gdLst>
                    <a:gd name="T0" fmla="*/ 0 w 236"/>
                    <a:gd name="T1" fmla="*/ 0 h 380"/>
                    <a:gd name="T2" fmla="*/ 0 w 236"/>
                    <a:gd name="T3" fmla="*/ 158 h 380"/>
                    <a:gd name="T4" fmla="*/ 47 w 236"/>
                    <a:gd name="T5" fmla="*/ 190 h 380"/>
                    <a:gd name="T6" fmla="*/ 0 w 236"/>
                    <a:gd name="T7" fmla="*/ 221 h 380"/>
                    <a:gd name="T8" fmla="*/ 0 w 236"/>
                    <a:gd name="T9" fmla="*/ 379 h 380"/>
                    <a:gd name="T10" fmla="*/ 235 w 236"/>
                    <a:gd name="T11" fmla="*/ 284 h 380"/>
                    <a:gd name="T12" fmla="*/ 235 w 236"/>
                    <a:gd name="T13" fmla="*/ 95 h 380"/>
                    <a:gd name="T14" fmla="*/ 0 w 236"/>
                    <a:gd name="T15" fmla="*/ 0 h 38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36"/>
                    <a:gd name="T25" fmla="*/ 0 h 380"/>
                    <a:gd name="T26" fmla="*/ 236 w 236"/>
                    <a:gd name="T27" fmla="*/ 380 h 38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36" h="380">
                      <a:moveTo>
                        <a:pt x="0" y="0"/>
                      </a:moveTo>
                      <a:lnTo>
                        <a:pt x="0" y="158"/>
                      </a:lnTo>
                      <a:lnTo>
                        <a:pt x="47" y="190"/>
                      </a:lnTo>
                      <a:lnTo>
                        <a:pt x="0" y="221"/>
                      </a:lnTo>
                      <a:lnTo>
                        <a:pt x="0" y="379"/>
                      </a:lnTo>
                      <a:lnTo>
                        <a:pt x="235" y="284"/>
                      </a:lnTo>
                      <a:lnTo>
                        <a:pt x="235" y="9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25400" cap="rnd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000" name="Rectangle 112"/>
                <p:cNvSpPr>
                  <a:spLocks noChangeArrowheads="1"/>
                </p:cNvSpPr>
                <p:nvPr/>
              </p:nvSpPr>
              <p:spPr bwMode="auto">
                <a:xfrm>
                  <a:off x="3464" y="2634"/>
                  <a:ext cx="301" cy="17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ALU</a:t>
                  </a:r>
                </a:p>
              </p:txBody>
            </p:sp>
          </p:grpSp>
          <p:grpSp>
            <p:nvGrpSpPr>
              <p:cNvPr id="12" name="Group 113"/>
              <p:cNvGrpSpPr>
                <a:grpSpLocks/>
              </p:cNvGrpSpPr>
              <p:nvPr/>
            </p:nvGrpSpPr>
            <p:grpSpPr bwMode="auto">
              <a:xfrm>
                <a:off x="2228" y="2184"/>
                <a:ext cx="51" cy="55"/>
                <a:chOff x="2815" y="1407"/>
                <a:chExt cx="51" cy="55"/>
              </a:xfrm>
            </p:grpSpPr>
            <p:sp>
              <p:nvSpPr>
                <p:cNvPr id="80997" name="Line 114"/>
                <p:cNvSpPr>
                  <a:spLocks noChangeShapeType="1"/>
                </p:cNvSpPr>
                <p:nvPr/>
              </p:nvSpPr>
              <p:spPr bwMode="auto">
                <a:xfrm>
                  <a:off x="2815" y="1407"/>
                  <a:ext cx="24" cy="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998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2842" y="1410"/>
                  <a:ext cx="24" cy="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16"/>
              <p:cNvGrpSpPr>
                <a:grpSpLocks/>
              </p:cNvGrpSpPr>
              <p:nvPr/>
            </p:nvGrpSpPr>
            <p:grpSpPr bwMode="auto">
              <a:xfrm>
                <a:off x="2711" y="3226"/>
                <a:ext cx="423" cy="228"/>
                <a:chOff x="2576" y="2405"/>
                <a:chExt cx="423" cy="228"/>
              </a:xfrm>
            </p:grpSpPr>
            <p:sp>
              <p:nvSpPr>
                <p:cNvPr id="80995" name="Rectangle 117"/>
                <p:cNvSpPr>
                  <a:spLocks noChangeArrowheads="1"/>
                </p:cNvSpPr>
                <p:nvPr/>
              </p:nvSpPr>
              <p:spPr bwMode="auto">
                <a:xfrm>
                  <a:off x="2609" y="2405"/>
                  <a:ext cx="361" cy="197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996" name="Rectangle 118"/>
                <p:cNvSpPr>
                  <a:spLocks noChangeArrowheads="1"/>
                </p:cNvSpPr>
                <p:nvPr/>
              </p:nvSpPr>
              <p:spPr bwMode="auto">
                <a:xfrm>
                  <a:off x="2576" y="2405"/>
                  <a:ext cx="423" cy="228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 algn="ctr">
                    <a:lnSpc>
                      <a:spcPct val="75000"/>
                    </a:lnSpc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ALU</a:t>
                  </a:r>
                </a:p>
                <a:p>
                  <a:pPr algn="ctr">
                    <a:lnSpc>
                      <a:spcPct val="75000"/>
                    </a:lnSpc>
                    <a:spcBef>
                      <a:spcPct val="0"/>
                    </a:spcBef>
                  </a:pPr>
                  <a:r>
                    <a:rPr lang="en-US" sz="1200">
                      <a:solidFill>
                        <a:srgbClr val="56127A"/>
                      </a:solidFill>
                    </a:rPr>
                    <a:t>Control</a:t>
                  </a:r>
                </a:p>
              </p:txBody>
            </p:sp>
          </p:grpSp>
          <p:sp>
            <p:nvSpPr>
              <p:cNvPr id="80994" name="Freeform 119"/>
              <p:cNvSpPr>
                <a:spLocks/>
              </p:cNvSpPr>
              <p:nvPr/>
            </p:nvSpPr>
            <p:spPr bwMode="auto">
              <a:xfrm flipV="1">
                <a:off x="3006" y="2704"/>
                <a:ext cx="1354" cy="433"/>
              </a:xfrm>
              <a:custGeom>
                <a:avLst/>
                <a:gdLst>
                  <a:gd name="T0" fmla="*/ 0 w 1505"/>
                  <a:gd name="T1" fmla="*/ 200 h 201"/>
                  <a:gd name="T2" fmla="*/ 0 w 1505"/>
                  <a:gd name="T3" fmla="*/ 0 h 201"/>
                  <a:gd name="T4" fmla="*/ 1504 w 1505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1505"/>
                  <a:gd name="T10" fmla="*/ 0 h 201"/>
                  <a:gd name="T11" fmla="*/ 1505 w 1505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5" h="201">
                    <a:moveTo>
                      <a:pt x="0" y="200"/>
                    </a:moveTo>
                    <a:lnTo>
                      <a:pt x="0" y="0"/>
                    </a:lnTo>
                    <a:lnTo>
                      <a:pt x="1504" y="0"/>
                    </a:lnTo>
                  </a:path>
                </a:pathLst>
              </a:custGeom>
              <a:noFill/>
              <a:ln w="25400" cap="rnd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80914" name="Freeform 120"/>
            <p:cNvSpPr>
              <a:spLocks/>
            </p:cNvSpPr>
            <p:nvPr/>
          </p:nvSpPr>
          <p:spPr bwMode="auto">
            <a:xfrm>
              <a:off x="4445000" y="3149600"/>
              <a:ext cx="1104900" cy="1409700"/>
            </a:xfrm>
            <a:custGeom>
              <a:avLst/>
              <a:gdLst>
                <a:gd name="T0" fmla="*/ 0 w 696"/>
                <a:gd name="T1" fmla="*/ 888 h 888"/>
                <a:gd name="T2" fmla="*/ 0 w 696"/>
                <a:gd name="T3" fmla="*/ 0 h 888"/>
                <a:gd name="T4" fmla="*/ 696 w 696"/>
                <a:gd name="T5" fmla="*/ 0 h 888"/>
                <a:gd name="T6" fmla="*/ 0 60000 65536"/>
                <a:gd name="T7" fmla="*/ 0 60000 65536"/>
                <a:gd name="T8" fmla="*/ 0 60000 65536"/>
                <a:gd name="T9" fmla="*/ 0 w 696"/>
                <a:gd name="T10" fmla="*/ 0 h 888"/>
                <a:gd name="T11" fmla="*/ 696 w 696"/>
                <a:gd name="T12" fmla="*/ 888 h 8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888">
                  <a:moveTo>
                    <a:pt x="0" y="888"/>
                  </a:moveTo>
                  <a:lnTo>
                    <a:pt x="0" y="0"/>
                  </a:lnTo>
                  <a:lnTo>
                    <a:pt x="69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5" name="Freeform 121"/>
            <p:cNvSpPr>
              <a:spLocks/>
            </p:cNvSpPr>
            <p:nvPr/>
          </p:nvSpPr>
          <p:spPr bwMode="auto">
            <a:xfrm>
              <a:off x="4432300" y="2349500"/>
              <a:ext cx="3859213" cy="2514600"/>
            </a:xfrm>
            <a:custGeom>
              <a:avLst/>
              <a:gdLst>
                <a:gd name="T0" fmla="*/ 0 w 2408"/>
                <a:gd name="T1" fmla="*/ 280 h 1632"/>
                <a:gd name="T2" fmla="*/ 0 w 2408"/>
                <a:gd name="T3" fmla="*/ 0 h 1632"/>
                <a:gd name="T4" fmla="*/ 2192 w 2408"/>
                <a:gd name="T5" fmla="*/ 0 h 1632"/>
                <a:gd name="T6" fmla="*/ 2200 w 2408"/>
                <a:gd name="T7" fmla="*/ 1632 h 1632"/>
                <a:gd name="T8" fmla="*/ 2408 w 2408"/>
                <a:gd name="T9" fmla="*/ 1632 h 1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8"/>
                <a:gd name="T16" fmla="*/ 0 h 1632"/>
                <a:gd name="T17" fmla="*/ 2408 w 2408"/>
                <a:gd name="T18" fmla="*/ 1632 h 16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8" h="1632">
                  <a:moveTo>
                    <a:pt x="0" y="280"/>
                  </a:moveTo>
                  <a:lnTo>
                    <a:pt x="0" y="0"/>
                  </a:lnTo>
                  <a:lnTo>
                    <a:pt x="2192" y="0"/>
                  </a:lnTo>
                  <a:lnTo>
                    <a:pt x="2200" y="1632"/>
                  </a:lnTo>
                  <a:lnTo>
                    <a:pt x="2408" y="16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6" name="Line 122"/>
            <p:cNvSpPr>
              <a:spLocks noChangeShapeType="1"/>
            </p:cNvSpPr>
            <p:nvPr/>
          </p:nvSpPr>
          <p:spPr bwMode="auto">
            <a:xfrm>
              <a:off x="2565400" y="4025900"/>
              <a:ext cx="266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7" name="Text Box 123"/>
            <p:cNvSpPr txBox="1">
              <a:spLocks noChangeArrowheads="1"/>
            </p:cNvSpPr>
            <p:nvPr/>
          </p:nvSpPr>
          <p:spPr bwMode="auto">
            <a:xfrm>
              <a:off x="2473325" y="3821113"/>
              <a:ext cx="27701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 dirty="0">
                  <a:solidFill>
                    <a:srgbClr val="56127A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80918" name="Freeform 124"/>
            <p:cNvSpPr>
              <a:spLocks/>
            </p:cNvSpPr>
            <p:nvPr/>
          </p:nvSpPr>
          <p:spPr bwMode="auto">
            <a:xfrm>
              <a:off x="1371600" y="1836738"/>
              <a:ext cx="3479292" cy="272882"/>
            </a:xfrm>
            <a:custGeom>
              <a:avLst/>
              <a:gdLst>
                <a:gd name="T0" fmla="*/ 2284 w 2284"/>
                <a:gd name="T1" fmla="*/ 1356 h 1356"/>
                <a:gd name="T2" fmla="*/ 2280 w 2284"/>
                <a:gd name="T3" fmla="*/ 0 h 1356"/>
                <a:gd name="T4" fmla="*/ 0 w 2284"/>
                <a:gd name="T5" fmla="*/ 1 h 1356"/>
                <a:gd name="T6" fmla="*/ 0 60000 65536"/>
                <a:gd name="T7" fmla="*/ 0 60000 65536"/>
                <a:gd name="T8" fmla="*/ 0 60000 65536"/>
                <a:gd name="T9" fmla="*/ 0 w 2284"/>
                <a:gd name="T10" fmla="*/ 0 h 1356"/>
                <a:gd name="T11" fmla="*/ 2284 w 2284"/>
                <a:gd name="T12" fmla="*/ 1356 h 13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4" h="1356">
                  <a:moveTo>
                    <a:pt x="2284" y="1356"/>
                  </a:moveTo>
                  <a:lnTo>
                    <a:pt x="2280" y="0"/>
                  </a:lnTo>
                  <a:lnTo>
                    <a:pt x="0" y="1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oval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19" name="Rectangle 125"/>
            <p:cNvSpPr>
              <a:spLocks noChangeArrowheads="1"/>
            </p:cNvSpPr>
            <p:nvPr/>
          </p:nvSpPr>
          <p:spPr bwMode="auto">
            <a:xfrm>
              <a:off x="1219200" y="1254125"/>
              <a:ext cx="627502" cy="2744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b="1" dirty="0" err="1">
                  <a:solidFill>
                    <a:srgbClr val="56127A"/>
                  </a:solidFill>
                </a:rPr>
                <a:t>PCSel</a:t>
              </a:r>
              <a:endParaRPr lang="en-US" sz="1200" b="1" dirty="0">
                <a:solidFill>
                  <a:srgbClr val="56127A"/>
                </a:solidFill>
              </a:endParaRPr>
            </a:p>
          </p:txBody>
        </p:sp>
        <p:sp>
          <p:nvSpPr>
            <p:cNvPr id="80920" name="Rectangle 126"/>
            <p:cNvSpPr>
              <a:spLocks noChangeArrowheads="1"/>
            </p:cNvSpPr>
            <p:nvPr/>
          </p:nvSpPr>
          <p:spPr bwMode="auto">
            <a:xfrm>
              <a:off x="1371600" y="1447800"/>
              <a:ext cx="33655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rgbClr val="56127A"/>
                  </a:solidFill>
                </a:rPr>
                <a:t>br</a:t>
              </a:r>
            </a:p>
          </p:txBody>
        </p:sp>
        <p:sp>
          <p:nvSpPr>
            <p:cNvPr id="80921" name="Freeform 127"/>
            <p:cNvSpPr>
              <a:spLocks/>
            </p:cNvSpPr>
            <p:nvPr/>
          </p:nvSpPr>
          <p:spPr bwMode="auto">
            <a:xfrm>
              <a:off x="1182688" y="1600200"/>
              <a:ext cx="188912" cy="736600"/>
            </a:xfrm>
            <a:custGeom>
              <a:avLst/>
              <a:gdLst>
                <a:gd name="T0" fmla="*/ 0 w 145"/>
                <a:gd name="T1" fmla="*/ 48 h 377"/>
                <a:gd name="T2" fmla="*/ 0 w 145"/>
                <a:gd name="T3" fmla="*/ 328 h 377"/>
                <a:gd name="T4" fmla="*/ 144 w 145"/>
                <a:gd name="T5" fmla="*/ 376 h 377"/>
                <a:gd name="T6" fmla="*/ 144 w 145"/>
                <a:gd name="T7" fmla="*/ 0 h 377"/>
                <a:gd name="T8" fmla="*/ 0 w 145"/>
                <a:gd name="T9" fmla="*/ 48 h 3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"/>
                <a:gd name="T16" fmla="*/ 0 h 377"/>
                <a:gd name="T17" fmla="*/ 145 w 145"/>
                <a:gd name="T18" fmla="*/ 377 h 3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" h="377">
                  <a:moveTo>
                    <a:pt x="0" y="48"/>
                  </a:moveTo>
                  <a:lnTo>
                    <a:pt x="0" y="328"/>
                  </a:lnTo>
                  <a:lnTo>
                    <a:pt x="144" y="376"/>
                  </a:lnTo>
                  <a:lnTo>
                    <a:pt x="144" y="0"/>
                  </a:lnTo>
                  <a:lnTo>
                    <a:pt x="0" y="48"/>
                  </a:lnTo>
                </a:path>
              </a:pathLst>
            </a:custGeom>
            <a:solidFill>
              <a:schemeClr val="accent1"/>
            </a:solidFill>
            <a:ln w="9525" cap="rnd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2" name="Freeform 128"/>
            <p:cNvSpPr>
              <a:spLocks/>
            </p:cNvSpPr>
            <p:nvPr/>
          </p:nvSpPr>
          <p:spPr bwMode="auto">
            <a:xfrm flipH="1">
              <a:off x="1239838" y="1371600"/>
              <a:ext cx="42862" cy="265113"/>
            </a:xfrm>
            <a:custGeom>
              <a:avLst/>
              <a:gdLst>
                <a:gd name="T0" fmla="*/ 0 w 1"/>
                <a:gd name="T1" fmla="*/ 0 h 380"/>
                <a:gd name="T2" fmla="*/ 0 w 1"/>
                <a:gd name="T3" fmla="*/ 379 h 380"/>
                <a:gd name="T4" fmla="*/ 0 60000 65536"/>
                <a:gd name="T5" fmla="*/ 0 60000 65536"/>
                <a:gd name="T6" fmla="*/ 0 w 1"/>
                <a:gd name="T7" fmla="*/ 0 h 380"/>
                <a:gd name="T8" fmla="*/ 1 w 1"/>
                <a:gd name="T9" fmla="*/ 380 h 3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80">
                  <a:moveTo>
                    <a:pt x="0" y="0"/>
                  </a:moveTo>
                  <a:lnTo>
                    <a:pt x="0" y="379"/>
                  </a:lnTo>
                </a:path>
              </a:pathLst>
            </a:custGeom>
            <a:noFill/>
            <a:ln w="12700" cap="rnd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3" name="Freeform 129"/>
            <p:cNvSpPr>
              <a:spLocks/>
            </p:cNvSpPr>
            <p:nvPr/>
          </p:nvSpPr>
          <p:spPr bwMode="auto">
            <a:xfrm>
              <a:off x="1371600" y="2209800"/>
              <a:ext cx="304800" cy="547688"/>
            </a:xfrm>
            <a:custGeom>
              <a:avLst/>
              <a:gdLst>
                <a:gd name="T0" fmla="*/ 222 w 223"/>
                <a:gd name="T1" fmla="*/ 392 h 393"/>
                <a:gd name="T2" fmla="*/ 222 w 223"/>
                <a:gd name="T3" fmla="*/ 0 h 393"/>
                <a:gd name="T4" fmla="*/ 0 w 223"/>
                <a:gd name="T5" fmla="*/ 0 h 393"/>
                <a:gd name="T6" fmla="*/ 0 60000 65536"/>
                <a:gd name="T7" fmla="*/ 0 60000 65536"/>
                <a:gd name="T8" fmla="*/ 0 60000 65536"/>
                <a:gd name="T9" fmla="*/ 0 w 223"/>
                <a:gd name="T10" fmla="*/ 0 h 393"/>
                <a:gd name="T11" fmla="*/ 223 w 223"/>
                <a:gd name="T12" fmla="*/ 393 h 3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" h="393">
                  <a:moveTo>
                    <a:pt x="222" y="392"/>
                  </a:moveTo>
                  <a:lnTo>
                    <a:pt x="222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oval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4" name="Freeform 130"/>
            <p:cNvSpPr>
              <a:spLocks/>
            </p:cNvSpPr>
            <p:nvPr/>
          </p:nvSpPr>
          <p:spPr bwMode="auto">
            <a:xfrm>
              <a:off x="1371600" y="1662113"/>
              <a:ext cx="5330825" cy="1309687"/>
            </a:xfrm>
            <a:custGeom>
              <a:avLst/>
              <a:gdLst>
                <a:gd name="T0" fmla="*/ 2857 w 3358"/>
                <a:gd name="T1" fmla="*/ 825 h 825"/>
                <a:gd name="T2" fmla="*/ 3358 w 3358"/>
                <a:gd name="T3" fmla="*/ 825 h 825"/>
                <a:gd name="T4" fmla="*/ 3358 w 3358"/>
                <a:gd name="T5" fmla="*/ 429 h 825"/>
                <a:gd name="T6" fmla="*/ 3358 w 3358"/>
                <a:gd name="T7" fmla="*/ 0 h 825"/>
                <a:gd name="T8" fmla="*/ 0 w 3358"/>
                <a:gd name="T9" fmla="*/ 0 h 8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58"/>
                <a:gd name="T16" fmla="*/ 0 h 825"/>
                <a:gd name="T17" fmla="*/ 3358 w 3358"/>
                <a:gd name="T18" fmla="*/ 825 h 8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58" h="825">
                  <a:moveTo>
                    <a:pt x="2857" y="825"/>
                  </a:moveTo>
                  <a:lnTo>
                    <a:pt x="3358" y="825"/>
                  </a:lnTo>
                  <a:lnTo>
                    <a:pt x="3358" y="429"/>
                  </a:lnTo>
                  <a:lnTo>
                    <a:pt x="3358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5" name="Rectangle 131"/>
            <p:cNvSpPr>
              <a:spLocks noChangeArrowheads="1"/>
            </p:cNvSpPr>
            <p:nvPr/>
          </p:nvSpPr>
          <p:spPr bwMode="auto">
            <a:xfrm>
              <a:off x="1371600" y="1630363"/>
              <a:ext cx="471488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rgbClr val="56127A"/>
                  </a:solidFill>
                </a:rPr>
                <a:t>rind</a:t>
              </a:r>
            </a:p>
          </p:txBody>
        </p:sp>
        <p:sp>
          <p:nvSpPr>
            <p:cNvPr id="80926" name="Rectangle 132"/>
            <p:cNvSpPr>
              <a:spLocks noChangeArrowheads="1"/>
            </p:cNvSpPr>
            <p:nvPr/>
          </p:nvSpPr>
          <p:spPr bwMode="auto">
            <a:xfrm>
              <a:off x="1371600" y="1782763"/>
              <a:ext cx="488950" cy="274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rgbClr val="56127A"/>
                  </a:solidFill>
                </a:rPr>
                <a:t>jabs</a:t>
              </a:r>
            </a:p>
          </p:txBody>
        </p:sp>
        <p:sp>
          <p:nvSpPr>
            <p:cNvPr id="80927" name="Oval 133"/>
            <p:cNvSpPr>
              <a:spLocks noChangeArrowheads="1"/>
            </p:cNvSpPr>
            <p:nvPr/>
          </p:nvSpPr>
          <p:spPr bwMode="auto">
            <a:xfrm>
              <a:off x="1866900" y="2209800"/>
              <a:ext cx="419100" cy="2032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28" name="Line 134"/>
            <p:cNvSpPr>
              <a:spLocks noChangeShapeType="1"/>
            </p:cNvSpPr>
            <p:nvPr/>
          </p:nvSpPr>
          <p:spPr bwMode="auto">
            <a:xfrm flipH="1" flipV="1">
              <a:off x="2193925" y="2413000"/>
              <a:ext cx="0" cy="127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0" name="Freeform 136"/>
            <p:cNvSpPr>
              <a:spLocks/>
            </p:cNvSpPr>
            <p:nvPr/>
          </p:nvSpPr>
          <p:spPr bwMode="auto">
            <a:xfrm>
              <a:off x="1371600" y="2043113"/>
              <a:ext cx="685800" cy="166687"/>
            </a:xfrm>
            <a:custGeom>
              <a:avLst/>
              <a:gdLst>
                <a:gd name="T0" fmla="*/ 222 w 223"/>
                <a:gd name="T1" fmla="*/ 392 h 393"/>
                <a:gd name="T2" fmla="*/ 222 w 223"/>
                <a:gd name="T3" fmla="*/ 0 h 393"/>
                <a:gd name="T4" fmla="*/ 0 w 223"/>
                <a:gd name="T5" fmla="*/ 0 h 393"/>
                <a:gd name="T6" fmla="*/ 0 60000 65536"/>
                <a:gd name="T7" fmla="*/ 0 60000 65536"/>
                <a:gd name="T8" fmla="*/ 0 60000 65536"/>
                <a:gd name="T9" fmla="*/ 0 w 223"/>
                <a:gd name="T10" fmla="*/ 0 h 393"/>
                <a:gd name="T11" fmla="*/ 223 w 223"/>
                <a:gd name="T12" fmla="*/ 393 h 3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" h="393">
                  <a:moveTo>
                    <a:pt x="222" y="392"/>
                  </a:moveTo>
                  <a:lnTo>
                    <a:pt x="222" y="0"/>
                  </a:ln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31" name="Rectangle 137"/>
            <p:cNvSpPr>
              <a:spLocks noChangeArrowheads="1"/>
            </p:cNvSpPr>
            <p:nvPr/>
          </p:nvSpPr>
          <p:spPr bwMode="auto">
            <a:xfrm>
              <a:off x="1370013" y="1981200"/>
              <a:ext cx="534987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1" hangingPunct="1">
                <a:spcBef>
                  <a:spcPct val="0"/>
                </a:spcBef>
              </a:pPr>
              <a:r>
                <a:rPr lang="en-US" sz="1200" b="1">
                  <a:solidFill>
                    <a:srgbClr val="56127A"/>
                  </a:solidFill>
                </a:rPr>
                <a:t>pc+4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 bwMode="auto">
            <a:xfrm>
              <a:off x="876733" y="3429000"/>
              <a:ext cx="1066800" cy="0"/>
            </a:xfrm>
            <a:prstGeom prst="line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Line 122"/>
            <p:cNvSpPr>
              <a:spLocks noChangeShapeType="1"/>
            </p:cNvSpPr>
            <p:nvPr/>
          </p:nvSpPr>
          <p:spPr bwMode="auto">
            <a:xfrm flipV="1">
              <a:off x="1937286" y="2421658"/>
              <a:ext cx="0" cy="1007342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7" name="Elbow Connector 26"/>
            <p:cNvCxnSpPr/>
            <p:nvPr/>
          </p:nvCxnSpPr>
          <p:spPr bwMode="auto">
            <a:xfrm flipV="1">
              <a:off x="1937286" y="2776352"/>
              <a:ext cx="3581400" cy="228600"/>
            </a:xfrm>
            <a:prstGeom prst="bentConnector3">
              <a:avLst>
                <a:gd name="adj1" fmla="val 74618"/>
              </a:avLst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60" name="Oval 133"/>
            <p:cNvSpPr>
              <a:spLocks noChangeArrowheads="1"/>
            </p:cNvSpPr>
            <p:nvPr/>
          </p:nvSpPr>
          <p:spPr bwMode="auto">
            <a:xfrm>
              <a:off x="4627380" y="1946500"/>
              <a:ext cx="419100" cy="2032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Line 122"/>
            <p:cNvSpPr>
              <a:spLocks noChangeShapeType="1"/>
            </p:cNvSpPr>
            <p:nvPr/>
          </p:nvSpPr>
          <p:spPr bwMode="auto">
            <a:xfrm flipV="1">
              <a:off x="4724400" y="2133600"/>
              <a:ext cx="0" cy="1850696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Line 122"/>
            <p:cNvSpPr>
              <a:spLocks noChangeShapeType="1"/>
            </p:cNvSpPr>
            <p:nvPr/>
          </p:nvSpPr>
          <p:spPr bwMode="auto">
            <a:xfrm flipH="1" flipV="1">
              <a:off x="4948048" y="2130438"/>
              <a:ext cx="4952" cy="1028321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Rectangle 71"/>
            <p:cNvSpPr>
              <a:spLocks noChangeArrowheads="1"/>
            </p:cNvSpPr>
            <p:nvPr/>
          </p:nvSpPr>
          <p:spPr bwMode="auto">
            <a:xfrm>
              <a:off x="5501124" y="3352800"/>
              <a:ext cx="747276" cy="2744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</a:rPr>
                <a:t>Bcomp</a:t>
              </a:r>
              <a:r>
                <a:rPr lang="en-US" sz="1200" dirty="0">
                  <a:solidFill>
                    <a:srgbClr val="56127A"/>
                  </a:solidFill>
                </a:rPr>
                <a:t>?</a:t>
              </a:r>
            </a:p>
          </p:txBody>
        </p:sp>
        <p:sp>
          <p:nvSpPr>
            <p:cNvPr id="169" name="Line 88"/>
            <p:cNvSpPr>
              <a:spLocks noChangeShapeType="1"/>
            </p:cNvSpPr>
            <p:nvPr/>
          </p:nvSpPr>
          <p:spPr bwMode="auto">
            <a:xfrm flipH="1" flipV="1">
              <a:off x="4971231" y="361178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88"/>
            <p:cNvSpPr>
              <a:spLocks noChangeShapeType="1"/>
            </p:cNvSpPr>
            <p:nvPr/>
          </p:nvSpPr>
          <p:spPr bwMode="auto">
            <a:xfrm flipH="1" flipV="1">
              <a:off x="5327961" y="3615469"/>
              <a:ext cx="6039" cy="3773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Rectangle 125"/>
            <p:cNvSpPr>
              <a:spLocks noChangeArrowheads="1"/>
            </p:cNvSpPr>
            <p:nvPr/>
          </p:nvSpPr>
          <p:spPr bwMode="auto">
            <a:xfrm>
              <a:off x="4849633" y="3386468"/>
              <a:ext cx="645414" cy="228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</a:rPr>
                <a:t>Br Logic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4646641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1E356-6445-654E-AB2D-4426D4767952}" type="slidenum">
              <a:rPr lang="en-US"/>
              <a:pPr/>
              <a:t>49</a:t>
            </a:fld>
            <a:endParaRPr lang="en-US" b="0">
              <a:solidFill>
                <a:srgbClr val="FBBA03"/>
              </a:solidFill>
            </a:endParaRPr>
          </a:p>
        </p:txBody>
      </p:sp>
      <p:graphicFrame>
        <p:nvGraphicFramePr>
          <p:cNvPr id="123392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875434"/>
              </p:ext>
            </p:extLst>
          </p:nvPr>
        </p:nvGraphicFramePr>
        <p:xfrm>
          <a:off x="533400" y="1320800"/>
          <a:ext cx="8280400" cy="3430588"/>
        </p:xfrm>
        <a:graphic>
          <a:graphicData uri="http://schemas.openxmlformats.org/drawingml/2006/table">
            <a:tbl>
              <a:tblPr/>
              <a:tblGrid>
                <a:gridCol w="103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0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2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7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36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2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Opcode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ImmSel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Op2Sel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FuncSel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MemWr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RFWen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WBSel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PCSel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r>
                        <a:rPr kumimoji="0" lang="en-US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</a:t>
                      </a:r>
                      <a:endParaRPr kumimoji="0" lang="en-U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BEQ</a:t>
                      </a:r>
                      <a:r>
                        <a:rPr kumimoji="0" lang="en-US" sz="16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  <a:endParaRPr kumimoji="0" lang="en-US" sz="16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JALR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7177" name="Rectangle 134"/>
          <p:cNvSpPr>
            <a:spLocks noGrp="1" noChangeArrowheads="1"/>
          </p:cNvSpPr>
          <p:nvPr>
            <p:ph type="title"/>
          </p:nvPr>
        </p:nvSpPr>
        <p:spPr>
          <a:xfrm>
            <a:off x="342900" y="482600"/>
            <a:ext cx="8153400" cy="666750"/>
          </a:xfrm>
          <a:noFill/>
        </p:spPr>
        <p:txBody>
          <a:bodyPr lIns="90488" tIns="44450" rIns="90488" bIns="44450"/>
          <a:lstStyle/>
          <a:p>
            <a:r>
              <a:rPr lang="en-US" dirty="0"/>
              <a:t>Hardwired Control Table</a:t>
            </a:r>
            <a:endParaRPr lang="en-US" sz="2000" i="1" dirty="0"/>
          </a:p>
        </p:txBody>
      </p:sp>
      <p:sp>
        <p:nvSpPr>
          <p:cNvPr id="87178" name="Rectangle 135"/>
          <p:cNvSpPr>
            <a:spLocks noChangeArrowheads="1"/>
          </p:cNvSpPr>
          <p:nvPr/>
        </p:nvSpPr>
        <p:spPr bwMode="auto">
          <a:xfrm>
            <a:off x="931862" y="5153025"/>
            <a:ext cx="5967868" cy="9207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dirty="0">
                <a:solidFill>
                  <a:schemeClr val="bg2"/>
                </a:solidFill>
              </a:rPr>
              <a:t>Op2Sel= </a:t>
            </a:r>
            <a:r>
              <a:rPr lang="en-US" sz="1800" dirty="0" err="1">
                <a:solidFill>
                  <a:schemeClr val="bg2"/>
                </a:solidFill>
              </a:rPr>
              <a:t>Reg</a:t>
            </a:r>
            <a:r>
              <a:rPr lang="en-US" sz="1800" dirty="0">
                <a:solidFill>
                  <a:schemeClr val="bg2"/>
                </a:solidFill>
              </a:rPr>
              <a:t> / </a:t>
            </a:r>
            <a:r>
              <a:rPr lang="en-US" sz="1800" dirty="0" err="1">
                <a:solidFill>
                  <a:schemeClr val="bg2"/>
                </a:solidFill>
              </a:rPr>
              <a:t>Imm</a:t>
            </a:r>
            <a:r>
              <a:rPr lang="en-US" sz="1800" dirty="0">
                <a:solidFill>
                  <a:schemeClr val="bg2"/>
                </a:solidFill>
              </a:rPr>
              <a:t>	</a:t>
            </a:r>
            <a:r>
              <a:rPr lang="en-US" sz="1800" dirty="0" err="1">
                <a:solidFill>
                  <a:schemeClr val="bg2"/>
                </a:solidFill>
              </a:rPr>
              <a:t>WBSel</a:t>
            </a:r>
            <a:r>
              <a:rPr lang="en-US" sz="1800" dirty="0">
                <a:solidFill>
                  <a:schemeClr val="bg2"/>
                </a:solidFill>
              </a:rPr>
              <a:t> = ALU / </a:t>
            </a:r>
            <a:r>
              <a:rPr lang="en-US" sz="1800" dirty="0" err="1">
                <a:solidFill>
                  <a:schemeClr val="bg2"/>
                </a:solidFill>
              </a:rPr>
              <a:t>Mem</a:t>
            </a:r>
            <a:r>
              <a:rPr lang="en-US" sz="1800" dirty="0">
                <a:solidFill>
                  <a:schemeClr val="bg2"/>
                </a:solidFill>
              </a:rPr>
              <a:t> / PC    </a:t>
            </a:r>
          </a:p>
          <a:p>
            <a:pPr>
              <a:spcBef>
                <a:spcPct val="0"/>
              </a:spcBef>
            </a:pPr>
            <a:r>
              <a:rPr lang="en-US" sz="1800" dirty="0" err="1">
                <a:solidFill>
                  <a:schemeClr val="bg2"/>
                </a:solidFill>
              </a:rPr>
              <a:t>WASel</a:t>
            </a:r>
            <a:r>
              <a:rPr lang="en-US" sz="1800" dirty="0">
                <a:solidFill>
                  <a:schemeClr val="bg2"/>
                </a:solidFill>
              </a:rPr>
              <a:t> = </a:t>
            </a:r>
            <a:r>
              <a:rPr lang="en-US" sz="1800" dirty="0" err="1">
                <a:solidFill>
                  <a:schemeClr val="bg2"/>
                </a:solidFill>
              </a:rPr>
              <a:t>rd</a:t>
            </a:r>
            <a:r>
              <a:rPr lang="en-US" sz="1800" dirty="0">
                <a:solidFill>
                  <a:schemeClr val="bg2"/>
                </a:solidFill>
              </a:rPr>
              <a:t> / X1	  	</a:t>
            </a:r>
            <a:r>
              <a:rPr lang="en-US" sz="1800" dirty="0" err="1">
                <a:solidFill>
                  <a:schemeClr val="bg2"/>
                </a:solidFill>
              </a:rPr>
              <a:t>PCSel</a:t>
            </a:r>
            <a:r>
              <a:rPr lang="en-US" sz="1800" dirty="0">
                <a:solidFill>
                  <a:schemeClr val="bg2"/>
                </a:solidFill>
              </a:rPr>
              <a:t> = pc+4 / </a:t>
            </a:r>
            <a:r>
              <a:rPr lang="en-US" sz="1800" dirty="0" err="1">
                <a:solidFill>
                  <a:schemeClr val="bg2"/>
                </a:solidFill>
              </a:rPr>
              <a:t>br</a:t>
            </a:r>
            <a:r>
              <a:rPr lang="en-US" sz="1800" dirty="0">
                <a:solidFill>
                  <a:schemeClr val="bg2"/>
                </a:solidFill>
              </a:rPr>
              <a:t> / rind / jabs	</a:t>
            </a:r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1943100" y="4429125"/>
            <a:ext cx="6607175" cy="371475"/>
            <a:chOff x="1224" y="3176"/>
            <a:chExt cx="4162" cy="234"/>
          </a:xfrm>
        </p:grpSpPr>
        <p:grpSp>
          <p:nvGrpSpPr>
            <p:cNvPr id="3" name="Group 137"/>
            <p:cNvGrpSpPr>
              <a:grpSpLocks/>
            </p:cNvGrpSpPr>
            <p:nvPr/>
          </p:nvGrpSpPr>
          <p:grpSpPr bwMode="auto">
            <a:xfrm>
              <a:off x="1224" y="3176"/>
              <a:ext cx="1764" cy="231"/>
              <a:chOff x="1248" y="4032"/>
              <a:chExt cx="1764" cy="277"/>
            </a:xfrm>
          </p:grpSpPr>
          <p:sp>
            <p:nvSpPr>
              <p:cNvPr id="87275" name="Text Box 138"/>
              <p:cNvSpPr txBox="1">
                <a:spLocks noChangeArrowheads="1"/>
              </p:cNvSpPr>
              <p:nvPr/>
            </p:nvSpPr>
            <p:spPr bwMode="auto">
              <a:xfrm>
                <a:off x="1248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6" name="Text Box 139"/>
              <p:cNvSpPr txBox="1">
                <a:spLocks noChangeArrowheads="1"/>
              </p:cNvSpPr>
              <p:nvPr/>
            </p:nvSpPr>
            <p:spPr bwMode="auto">
              <a:xfrm>
                <a:off x="1728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7" name="Text Box 140"/>
              <p:cNvSpPr txBox="1">
                <a:spLocks noChangeArrowheads="1"/>
              </p:cNvSpPr>
              <p:nvPr/>
            </p:nvSpPr>
            <p:spPr bwMode="auto">
              <a:xfrm>
                <a:off x="2256" y="4032"/>
                <a:ext cx="172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*</a:t>
                </a:r>
              </a:p>
            </p:txBody>
          </p:sp>
          <p:sp>
            <p:nvSpPr>
              <p:cNvPr id="87278" name="Text Box 141"/>
              <p:cNvSpPr txBox="1">
                <a:spLocks noChangeArrowheads="1"/>
              </p:cNvSpPr>
              <p:nvPr/>
            </p:nvSpPr>
            <p:spPr bwMode="auto">
              <a:xfrm>
                <a:off x="2736" y="4032"/>
                <a:ext cx="276" cy="277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</a:rPr>
                  <a:t>no</a:t>
                </a:r>
              </a:p>
            </p:txBody>
          </p:sp>
        </p:grpSp>
        <p:sp>
          <p:nvSpPr>
            <p:cNvPr id="87271" name="Text Box 142"/>
            <p:cNvSpPr txBox="1">
              <a:spLocks noChangeArrowheads="1"/>
            </p:cNvSpPr>
            <p:nvPr/>
          </p:nvSpPr>
          <p:spPr bwMode="auto">
            <a:xfrm>
              <a:off x="3308" y="3176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72" name="Text Box 143"/>
            <p:cNvSpPr txBox="1">
              <a:spLocks noChangeArrowheads="1"/>
            </p:cNvSpPr>
            <p:nvPr/>
          </p:nvSpPr>
          <p:spPr bwMode="auto">
            <a:xfrm>
              <a:off x="5030" y="3176"/>
              <a:ext cx="35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rind</a:t>
              </a:r>
            </a:p>
          </p:txBody>
        </p:sp>
        <p:sp>
          <p:nvSpPr>
            <p:cNvPr id="87273" name="Text Box 144"/>
            <p:cNvSpPr txBox="1">
              <a:spLocks noChangeArrowheads="1"/>
            </p:cNvSpPr>
            <p:nvPr/>
          </p:nvSpPr>
          <p:spPr bwMode="auto">
            <a:xfrm>
              <a:off x="3852" y="3176"/>
              <a:ext cx="31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</a:t>
              </a:r>
            </a:p>
          </p:txBody>
        </p:sp>
        <p:sp>
          <p:nvSpPr>
            <p:cNvPr id="87274" name="Text Box 145"/>
            <p:cNvSpPr txBox="1">
              <a:spLocks noChangeArrowheads="1"/>
            </p:cNvSpPr>
            <p:nvPr/>
          </p:nvSpPr>
          <p:spPr bwMode="auto">
            <a:xfrm>
              <a:off x="4458" y="3177"/>
              <a:ext cx="246" cy="2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</a:rPr>
                <a:t>rd</a:t>
              </a:r>
            </a:p>
          </p:txBody>
        </p:sp>
      </p:grpSp>
      <p:sp>
        <p:nvSpPr>
          <p:cNvPr id="1234076" name="Text Box 156"/>
          <p:cNvSpPr txBox="1">
            <a:spLocks noChangeArrowheads="1"/>
          </p:cNvSpPr>
          <p:nvPr/>
        </p:nvSpPr>
        <p:spPr bwMode="auto">
          <a:xfrm>
            <a:off x="7972425" y="4111625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jabs</a:t>
            </a:r>
          </a:p>
        </p:txBody>
      </p:sp>
      <p:grpSp>
        <p:nvGrpSpPr>
          <p:cNvPr id="4" name="Group 157"/>
          <p:cNvGrpSpPr>
            <a:grpSpLocks/>
          </p:cNvGrpSpPr>
          <p:nvPr/>
        </p:nvGrpSpPr>
        <p:grpSpPr bwMode="auto">
          <a:xfrm>
            <a:off x="1928813" y="4048125"/>
            <a:ext cx="2828925" cy="393700"/>
            <a:chOff x="1215" y="2744"/>
            <a:chExt cx="1782" cy="248"/>
          </a:xfrm>
        </p:grpSpPr>
        <p:sp>
          <p:nvSpPr>
            <p:cNvPr id="87259" name="Text Box 158"/>
            <p:cNvSpPr txBox="1">
              <a:spLocks noChangeArrowheads="1"/>
            </p:cNvSpPr>
            <p:nvPr/>
          </p:nvSpPr>
          <p:spPr bwMode="auto">
            <a:xfrm>
              <a:off x="1215" y="274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0" name="Text Box 159"/>
            <p:cNvSpPr txBox="1">
              <a:spLocks noChangeArrowheads="1"/>
            </p:cNvSpPr>
            <p:nvPr/>
          </p:nvSpPr>
          <p:spPr bwMode="auto">
            <a:xfrm>
              <a:off x="1736" y="274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1" name="Text Box 160"/>
            <p:cNvSpPr txBox="1">
              <a:spLocks noChangeArrowheads="1"/>
            </p:cNvSpPr>
            <p:nvPr/>
          </p:nvSpPr>
          <p:spPr bwMode="auto">
            <a:xfrm>
              <a:off x="2244" y="276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62" name="Text Box 161"/>
            <p:cNvSpPr txBox="1">
              <a:spLocks noChangeArrowheads="1"/>
            </p:cNvSpPr>
            <p:nvPr/>
          </p:nvSpPr>
          <p:spPr bwMode="auto">
            <a:xfrm>
              <a:off x="2721" y="274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</p:grpSp>
      <p:sp>
        <p:nvSpPr>
          <p:cNvPr id="1234082" name="Text Box 162"/>
          <p:cNvSpPr txBox="1">
            <a:spLocks noChangeArrowheads="1"/>
          </p:cNvSpPr>
          <p:nvPr/>
        </p:nvSpPr>
        <p:spPr bwMode="auto">
          <a:xfrm>
            <a:off x="5257800" y="4111625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083" name="Text Box 163"/>
          <p:cNvSpPr txBox="1">
            <a:spLocks noChangeArrowheads="1"/>
          </p:cNvSpPr>
          <p:nvPr/>
        </p:nvSpPr>
        <p:spPr bwMode="auto">
          <a:xfrm>
            <a:off x="6121400" y="4111625"/>
            <a:ext cx="501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</a:t>
            </a:r>
          </a:p>
        </p:txBody>
      </p:sp>
      <p:sp>
        <p:nvSpPr>
          <p:cNvPr id="1234084" name="Text Box 164"/>
          <p:cNvSpPr txBox="1">
            <a:spLocks noChangeArrowheads="1"/>
          </p:cNvSpPr>
          <p:nvPr/>
        </p:nvSpPr>
        <p:spPr bwMode="auto">
          <a:xfrm>
            <a:off x="7083143" y="4111625"/>
            <a:ext cx="4670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X1 </a:t>
            </a:r>
          </a:p>
        </p:txBody>
      </p:sp>
      <p:sp>
        <p:nvSpPr>
          <p:cNvPr id="1234085" name="Text Box 165"/>
          <p:cNvSpPr txBox="1">
            <a:spLocks noChangeArrowheads="1"/>
          </p:cNvSpPr>
          <p:nvPr/>
        </p:nvSpPr>
        <p:spPr bwMode="auto">
          <a:xfrm>
            <a:off x="7966075" y="3714750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jabs</a:t>
            </a:r>
          </a:p>
        </p:txBody>
      </p:sp>
      <p:grpSp>
        <p:nvGrpSpPr>
          <p:cNvPr id="5" name="Group 166"/>
          <p:cNvGrpSpPr>
            <a:grpSpLocks/>
          </p:cNvGrpSpPr>
          <p:nvPr/>
        </p:nvGrpSpPr>
        <p:grpSpPr bwMode="auto">
          <a:xfrm>
            <a:off x="1928813" y="3708400"/>
            <a:ext cx="1906587" cy="392113"/>
            <a:chOff x="1215" y="2530"/>
            <a:chExt cx="1201" cy="247"/>
          </a:xfrm>
        </p:grpSpPr>
        <p:sp>
          <p:nvSpPr>
            <p:cNvPr id="87256" name="Text Box 167"/>
            <p:cNvSpPr txBox="1">
              <a:spLocks noChangeArrowheads="1"/>
            </p:cNvSpPr>
            <p:nvPr/>
          </p:nvSpPr>
          <p:spPr bwMode="auto">
            <a:xfrm>
              <a:off x="1215" y="2530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7" name="Text Box 168"/>
            <p:cNvSpPr txBox="1">
              <a:spLocks noChangeArrowheads="1"/>
            </p:cNvSpPr>
            <p:nvPr/>
          </p:nvSpPr>
          <p:spPr bwMode="auto">
            <a:xfrm>
              <a:off x="1736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8" name="Text Box 169"/>
            <p:cNvSpPr txBox="1">
              <a:spLocks noChangeArrowheads="1"/>
            </p:cNvSpPr>
            <p:nvPr/>
          </p:nvSpPr>
          <p:spPr bwMode="auto">
            <a:xfrm>
              <a:off x="2244" y="2546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grpSp>
        <p:nvGrpSpPr>
          <p:cNvPr id="6" name="Group 170"/>
          <p:cNvGrpSpPr>
            <a:grpSpLocks/>
          </p:cNvGrpSpPr>
          <p:nvPr/>
        </p:nvGrpSpPr>
        <p:grpSpPr bwMode="auto">
          <a:xfrm>
            <a:off x="4319588" y="3714750"/>
            <a:ext cx="3059112" cy="366713"/>
            <a:chOff x="2721" y="2534"/>
            <a:chExt cx="1927" cy="231"/>
          </a:xfrm>
        </p:grpSpPr>
        <p:sp>
          <p:nvSpPr>
            <p:cNvPr id="87252" name="Text Box 171"/>
            <p:cNvSpPr txBox="1">
              <a:spLocks noChangeArrowheads="1"/>
            </p:cNvSpPr>
            <p:nvPr/>
          </p:nvSpPr>
          <p:spPr bwMode="auto">
            <a:xfrm>
              <a:off x="2721" y="253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3" name="Text Box 172"/>
            <p:cNvSpPr txBox="1">
              <a:spLocks noChangeArrowheads="1"/>
            </p:cNvSpPr>
            <p:nvPr/>
          </p:nvSpPr>
          <p:spPr bwMode="auto">
            <a:xfrm>
              <a:off x="3340" y="2534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4" name="Text Box 173"/>
            <p:cNvSpPr txBox="1">
              <a:spLocks noChangeArrowheads="1"/>
            </p:cNvSpPr>
            <p:nvPr/>
          </p:nvSpPr>
          <p:spPr bwMode="auto">
            <a:xfrm>
              <a:off x="3924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5" name="Text Box 174"/>
            <p:cNvSpPr txBox="1">
              <a:spLocks noChangeArrowheads="1"/>
            </p:cNvSpPr>
            <p:nvPr/>
          </p:nvSpPr>
          <p:spPr bwMode="auto">
            <a:xfrm>
              <a:off x="4476" y="2534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095" name="Text Box 175"/>
          <p:cNvSpPr txBox="1">
            <a:spLocks noChangeArrowheads="1"/>
          </p:cNvSpPr>
          <p:nvPr/>
        </p:nvSpPr>
        <p:spPr bwMode="auto">
          <a:xfrm>
            <a:off x="7924800" y="3425825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grpSp>
        <p:nvGrpSpPr>
          <p:cNvPr id="7" name="Group 176"/>
          <p:cNvGrpSpPr>
            <a:grpSpLocks/>
          </p:cNvGrpSpPr>
          <p:nvPr/>
        </p:nvGrpSpPr>
        <p:grpSpPr bwMode="auto">
          <a:xfrm>
            <a:off x="1541464" y="3425828"/>
            <a:ext cx="5856289" cy="369361"/>
            <a:chOff x="995" y="2976"/>
            <a:chExt cx="3689" cy="279"/>
          </a:xfrm>
        </p:grpSpPr>
        <p:sp>
          <p:nvSpPr>
            <p:cNvPr id="87245" name="Text Box 177"/>
            <p:cNvSpPr txBox="1">
              <a:spLocks noChangeArrowheads="1"/>
            </p:cNvSpPr>
            <p:nvPr/>
          </p:nvSpPr>
          <p:spPr bwMode="auto">
            <a:xfrm>
              <a:off x="995" y="2976"/>
              <a:ext cx="622" cy="25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dirty="0">
                  <a:solidFill>
                    <a:srgbClr val="56127A"/>
                  </a:solidFill>
                </a:rPr>
                <a:t>BrType</a:t>
              </a:r>
              <a:r>
                <a:rPr lang="en-US" baseline="-25000" dirty="0">
                  <a:solidFill>
                    <a:srgbClr val="56127A"/>
                  </a:solidFill>
                </a:rPr>
                <a:t>12</a:t>
              </a:r>
              <a:endParaRPr lang="en-US" dirty="0">
                <a:solidFill>
                  <a:srgbClr val="56127A"/>
                </a:solidFill>
              </a:endParaRPr>
            </a:p>
          </p:txBody>
        </p:sp>
        <p:sp>
          <p:nvSpPr>
            <p:cNvPr id="87246" name="Text Box 178"/>
            <p:cNvSpPr txBox="1">
              <a:spLocks noChangeArrowheads="1"/>
            </p:cNvSpPr>
            <p:nvPr/>
          </p:nvSpPr>
          <p:spPr bwMode="auto">
            <a:xfrm>
              <a:off x="1728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7" name="Text Box 179"/>
            <p:cNvSpPr txBox="1">
              <a:spLocks noChangeArrowheads="1"/>
            </p:cNvSpPr>
            <p:nvPr/>
          </p:nvSpPr>
          <p:spPr bwMode="auto">
            <a:xfrm>
              <a:off x="2283" y="2976"/>
              <a:ext cx="173" cy="27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 dirty="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8" name="Text Box 180"/>
            <p:cNvSpPr txBox="1">
              <a:spLocks noChangeArrowheads="1"/>
            </p:cNvSpPr>
            <p:nvPr/>
          </p:nvSpPr>
          <p:spPr bwMode="auto">
            <a:xfrm>
              <a:off x="2768" y="2976"/>
              <a:ext cx="276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9" name="Text Box 181"/>
            <p:cNvSpPr txBox="1">
              <a:spLocks noChangeArrowheads="1"/>
            </p:cNvSpPr>
            <p:nvPr/>
          </p:nvSpPr>
          <p:spPr bwMode="auto">
            <a:xfrm>
              <a:off x="3344" y="2976"/>
              <a:ext cx="276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50" name="Text Box 182"/>
            <p:cNvSpPr txBox="1">
              <a:spLocks noChangeArrowheads="1"/>
            </p:cNvSpPr>
            <p:nvPr/>
          </p:nvSpPr>
          <p:spPr bwMode="auto">
            <a:xfrm>
              <a:off x="3984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51" name="Text Box 183"/>
            <p:cNvSpPr txBox="1">
              <a:spLocks noChangeArrowheads="1"/>
            </p:cNvSpPr>
            <p:nvPr/>
          </p:nvSpPr>
          <p:spPr bwMode="auto">
            <a:xfrm>
              <a:off x="4512" y="2976"/>
              <a:ext cx="172" cy="2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104" name="Text Box 184"/>
          <p:cNvSpPr txBox="1">
            <a:spLocks noChangeArrowheads="1"/>
          </p:cNvSpPr>
          <p:nvPr/>
        </p:nvSpPr>
        <p:spPr bwMode="auto">
          <a:xfrm>
            <a:off x="8074025" y="3059113"/>
            <a:ext cx="3873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br</a:t>
            </a:r>
          </a:p>
        </p:txBody>
      </p:sp>
      <p:sp>
        <p:nvSpPr>
          <p:cNvPr id="1234105" name="Text Box 185"/>
          <p:cNvSpPr txBox="1">
            <a:spLocks noChangeArrowheads="1"/>
          </p:cNvSpPr>
          <p:nvPr/>
        </p:nvSpPr>
        <p:spPr bwMode="auto">
          <a:xfrm>
            <a:off x="1532528" y="3059113"/>
            <a:ext cx="986835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dirty="0">
                <a:solidFill>
                  <a:srgbClr val="56127A"/>
                </a:solidFill>
              </a:rPr>
              <a:t>BrType</a:t>
            </a:r>
            <a:r>
              <a:rPr lang="en-US" baseline="-25000" dirty="0">
                <a:solidFill>
                  <a:srgbClr val="56127A"/>
                </a:solidFill>
              </a:rPr>
              <a:t>12</a:t>
            </a:r>
            <a:endParaRPr lang="en-US" dirty="0">
              <a:solidFill>
                <a:srgbClr val="56127A"/>
              </a:solidFill>
            </a:endParaRPr>
          </a:p>
        </p:txBody>
      </p:sp>
      <p:sp>
        <p:nvSpPr>
          <p:cNvPr id="1234106" name="Text Box 186"/>
          <p:cNvSpPr txBox="1">
            <a:spLocks noChangeArrowheads="1"/>
          </p:cNvSpPr>
          <p:nvPr/>
        </p:nvSpPr>
        <p:spPr bwMode="auto">
          <a:xfrm>
            <a:off x="2755900" y="3059113"/>
            <a:ext cx="273050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*</a:t>
            </a:r>
          </a:p>
        </p:txBody>
      </p:sp>
      <p:sp>
        <p:nvSpPr>
          <p:cNvPr id="1234107" name="Text Box 187"/>
          <p:cNvSpPr txBox="1">
            <a:spLocks noChangeArrowheads="1"/>
          </p:cNvSpPr>
          <p:nvPr/>
        </p:nvSpPr>
        <p:spPr bwMode="auto">
          <a:xfrm>
            <a:off x="3643453" y="3059113"/>
            <a:ext cx="27449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*</a:t>
            </a:r>
          </a:p>
        </p:txBody>
      </p:sp>
      <p:grpSp>
        <p:nvGrpSpPr>
          <p:cNvPr id="8" name="Group 188"/>
          <p:cNvGrpSpPr>
            <a:grpSpLocks/>
          </p:cNvGrpSpPr>
          <p:nvPr/>
        </p:nvGrpSpPr>
        <p:grpSpPr bwMode="auto">
          <a:xfrm>
            <a:off x="4319588" y="3059113"/>
            <a:ext cx="3059112" cy="366712"/>
            <a:chOff x="2721" y="2121"/>
            <a:chExt cx="1927" cy="231"/>
          </a:xfrm>
        </p:grpSpPr>
        <p:sp>
          <p:nvSpPr>
            <p:cNvPr id="87241" name="Text Box 189"/>
            <p:cNvSpPr txBox="1">
              <a:spLocks noChangeArrowheads="1"/>
            </p:cNvSpPr>
            <p:nvPr/>
          </p:nvSpPr>
          <p:spPr bwMode="auto">
            <a:xfrm>
              <a:off x="2721" y="2121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2" name="Text Box 190"/>
            <p:cNvSpPr txBox="1">
              <a:spLocks noChangeArrowheads="1"/>
            </p:cNvSpPr>
            <p:nvPr/>
          </p:nvSpPr>
          <p:spPr bwMode="auto">
            <a:xfrm>
              <a:off x="3340" y="2121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43" name="Text Box 191"/>
            <p:cNvSpPr txBox="1">
              <a:spLocks noChangeArrowheads="1"/>
            </p:cNvSpPr>
            <p:nvPr/>
          </p:nvSpPr>
          <p:spPr bwMode="auto">
            <a:xfrm>
              <a:off x="3924" y="212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4" name="Text Box 192"/>
            <p:cNvSpPr txBox="1">
              <a:spLocks noChangeArrowheads="1"/>
            </p:cNvSpPr>
            <p:nvPr/>
          </p:nvSpPr>
          <p:spPr bwMode="auto">
            <a:xfrm>
              <a:off x="4476" y="2121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grpSp>
        <p:nvGrpSpPr>
          <p:cNvPr id="9" name="Group 193"/>
          <p:cNvGrpSpPr>
            <a:grpSpLocks/>
          </p:cNvGrpSpPr>
          <p:nvPr/>
        </p:nvGrpSpPr>
        <p:grpSpPr bwMode="auto">
          <a:xfrm>
            <a:off x="1498603" y="2697163"/>
            <a:ext cx="7112003" cy="366712"/>
            <a:chOff x="944" y="1893"/>
            <a:chExt cx="4480" cy="231"/>
          </a:xfrm>
        </p:grpSpPr>
        <p:sp>
          <p:nvSpPr>
            <p:cNvPr id="87233" name="Text Box 194"/>
            <p:cNvSpPr txBox="1">
              <a:spLocks noChangeArrowheads="1"/>
            </p:cNvSpPr>
            <p:nvPr/>
          </p:nvSpPr>
          <p:spPr bwMode="auto">
            <a:xfrm>
              <a:off x="4992" y="1893"/>
              <a:ext cx="43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pc+4</a:t>
              </a:r>
            </a:p>
          </p:txBody>
        </p:sp>
        <p:sp>
          <p:nvSpPr>
            <p:cNvPr id="87234" name="Text Box 195"/>
            <p:cNvSpPr txBox="1">
              <a:spLocks noChangeArrowheads="1"/>
            </p:cNvSpPr>
            <p:nvPr/>
          </p:nvSpPr>
          <p:spPr bwMode="auto">
            <a:xfrm>
              <a:off x="944" y="1893"/>
              <a:ext cx="643" cy="2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dirty="0">
                  <a:solidFill>
                    <a:srgbClr val="56127A"/>
                  </a:solidFill>
                </a:rPr>
                <a:t>BsType</a:t>
              </a:r>
              <a:r>
                <a:rPr lang="en-US" baseline="-25000" dirty="0">
                  <a:solidFill>
                    <a:srgbClr val="56127A"/>
                  </a:solidFill>
                </a:rPr>
                <a:t>12</a:t>
              </a:r>
              <a:endParaRPr lang="en-US" dirty="0">
                <a:solidFill>
                  <a:srgbClr val="56127A"/>
                </a:solidFill>
              </a:endParaRPr>
            </a:p>
          </p:txBody>
        </p:sp>
        <p:sp>
          <p:nvSpPr>
            <p:cNvPr id="87235" name="Text Box 196"/>
            <p:cNvSpPr txBox="1">
              <a:spLocks noChangeArrowheads="1"/>
            </p:cNvSpPr>
            <p:nvPr/>
          </p:nvSpPr>
          <p:spPr bwMode="auto">
            <a:xfrm>
              <a:off x="1659" y="1893"/>
              <a:ext cx="39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Imm</a:t>
              </a:r>
            </a:p>
          </p:txBody>
        </p:sp>
        <p:sp>
          <p:nvSpPr>
            <p:cNvPr id="87236" name="Text Box 197"/>
            <p:cNvSpPr txBox="1">
              <a:spLocks noChangeArrowheads="1"/>
            </p:cNvSpPr>
            <p:nvPr/>
          </p:nvSpPr>
          <p:spPr bwMode="auto">
            <a:xfrm>
              <a:off x="2230" y="1893"/>
              <a:ext cx="20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+</a:t>
              </a:r>
            </a:p>
          </p:txBody>
        </p:sp>
        <p:sp>
          <p:nvSpPr>
            <p:cNvPr id="87237" name="Text Box 198"/>
            <p:cNvSpPr txBox="1">
              <a:spLocks noChangeArrowheads="1"/>
            </p:cNvSpPr>
            <p:nvPr/>
          </p:nvSpPr>
          <p:spPr bwMode="auto">
            <a:xfrm>
              <a:off x="2688" y="1893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38" name="Text Box 199"/>
            <p:cNvSpPr txBox="1">
              <a:spLocks noChangeArrowheads="1"/>
            </p:cNvSpPr>
            <p:nvPr/>
          </p:nvSpPr>
          <p:spPr bwMode="auto">
            <a:xfrm>
              <a:off x="3340" y="1893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39" name="Text Box 200"/>
            <p:cNvSpPr txBox="1">
              <a:spLocks noChangeArrowheads="1"/>
            </p:cNvSpPr>
            <p:nvPr/>
          </p:nvSpPr>
          <p:spPr bwMode="auto">
            <a:xfrm>
              <a:off x="3924" y="1893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  <p:sp>
          <p:nvSpPr>
            <p:cNvPr id="87240" name="Text Box 201"/>
            <p:cNvSpPr txBox="1">
              <a:spLocks noChangeArrowheads="1"/>
            </p:cNvSpPr>
            <p:nvPr/>
          </p:nvSpPr>
          <p:spPr bwMode="auto">
            <a:xfrm>
              <a:off x="4476" y="1893"/>
              <a:ext cx="17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*</a:t>
              </a:r>
            </a:p>
          </p:txBody>
        </p:sp>
      </p:grpSp>
      <p:sp>
        <p:nvSpPr>
          <p:cNvPr id="1234130" name="Text Box 210"/>
          <p:cNvSpPr txBox="1">
            <a:spLocks noChangeArrowheads="1"/>
          </p:cNvSpPr>
          <p:nvPr/>
        </p:nvSpPr>
        <p:spPr bwMode="auto">
          <a:xfrm>
            <a:off x="7924800" y="1727200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sp>
        <p:nvSpPr>
          <p:cNvPr id="1234131" name="Text Box 211"/>
          <p:cNvSpPr txBox="1">
            <a:spLocks noChangeArrowheads="1"/>
          </p:cNvSpPr>
          <p:nvPr/>
        </p:nvSpPr>
        <p:spPr bwMode="auto">
          <a:xfrm>
            <a:off x="1928813" y="1727200"/>
            <a:ext cx="2730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*</a:t>
            </a:r>
          </a:p>
        </p:txBody>
      </p:sp>
      <p:sp>
        <p:nvSpPr>
          <p:cNvPr id="1234132" name="Text Box 212"/>
          <p:cNvSpPr txBox="1">
            <a:spLocks noChangeArrowheads="1"/>
          </p:cNvSpPr>
          <p:nvPr/>
        </p:nvSpPr>
        <p:spPr bwMode="auto">
          <a:xfrm>
            <a:off x="2590800" y="1727200"/>
            <a:ext cx="6032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Reg</a:t>
            </a:r>
          </a:p>
        </p:txBody>
      </p:sp>
      <p:sp>
        <p:nvSpPr>
          <p:cNvPr id="1234133" name="Text Box 213"/>
          <p:cNvSpPr txBox="1">
            <a:spLocks noChangeArrowheads="1"/>
          </p:cNvSpPr>
          <p:nvPr/>
        </p:nvSpPr>
        <p:spPr bwMode="auto">
          <a:xfrm>
            <a:off x="3352800" y="1727200"/>
            <a:ext cx="692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Func</a:t>
            </a:r>
          </a:p>
        </p:txBody>
      </p:sp>
      <p:sp>
        <p:nvSpPr>
          <p:cNvPr id="1234134" name="Text Box 214"/>
          <p:cNvSpPr txBox="1">
            <a:spLocks noChangeArrowheads="1"/>
          </p:cNvSpPr>
          <p:nvPr/>
        </p:nvSpPr>
        <p:spPr bwMode="auto">
          <a:xfrm>
            <a:off x="4319588" y="1727200"/>
            <a:ext cx="438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no</a:t>
            </a:r>
          </a:p>
        </p:txBody>
      </p:sp>
      <p:sp>
        <p:nvSpPr>
          <p:cNvPr id="1234135" name="Text Box 215"/>
          <p:cNvSpPr txBox="1">
            <a:spLocks noChangeArrowheads="1"/>
          </p:cNvSpPr>
          <p:nvPr/>
        </p:nvSpPr>
        <p:spPr bwMode="auto">
          <a:xfrm>
            <a:off x="5251450" y="1727200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136" name="Text Box 216"/>
          <p:cNvSpPr txBox="1">
            <a:spLocks noChangeArrowheads="1"/>
          </p:cNvSpPr>
          <p:nvPr/>
        </p:nvSpPr>
        <p:spPr bwMode="auto">
          <a:xfrm>
            <a:off x="6051550" y="1727200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ALU</a:t>
            </a:r>
          </a:p>
        </p:txBody>
      </p:sp>
      <p:sp>
        <p:nvSpPr>
          <p:cNvPr id="1234137" name="Text Box 217"/>
          <p:cNvSpPr txBox="1">
            <a:spLocks noChangeArrowheads="1"/>
          </p:cNvSpPr>
          <p:nvPr/>
        </p:nvSpPr>
        <p:spPr bwMode="auto">
          <a:xfrm>
            <a:off x="7080250" y="1727200"/>
            <a:ext cx="3873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rd</a:t>
            </a:r>
          </a:p>
        </p:txBody>
      </p:sp>
      <p:sp>
        <p:nvSpPr>
          <p:cNvPr id="1234138" name="Text Box 218"/>
          <p:cNvSpPr txBox="1">
            <a:spLocks noChangeArrowheads="1"/>
          </p:cNvSpPr>
          <p:nvPr/>
        </p:nvSpPr>
        <p:spPr bwMode="auto">
          <a:xfrm>
            <a:off x="1605928" y="2057400"/>
            <a:ext cx="9204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IType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</a:p>
        </p:txBody>
      </p:sp>
      <p:sp>
        <p:nvSpPr>
          <p:cNvPr id="1234139" name="Text Box 219"/>
          <p:cNvSpPr txBox="1">
            <a:spLocks noChangeArrowheads="1"/>
          </p:cNvSpPr>
          <p:nvPr/>
        </p:nvSpPr>
        <p:spPr bwMode="auto">
          <a:xfrm>
            <a:off x="2633663" y="2057400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Imm</a:t>
            </a:r>
          </a:p>
        </p:txBody>
      </p:sp>
      <p:sp>
        <p:nvSpPr>
          <p:cNvPr id="1234140" name="Text Box 220"/>
          <p:cNvSpPr txBox="1">
            <a:spLocks noChangeArrowheads="1"/>
          </p:cNvSpPr>
          <p:nvPr/>
        </p:nvSpPr>
        <p:spPr bwMode="auto">
          <a:xfrm>
            <a:off x="3454400" y="2057400"/>
            <a:ext cx="4889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Op</a:t>
            </a:r>
          </a:p>
        </p:txBody>
      </p:sp>
      <p:grpSp>
        <p:nvGrpSpPr>
          <p:cNvPr id="10" name="Group 221"/>
          <p:cNvGrpSpPr>
            <a:grpSpLocks/>
          </p:cNvGrpSpPr>
          <p:nvPr/>
        </p:nvGrpSpPr>
        <p:grpSpPr bwMode="auto">
          <a:xfrm>
            <a:off x="4319588" y="2057400"/>
            <a:ext cx="4291012" cy="366713"/>
            <a:chOff x="2721" y="1296"/>
            <a:chExt cx="2703" cy="231"/>
          </a:xfrm>
        </p:grpSpPr>
        <p:sp>
          <p:nvSpPr>
            <p:cNvPr id="87222" name="Text Box 222"/>
            <p:cNvSpPr txBox="1">
              <a:spLocks noChangeArrowheads="1"/>
            </p:cNvSpPr>
            <p:nvPr/>
          </p:nvSpPr>
          <p:spPr bwMode="auto">
            <a:xfrm>
              <a:off x="4992" y="1296"/>
              <a:ext cx="432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pc+4</a:t>
              </a:r>
            </a:p>
          </p:txBody>
        </p:sp>
        <p:sp>
          <p:nvSpPr>
            <p:cNvPr id="87223" name="Text Box 223"/>
            <p:cNvSpPr txBox="1">
              <a:spLocks noChangeArrowheads="1"/>
            </p:cNvSpPr>
            <p:nvPr/>
          </p:nvSpPr>
          <p:spPr bwMode="auto">
            <a:xfrm>
              <a:off x="2721" y="1296"/>
              <a:ext cx="27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no</a:t>
              </a:r>
            </a:p>
          </p:txBody>
        </p:sp>
        <p:sp>
          <p:nvSpPr>
            <p:cNvPr id="87224" name="Text Box 224"/>
            <p:cNvSpPr txBox="1">
              <a:spLocks noChangeArrowheads="1"/>
            </p:cNvSpPr>
            <p:nvPr/>
          </p:nvSpPr>
          <p:spPr bwMode="auto">
            <a:xfrm>
              <a:off x="3308" y="1296"/>
              <a:ext cx="34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yes</a:t>
              </a:r>
            </a:p>
          </p:txBody>
        </p:sp>
        <p:sp>
          <p:nvSpPr>
            <p:cNvPr id="87225" name="Text Box 225"/>
            <p:cNvSpPr txBox="1">
              <a:spLocks noChangeArrowheads="1"/>
            </p:cNvSpPr>
            <p:nvPr/>
          </p:nvSpPr>
          <p:spPr bwMode="auto">
            <a:xfrm>
              <a:off x="3812" y="1296"/>
              <a:ext cx="396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r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</a:rPr>
                <a:t>ALU</a:t>
              </a:r>
            </a:p>
          </p:txBody>
        </p:sp>
      </p:grpSp>
      <p:sp>
        <p:nvSpPr>
          <p:cNvPr id="1234146" name="Text Box 226"/>
          <p:cNvSpPr txBox="1">
            <a:spLocks noChangeArrowheads="1"/>
          </p:cNvSpPr>
          <p:nvPr/>
        </p:nvSpPr>
        <p:spPr bwMode="auto">
          <a:xfrm>
            <a:off x="7069750" y="2057400"/>
            <a:ext cx="38991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rd</a:t>
            </a:r>
            <a:endParaRPr lang="en-US" sz="1800" dirty="0">
              <a:solidFill>
                <a:srgbClr val="56127A"/>
              </a:solidFill>
            </a:endParaRPr>
          </a:p>
        </p:txBody>
      </p:sp>
      <p:sp>
        <p:nvSpPr>
          <p:cNvPr id="1234147" name="Text Box 227"/>
          <p:cNvSpPr txBox="1">
            <a:spLocks noChangeArrowheads="1"/>
          </p:cNvSpPr>
          <p:nvPr/>
        </p:nvSpPr>
        <p:spPr bwMode="auto">
          <a:xfrm>
            <a:off x="7924800" y="2378075"/>
            <a:ext cx="6858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pc+4</a:t>
            </a:r>
          </a:p>
        </p:txBody>
      </p:sp>
      <p:sp>
        <p:nvSpPr>
          <p:cNvPr id="1234148" name="Text Box 228"/>
          <p:cNvSpPr txBox="1">
            <a:spLocks noChangeArrowheads="1"/>
          </p:cNvSpPr>
          <p:nvPr/>
        </p:nvSpPr>
        <p:spPr bwMode="auto">
          <a:xfrm>
            <a:off x="1598956" y="2378075"/>
            <a:ext cx="920407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</a:rPr>
              <a:t>IType</a:t>
            </a:r>
            <a:r>
              <a:rPr lang="en-US" sz="1800" baseline="-25000" dirty="0">
                <a:solidFill>
                  <a:srgbClr val="56127A"/>
                </a:solidFill>
              </a:rPr>
              <a:t>12</a:t>
            </a:r>
            <a:endParaRPr lang="en-US" sz="1800" dirty="0">
              <a:solidFill>
                <a:srgbClr val="56127A"/>
              </a:solidFill>
            </a:endParaRPr>
          </a:p>
        </p:txBody>
      </p:sp>
      <p:sp>
        <p:nvSpPr>
          <p:cNvPr id="1234149" name="Text Box 229"/>
          <p:cNvSpPr txBox="1">
            <a:spLocks noChangeArrowheads="1"/>
          </p:cNvSpPr>
          <p:nvPr/>
        </p:nvSpPr>
        <p:spPr bwMode="auto">
          <a:xfrm>
            <a:off x="2633663" y="2378075"/>
            <a:ext cx="6286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Imm</a:t>
            </a:r>
          </a:p>
        </p:txBody>
      </p:sp>
      <p:sp>
        <p:nvSpPr>
          <p:cNvPr id="1234150" name="Text Box 230"/>
          <p:cNvSpPr txBox="1">
            <a:spLocks noChangeArrowheads="1"/>
          </p:cNvSpPr>
          <p:nvPr/>
        </p:nvSpPr>
        <p:spPr bwMode="auto">
          <a:xfrm>
            <a:off x="3540125" y="2378075"/>
            <a:ext cx="3175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+</a:t>
            </a:r>
          </a:p>
        </p:txBody>
      </p:sp>
      <p:sp>
        <p:nvSpPr>
          <p:cNvPr id="1234151" name="Text Box 231"/>
          <p:cNvSpPr txBox="1">
            <a:spLocks noChangeArrowheads="1"/>
          </p:cNvSpPr>
          <p:nvPr/>
        </p:nvSpPr>
        <p:spPr bwMode="auto">
          <a:xfrm>
            <a:off x="4319588" y="2378075"/>
            <a:ext cx="438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no</a:t>
            </a:r>
          </a:p>
        </p:txBody>
      </p:sp>
      <p:sp>
        <p:nvSpPr>
          <p:cNvPr id="1234152" name="Text Box 232"/>
          <p:cNvSpPr txBox="1">
            <a:spLocks noChangeArrowheads="1"/>
          </p:cNvSpPr>
          <p:nvPr/>
        </p:nvSpPr>
        <p:spPr bwMode="auto">
          <a:xfrm>
            <a:off x="5251450" y="2378075"/>
            <a:ext cx="539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yes</a:t>
            </a:r>
          </a:p>
        </p:txBody>
      </p:sp>
      <p:sp>
        <p:nvSpPr>
          <p:cNvPr id="1234153" name="Text Box 233"/>
          <p:cNvSpPr txBox="1">
            <a:spLocks noChangeArrowheads="1"/>
          </p:cNvSpPr>
          <p:nvPr/>
        </p:nvSpPr>
        <p:spPr bwMode="auto">
          <a:xfrm>
            <a:off x="6075363" y="2378075"/>
            <a:ext cx="6921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</a:rPr>
              <a:t>Mem</a:t>
            </a:r>
          </a:p>
        </p:txBody>
      </p:sp>
      <p:sp>
        <p:nvSpPr>
          <p:cNvPr id="1234154" name="Text Box 234"/>
          <p:cNvSpPr txBox="1">
            <a:spLocks noChangeArrowheads="1"/>
          </p:cNvSpPr>
          <p:nvPr/>
        </p:nvSpPr>
        <p:spPr bwMode="auto">
          <a:xfrm>
            <a:off x="7069750" y="2378075"/>
            <a:ext cx="389913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1800" dirty="0" err="1">
                <a:solidFill>
                  <a:srgbClr val="56127A"/>
                </a:solidFill>
              </a:rPr>
              <a:t>rd</a:t>
            </a:r>
            <a:endParaRPr lang="en-US" sz="1800" dirty="0">
              <a:solidFill>
                <a:srgbClr val="5612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78919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9B1A6-B19C-8748-A650-46CB9F14C290}" type="slidenum">
              <a:rPr lang="en-US"/>
              <a:pPr/>
              <a:t>50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330178" name="Freeform 2"/>
          <p:cNvSpPr>
            <a:spLocks/>
          </p:cNvSpPr>
          <p:nvPr/>
        </p:nvSpPr>
        <p:spPr bwMode="auto">
          <a:xfrm>
            <a:off x="207963" y="1295400"/>
            <a:ext cx="1566862" cy="1216025"/>
          </a:xfrm>
          <a:custGeom>
            <a:avLst/>
            <a:gdLst/>
            <a:ahLst/>
            <a:cxnLst>
              <a:cxn ang="0">
                <a:pos x="800" y="311"/>
              </a:cxn>
              <a:cxn ang="0">
                <a:pos x="987" y="311"/>
              </a:cxn>
              <a:cxn ang="0">
                <a:pos x="987" y="0"/>
              </a:cxn>
              <a:cxn ang="0">
                <a:pos x="0" y="0"/>
              </a:cxn>
              <a:cxn ang="0">
                <a:pos x="0" y="765"/>
              </a:cxn>
              <a:cxn ang="0">
                <a:pos x="541" y="766"/>
              </a:cxn>
            </a:cxnLst>
            <a:rect l="0" t="0" r="r" b="b"/>
            <a:pathLst>
              <a:path w="987" h="766">
                <a:moveTo>
                  <a:pt x="800" y="311"/>
                </a:moveTo>
                <a:lnTo>
                  <a:pt x="987" y="311"/>
                </a:lnTo>
                <a:lnTo>
                  <a:pt x="987" y="0"/>
                </a:lnTo>
                <a:lnTo>
                  <a:pt x="0" y="0"/>
                </a:lnTo>
                <a:lnTo>
                  <a:pt x="0" y="765"/>
                </a:lnTo>
                <a:lnTo>
                  <a:pt x="541" y="76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79" name="Rectangle 3"/>
          <p:cNvSpPr>
            <a:spLocks noGrp="1" noChangeArrowheads="1"/>
          </p:cNvSpPr>
          <p:nvPr>
            <p:ph type="title"/>
          </p:nvPr>
        </p:nvSpPr>
        <p:spPr>
          <a:xfrm>
            <a:off x="282575" y="488950"/>
            <a:ext cx="7804150" cy="746125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Pipelined </a:t>
            </a:r>
            <a:r>
              <a:rPr lang="en-US" dirty="0" err="1"/>
              <a:t>Datapath</a:t>
            </a:r>
            <a:endParaRPr lang="en-US" sz="2000" i="1" dirty="0"/>
          </a:p>
        </p:txBody>
      </p:sp>
      <p:sp>
        <p:nvSpPr>
          <p:cNvPr id="1330180" name="Rectangle 4"/>
          <p:cNvSpPr>
            <a:spLocks noChangeArrowheads="1"/>
          </p:cNvSpPr>
          <p:nvPr/>
        </p:nvSpPr>
        <p:spPr bwMode="auto">
          <a:xfrm>
            <a:off x="639763" y="4978400"/>
            <a:ext cx="8042275" cy="1582738"/>
          </a:xfrm>
          <a:prstGeom prst="rect">
            <a:avLst/>
          </a:prstGeom>
          <a:noFill/>
          <a:ln w="1270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Clock period can be reduced by dividing the execution of an instruction into multiple cycles</a:t>
            </a:r>
          </a:p>
          <a:p>
            <a:pPr>
              <a:spcBef>
                <a:spcPct val="0"/>
              </a:spcBef>
            </a:pPr>
            <a:endParaRPr lang="en-US" sz="1000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	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C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 &gt; max {t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IM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, 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RF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, 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ALU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, 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DM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, 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RW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} ( = 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DM  </a:t>
            </a:r>
            <a:r>
              <a:rPr lang="en-US" sz="2000" i="1">
                <a:solidFill>
                  <a:srgbClr val="56127A"/>
                </a:solidFill>
                <a:latin typeface="Verdana" charset="0"/>
              </a:rPr>
              <a:t>probably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)</a:t>
            </a:r>
            <a:r>
              <a:rPr lang="en-US" sz="2000" baseline="-25000">
                <a:solidFill>
                  <a:schemeClr val="tx1"/>
                </a:solidFill>
                <a:latin typeface="Verdana" charset="0"/>
              </a:rPr>
              <a:t> </a:t>
            </a:r>
          </a:p>
          <a:p>
            <a:pPr>
              <a:spcBef>
                <a:spcPct val="0"/>
              </a:spcBef>
            </a:pPr>
            <a:endParaRPr lang="en-US" sz="1200" baseline="-25000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000" i="1">
                <a:solidFill>
                  <a:schemeClr val="tx1"/>
                </a:solidFill>
                <a:latin typeface="Verdana" charset="0"/>
              </a:rPr>
              <a:t>However, CPI will increase unless instructions are pipelined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27088" y="4000500"/>
            <a:ext cx="8315325" cy="1003300"/>
            <a:chOff x="521" y="2520"/>
            <a:chExt cx="5238" cy="632"/>
          </a:xfrm>
        </p:grpSpPr>
        <p:sp>
          <p:nvSpPr>
            <p:cNvPr id="1330182" name="Rectangle 6"/>
            <p:cNvSpPr>
              <a:spLocks noChangeArrowheads="1"/>
            </p:cNvSpPr>
            <p:nvPr/>
          </p:nvSpPr>
          <p:spPr bwMode="auto">
            <a:xfrm>
              <a:off x="5169" y="2520"/>
              <a:ext cx="590" cy="63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write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-back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phase</a:t>
              </a:r>
            </a:p>
          </p:txBody>
        </p:sp>
        <p:sp>
          <p:nvSpPr>
            <p:cNvPr id="1330183" name="Rectangle 7"/>
            <p:cNvSpPr>
              <a:spLocks noChangeArrowheads="1"/>
            </p:cNvSpPr>
            <p:nvPr/>
          </p:nvSpPr>
          <p:spPr bwMode="auto">
            <a:xfrm>
              <a:off x="521" y="2638"/>
              <a:ext cx="633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fetch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phase</a:t>
              </a:r>
            </a:p>
          </p:txBody>
        </p:sp>
        <p:sp>
          <p:nvSpPr>
            <p:cNvPr id="1330184" name="Rectangle 8"/>
            <p:cNvSpPr>
              <a:spLocks noChangeArrowheads="1"/>
            </p:cNvSpPr>
            <p:nvPr/>
          </p:nvSpPr>
          <p:spPr bwMode="auto">
            <a:xfrm>
              <a:off x="3134" y="2638"/>
              <a:ext cx="809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execute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phase</a:t>
              </a:r>
            </a:p>
          </p:txBody>
        </p:sp>
        <p:sp>
          <p:nvSpPr>
            <p:cNvPr id="1330185" name="Rectangle 9"/>
            <p:cNvSpPr>
              <a:spLocks noChangeArrowheads="1"/>
            </p:cNvSpPr>
            <p:nvPr/>
          </p:nvSpPr>
          <p:spPr bwMode="auto">
            <a:xfrm>
              <a:off x="1310" y="2638"/>
              <a:ext cx="1729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decode &amp; Reg-fetch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phase</a:t>
              </a:r>
            </a:p>
          </p:txBody>
        </p:sp>
        <p:sp>
          <p:nvSpPr>
            <p:cNvPr id="1330186" name="Rectangle 10"/>
            <p:cNvSpPr>
              <a:spLocks noChangeArrowheads="1"/>
            </p:cNvSpPr>
            <p:nvPr/>
          </p:nvSpPr>
          <p:spPr bwMode="auto">
            <a:xfrm>
              <a:off x="4139" y="2638"/>
              <a:ext cx="881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memory</a:t>
              </a:r>
            </a:p>
            <a:p>
              <a:pPr algn="ctr">
                <a:spcBef>
                  <a:spcPct val="0"/>
                </a:spcBef>
              </a:pPr>
              <a:r>
                <a:rPr lang="en-US" sz="2000" i="1">
                  <a:solidFill>
                    <a:srgbClr val="56127A"/>
                  </a:solidFill>
                  <a:latin typeface="Verdana" charset="0"/>
                </a:rPr>
                <a:t>phase</a:t>
              </a:r>
            </a:p>
          </p:txBody>
        </p:sp>
      </p:grpSp>
      <p:sp>
        <p:nvSpPr>
          <p:cNvPr id="1330187" name="Freeform 11"/>
          <p:cNvSpPr>
            <a:spLocks/>
          </p:cNvSpPr>
          <p:nvPr/>
        </p:nvSpPr>
        <p:spPr bwMode="auto">
          <a:xfrm>
            <a:off x="4191000" y="2819400"/>
            <a:ext cx="2593975" cy="654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18"/>
              </a:cxn>
              <a:cxn ang="0">
                <a:pos x="1237" y="418"/>
              </a:cxn>
            </a:cxnLst>
            <a:rect l="0" t="0" r="r" b="b"/>
            <a:pathLst>
              <a:path w="1238" h="419">
                <a:moveTo>
                  <a:pt x="0" y="0"/>
                </a:moveTo>
                <a:lnTo>
                  <a:pt x="0" y="418"/>
                </a:lnTo>
                <a:lnTo>
                  <a:pt x="1237" y="41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88" name="Line 12"/>
          <p:cNvSpPr>
            <a:spLocks noChangeShapeType="1"/>
          </p:cNvSpPr>
          <p:nvPr/>
        </p:nvSpPr>
        <p:spPr bwMode="auto">
          <a:xfrm flipV="1">
            <a:off x="5715000" y="2667000"/>
            <a:ext cx="10699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89" name="Freeform 13"/>
          <p:cNvSpPr>
            <a:spLocks/>
          </p:cNvSpPr>
          <p:nvPr/>
        </p:nvSpPr>
        <p:spPr bwMode="auto">
          <a:xfrm flipV="1">
            <a:off x="7559675" y="2862263"/>
            <a:ext cx="287338" cy="103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57" y="0"/>
              </a:cxn>
            </a:cxnLst>
            <a:rect l="0" t="0" r="r" b="b"/>
            <a:pathLst>
              <a:path w="358" h="1">
                <a:moveTo>
                  <a:pt x="0" y="0"/>
                </a:moveTo>
                <a:lnTo>
                  <a:pt x="357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90" name="Freeform 14"/>
          <p:cNvSpPr>
            <a:spLocks/>
          </p:cNvSpPr>
          <p:nvPr/>
        </p:nvSpPr>
        <p:spPr bwMode="auto">
          <a:xfrm>
            <a:off x="3152775" y="2759075"/>
            <a:ext cx="5367338" cy="1355725"/>
          </a:xfrm>
          <a:custGeom>
            <a:avLst/>
            <a:gdLst/>
            <a:ahLst/>
            <a:cxnLst>
              <a:cxn ang="0">
                <a:pos x="3097" y="244"/>
              </a:cxn>
              <a:cxn ang="0">
                <a:pos x="3381" y="240"/>
              </a:cxn>
              <a:cxn ang="0">
                <a:pos x="3379" y="854"/>
              </a:cxn>
              <a:cxn ang="0">
                <a:pos x="0" y="853"/>
              </a:cxn>
              <a:cxn ang="0">
                <a:pos x="1" y="0"/>
              </a:cxn>
              <a:cxn ang="0">
                <a:pos x="131" y="0"/>
              </a:cxn>
            </a:cxnLst>
            <a:rect l="0" t="0" r="r" b="b"/>
            <a:pathLst>
              <a:path w="3381" h="854">
                <a:moveTo>
                  <a:pt x="3097" y="244"/>
                </a:moveTo>
                <a:lnTo>
                  <a:pt x="3381" y="240"/>
                </a:lnTo>
                <a:lnTo>
                  <a:pt x="3379" y="854"/>
                </a:lnTo>
                <a:lnTo>
                  <a:pt x="0" y="853"/>
                </a:lnTo>
                <a:lnTo>
                  <a:pt x="1" y="0"/>
                </a:lnTo>
                <a:lnTo>
                  <a:pt x="131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91" name="Freeform 15"/>
          <p:cNvSpPr>
            <a:spLocks/>
          </p:cNvSpPr>
          <p:nvPr/>
        </p:nvSpPr>
        <p:spPr bwMode="auto">
          <a:xfrm>
            <a:off x="7847013" y="2855913"/>
            <a:ext cx="230187" cy="611187"/>
          </a:xfrm>
          <a:custGeom>
            <a:avLst/>
            <a:gdLst/>
            <a:ahLst/>
            <a:cxnLst>
              <a:cxn ang="0">
                <a:pos x="144" y="48"/>
              </a:cxn>
              <a:cxn ang="0">
                <a:pos x="144" y="336"/>
              </a:cxn>
              <a:cxn ang="0">
                <a:pos x="0" y="384"/>
              </a:cxn>
              <a:cxn ang="0">
                <a:pos x="0" y="0"/>
              </a:cxn>
              <a:cxn ang="0">
                <a:pos x="144" y="48"/>
              </a:cxn>
            </a:cxnLst>
            <a:rect l="0" t="0" r="r" b="b"/>
            <a:pathLst>
              <a:path w="145" h="385">
                <a:moveTo>
                  <a:pt x="144" y="48"/>
                </a:moveTo>
                <a:lnTo>
                  <a:pt x="144" y="336"/>
                </a:lnTo>
                <a:lnTo>
                  <a:pt x="0" y="384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92" name="Rectangle 16"/>
          <p:cNvSpPr>
            <a:spLocks noChangeArrowheads="1"/>
          </p:cNvSpPr>
          <p:nvPr/>
        </p:nvSpPr>
        <p:spPr bwMode="auto">
          <a:xfrm>
            <a:off x="6777038" y="2444750"/>
            <a:ext cx="774700" cy="11938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93" name="Rectangle 17"/>
          <p:cNvSpPr>
            <a:spLocks noChangeArrowheads="1"/>
          </p:cNvSpPr>
          <p:nvPr/>
        </p:nvSpPr>
        <p:spPr bwMode="auto">
          <a:xfrm>
            <a:off x="6711950" y="2517775"/>
            <a:ext cx="527050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addr</a:t>
            </a:r>
          </a:p>
        </p:txBody>
      </p:sp>
      <p:sp>
        <p:nvSpPr>
          <p:cNvPr id="1330194" name="Rectangle 18"/>
          <p:cNvSpPr>
            <a:spLocks noChangeArrowheads="1"/>
          </p:cNvSpPr>
          <p:nvPr/>
        </p:nvSpPr>
        <p:spPr bwMode="auto">
          <a:xfrm>
            <a:off x="6724650" y="3327400"/>
            <a:ext cx="64452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wdata</a:t>
            </a:r>
          </a:p>
        </p:txBody>
      </p:sp>
      <p:sp>
        <p:nvSpPr>
          <p:cNvPr id="1330195" name="Rectangle 19"/>
          <p:cNvSpPr>
            <a:spLocks noChangeArrowheads="1"/>
          </p:cNvSpPr>
          <p:nvPr/>
        </p:nvSpPr>
        <p:spPr bwMode="auto">
          <a:xfrm>
            <a:off x="7061200" y="2771775"/>
            <a:ext cx="584200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rdata</a:t>
            </a:r>
          </a:p>
        </p:txBody>
      </p:sp>
      <p:sp>
        <p:nvSpPr>
          <p:cNvPr id="1330196" name="Rectangle 20"/>
          <p:cNvSpPr>
            <a:spLocks noChangeArrowheads="1"/>
          </p:cNvSpPr>
          <p:nvPr/>
        </p:nvSpPr>
        <p:spPr bwMode="auto">
          <a:xfrm>
            <a:off x="6723063" y="2905125"/>
            <a:ext cx="898525" cy="514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  <a:latin typeface="Verdana" charset="0"/>
              </a:rPr>
              <a:t>Data</a:t>
            </a:r>
          </a:p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  <a:latin typeface="Verdana" charset="0"/>
              </a:rPr>
              <a:t>Memory</a:t>
            </a:r>
          </a:p>
        </p:txBody>
      </p:sp>
      <p:sp>
        <p:nvSpPr>
          <p:cNvPr id="1330197" name="Rectangle 21"/>
          <p:cNvSpPr>
            <a:spLocks noChangeArrowheads="1"/>
          </p:cNvSpPr>
          <p:nvPr/>
        </p:nvSpPr>
        <p:spPr bwMode="auto">
          <a:xfrm>
            <a:off x="6927850" y="2365375"/>
            <a:ext cx="39687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we</a:t>
            </a:r>
          </a:p>
        </p:txBody>
      </p:sp>
      <p:sp>
        <p:nvSpPr>
          <p:cNvPr id="1330198" name="Line 22"/>
          <p:cNvSpPr>
            <a:spLocks noChangeShapeType="1"/>
          </p:cNvSpPr>
          <p:nvPr/>
        </p:nvSpPr>
        <p:spPr bwMode="auto">
          <a:xfrm>
            <a:off x="6815138" y="2457450"/>
            <a:ext cx="50800" cy="76200"/>
          </a:xfrm>
          <a:prstGeom prst="line">
            <a:avLst/>
          </a:prstGeom>
          <a:noFill/>
          <a:ln w="25400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199" name="Line 23"/>
          <p:cNvSpPr>
            <a:spLocks noChangeShapeType="1"/>
          </p:cNvSpPr>
          <p:nvPr/>
        </p:nvSpPr>
        <p:spPr bwMode="auto">
          <a:xfrm flipV="1">
            <a:off x="6865938" y="2432050"/>
            <a:ext cx="38100" cy="88900"/>
          </a:xfrm>
          <a:prstGeom prst="line">
            <a:avLst/>
          </a:prstGeom>
          <a:noFill/>
          <a:ln w="25400">
            <a:noFill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1" name="Freeform 25"/>
          <p:cNvSpPr>
            <a:spLocks/>
          </p:cNvSpPr>
          <p:nvPr/>
        </p:nvSpPr>
        <p:spPr bwMode="auto">
          <a:xfrm>
            <a:off x="3970338" y="2994025"/>
            <a:ext cx="449262" cy="419100"/>
          </a:xfrm>
          <a:custGeom>
            <a:avLst/>
            <a:gdLst/>
            <a:ahLst/>
            <a:cxnLst>
              <a:cxn ang="0">
                <a:pos x="0" y="262"/>
              </a:cxn>
              <a:cxn ang="0">
                <a:pos x="72" y="264"/>
              </a:cxn>
              <a:cxn ang="0">
                <a:pos x="72" y="0"/>
              </a:cxn>
              <a:cxn ang="0">
                <a:pos x="283" y="0"/>
              </a:cxn>
            </a:cxnLst>
            <a:rect l="0" t="0" r="r" b="b"/>
            <a:pathLst>
              <a:path w="283" h="264">
                <a:moveTo>
                  <a:pt x="0" y="262"/>
                </a:moveTo>
                <a:lnTo>
                  <a:pt x="72" y="264"/>
                </a:lnTo>
                <a:lnTo>
                  <a:pt x="72" y="0"/>
                </a:lnTo>
                <a:lnTo>
                  <a:pt x="283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2" name="Freeform 26"/>
          <p:cNvSpPr>
            <a:spLocks/>
          </p:cNvSpPr>
          <p:nvPr/>
        </p:nvSpPr>
        <p:spPr bwMode="auto">
          <a:xfrm>
            <a:off x="2378075" y="2165350"/>
            <a:ext cx="968375" cy="306388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0" y="0"/>
              </a:cxn>
              <a:cxn ang="0">
                <a:pos x="816" y="0"/>
              </a:cxn>
            </a:cxnLst>
            <a:rect l="0" t="0" r="r" b="b"/>
            <a:pathLst>
              <a:path w="817" h="193">
                <a:moveTo>
                  <a:pt x="0" y="192"/>
                </a:moveTo>
                <a:lnTo>
                  <a:pt x="0" y="0"/>
                </a:lnTo>
                <a:lnTo>
                  <a:pt x="81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3" name="Freeform 27"/>
          <p:cNvSpPr>
            <a:spLocks/>
          </p:cNvSpPr>
          <p:nvPr/>
        </p:nvSpPr>
        <p:spPr bwMode="auto">
          <a:xfrm>
            <a:off x="2378075" y="2317750"/>
            <a:ext cx="971550" cy="76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816" y="0"/>
              </a:cxn>
            </a:cxnLst>
            <a:rect l="0" t="0" r="r" b="b"/>
            <a:pathLst>
              <a:path w="817" h="1">
                <a:moveTo>
                  <a:pt x="0" y="0"/>
                </a:moveTo>
                <a:lnTo>
                  <a:pt x="816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5" name="Freeform 29"/>
          <p:cNvSpPr>
            <a:spLocks/>
          </p:cNvSpPr>
          <p:nvPr/>
        </p:nvSpPr>
        <p:spPr bwMode="auto">
          <a:xfrm>
            <a:off x="2378075" y="2438400"/>
            <a:ext cx="984250" cy="94773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02"/>
              </a:cxn>
              <a:cxn ang="0">
                <a:pos x="816" y="402"/>
              </a:cxn>
            </a:cxnLst>
            <a:rect l="0" t="0" r="r" b="b"/>
            <a:pathLst>
              <a:path w="817" h="403">
                <a:moveTo>
                  <a:pt x="0" y="0"/>
                </a:moveTo>
                <a:lnTo>
                  <a:pt x="0" y="402"/>
                </a:lnTo>
                <a:lnTo>
                  <a:pt x="816" y="402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7" name="Freeform 31"/>
          <p:cNvSpPr>
            <a:spLocks/>
          </p:cNvSpPr>
          <p:nvPr/>
        </p:nvSpPr>
        <p:spPr bwMode="auto">
          <a:xfrm>
            <a:off x="2381954" y="2624319"/>
            <a:ext cx="967671" cy="4571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1" y="0"/>
              </a:cxn>
            </a:cxnLst>
            <a:rect l="0" t="0" r="r" b="b"/>
            <a:pathLst>
              <a:path w="282" h="1">
                <a:moveTo>
                  <a:pt x="0" y="0"/>
                </a:moveTo>
                <a:lnTo>
                  <a:pt x="281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8" name="Freeform 32"/>
          <p:cNvSpPr>
            <a:spLocks/>
          </p:cNvSpPr>
          <p:nvPr/>
        </p:nvSpPr>
        <p:spPr bwMode="auto">
          <a:xfrm>
            <a:off x="3956050" y="2478088"/>
            <a:ext cx="1362075" cy="1047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15" y="0"/>
              </a:cxn>
            </a:cxnLst>
            <a:rect l="0" t="0" r="r" b="b"/>
            <a:pathLst>
              <a:path w="916" h="1">
                <a:moveTo>
                  <a:pt x="0" y="0"/>
                </a:moveTo>
                <a:lnTo>
                  <a:pt x="915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09" name="Freeform 33"/>
          <p:cNvSpPr>
            <a:spLocks/>
          </p:cNvSpPr>
          <p:nvPr/>
        </p:nvSpPr>
        <p:spPr bwMode="auto">
          <a:xfrm flipV="1">
            <a:off x="3944938" y="2724150"/>
            <a:ext cx="473075" cy="95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88" y="0"/>
              </a:cxn>
            </a:cxnLst>
            <a:rect l="0" t="0" r="r" b="b"/>
            <a:pathLst>
              <a:path w="689" h="1">
                <a:moveTo>
                  <a:pt x="0" y="0"/>
                </a:moveTo>
                <a:lnTo>
                  <a:pt x="688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0" name="Rectangle 34"/>
          <p:cNvSpPr>
            <a:spLocks noChangeArrowheads="1"/>
          </p:cNvSpPr>
          <p:nvPr/>
        </p:nvSpPr>
        <p:spPr bwMode="auto">
          <a:xfrm>
            <a:off x="2339975" y="2003425"/>
            <a:ext cx="8128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1" name="Oval 35"/>
          <p:cNvSpPr>
            <a:spLocks noChangeArrowheads="1"/>
          </p:cNvSpPr>
          <p:nvPr/>
        </p:nvSpPr>
        <p:spPr bwMode="auto">
          <a:xfrm>
            <a:off x="2352675" y="2613025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2" name="Freeform 36"/>
          <p:cNvSpPr>
            <a:spLocks/>
          </p:cNvSpPr>
          <p:nvPr/>
        </p:nvSpPr>
        <p:spPr bwMode="auto">
          <a:xfrm>
            <a:off x="5318125" y="2393950"/>
            <a:ext cx="411163" cy="611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60"/>
              </a:cxn>
              <a:cxn ang="0">
                <a:pos x="52" y="192"/>
              </a:cxn>
              <a:cxn ang="0">
                <a:pos x="0" y="224"/>
              </a:cxn>
              <a:cxn ang="0">
                <a:pos x="0" y="384"/>
              </a:cxn>
              <a:cxn ang="0">
                <a:pos x="258" y="288"/>
              </a:cxn>
              <a:cxn ang="0">
                <a:pos x="258" y="96"/>
              </a:cxn>
              <a:cxn ang="0">
                <a:pos x="0" y="0"/>
              </a:cxn>
            </a:cxnLst>
            <a:rect l="0" t="0" r="r" b="b"/>
            <a:pathLst>
              <a:path w="259" h="385">
                <a:moveTo>
                  <a:pt x="0" y="0"/>
                </a:moveTo>
                <a:lnTo>
                  <a:pt x="0" y="160"/>
                </a:lnTo>
                <a:lnTo>
                  <a:pt x="52" y="192"/>
                </a:lnTo>
                <a:lnTo>
                  <a:pt x="0" y="224"/>
                </a:lnTo>
                <a:lnTo>
                  <a:pt x="0" y="384"/>
                </a:lnTo>
                <a:lnTo>
                  <a:pt x="258" y="288"/>
                </a:lnTo>
                <a:lnTo>
                  <a:pt x="258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3" name="Rectangle 37"/>
          <p:cNvSpPr>
            <a:spLocks noChangeArrowheads="1"/>
          </p:cNvSpPr>
          <p:nvPr/>
        </p:nvSpPr>
        <p:spPr bwMode="auto">
          <a:xfrm>
            <a:off x="5310188" y="2582863"/>
            <a:ext cx="48101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  <a:latin typeface="Verdana" charset="0"/>
              </a:rPr>
              <a:t>ALU</a:t>
            </a:r>
          </a:p>
        </p:txBody>
      </p:sp>
      <p:sp>
        <p:nvSpPr>
          <p:cNvPr id="1330214" name="Freeform 38"/>
          <p:cNvSpPr>
            <a:spLocks/>
          </p:cNvSpPr>
          <p:nvPr/>
        </p:nvSpPr>
        <p:spPr bwMode="auto">
          <a:xfrm>
            <a:off x="4418013" y="2698750"/>
            <a:ext cx="230187" cy="458788"/>
          </a:xfrm>
          <a:custGeom>
            <a:avLst/>
            <a:gdLst/>
            <a:ahLst/>
            <a:cxnLst>
              <a:cxn ang="0">
                <a:pos x="144" y="48"/>
              </a:cxn>
              <a:cxn ang="0">
                <a:pos x="144" y="240"/>
              </a:cxn>
              <a:cxn ang="0">
                <a:pos x="0" y="288"/>
              </a:cxn>
              <a:cxn ang="0">
                <a:pos x="0" y="0"/>
              </a:cxn>
              <a:cxn ang="0">
                <a:pos x="144" y="48"/>
              </a:cxn>
            </a:cxnLst>
            <a:rect l="0" t="0" r="r" b="b"/>
            <a:pathLst>
              <a:path w="145" h="289">
                <a:moveTo>
                  <a:pt x="144" y="48"/>
                </a:moveTo>
                <a:lnTo>
                  <a:pt x="144" y="240"/>
                </a:lnTo>
                <a:lnTo>
                  <a:pt x="0" y="288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5" name="Line 39"/>
          <p:cNvSpPr>
            <a:spLocks noChangeShapeType="1"/>
          </p:cNvSpPr>
          <p:nvPr/>
        </p:nvSpPr>
        <p:spPr bwMode="auto">
          <a:xfrm flipH="1">
            <a:off x="4648200" y="2903538"/>
            <a:ext cx="669925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6" name="Rectangle 40"/>
          <p:cNvSpPr>
            <a:spLocks noChangeArrowheads="1"/>
          </p:cNvSpPr>
          <p:nvPr/>
        </p:nvSpPr>
        <p:spPr bwMode="auto">
          <a:xfrm>
            <a:off x="3360738" y="3244850"/>
            <a:ext cx="584200" cy="330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7" name="Rectangle 41"/>
          <p:cNvSpPr>
            <a:spLocks noChangeArrowheads="1"/>
          </p:cNvSpPr>
          <p:nvPr/>
        </p:nvSpPr>
        <p:spPr bwMode="auto">
          <a:xfrm>
            <a:off x="3367552" y="3190875"/>
            <a:ext cx="615028" cy="4283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100" dirty="0" err="1">
                <a:solidFill>
                  <a:srgbClr val="56127A"/>
                </a:solidFill>
                <a:latin typeface="Verdana" charset="0"/>
              </a:rPr>
              <a:t>Imm</a:t>
            </a:r>
            <a:endParaRPr lang="en-US" sz="1100" dirty="0">
              <a:solidFill>
                <a:srgbClr val="56127A"/>
              </a:solidFill>
              <a:latin typeface="Verdana" charset="0"/>
            </a:endParaRPr>
          </a:p>
          <a:p>
            <a:pPr algn="ctr">
              <a:spcBef>
                <a:spcPct val="0"/>
              </a:spcBef>
            </a:pPr>
            <a:r>
              <a:rPr lang="en-US" sz="1100" dirty="0">
                <a:solidFill>
                  <a:srgbClr val="56127A"/>
                </a:solidFill>
                <a:latin typeface="Verdana" charset="0"/>
              </a:rPr>
              <a:t>Select</a:t>
            </a:r>
          </a:p>
        </p:txBody>
      </p:sp>
      <p:sp>
        <p:nvSpPr>
          <p:cNvPr id="1330218" name="Line 42"/>
          <p:cNvSpPr>
            <a:spLocks noChangeShapeType="1"/>
          </p:cNvSpPr>
          <p:nvPr/>
        </p:nvSpPr>
        <p:spPr bwMode="auto">
          <a:xfrm>
            <a:off x="1841500" y="2641600"/>
            <a:ext cx="527050" cy="31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19" name="Rectangle 43"/>
          <p:cNvSpPr>
            <a:spLocks noChangeArrowheads="1"/>
          </p:cNvSpPr>
          <p:nvPr/>
        </p:nvSpPr>
        <p:spPr bwMode="auto">
          <a:xfrm>
            <a:off x="625475" y="1439863"/>
            <a:ext cx="465138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  <a:latin typeface="Verdana" charset="0"/>
              </a:rPr>
              <a:t>0x4</a:t>
            </a:r>
          </a:p>
        </p:txBody>
      </p:sp>
      <p:sp>
        <p:nvSpPr>
          <p:cNvPr id="1330220" name="Freeform 44"/>
          <p:cNvSpPr>
            <a:spLocks/>
          </p:cNvSpPr>
          <p:nvPr/>
        </p:nvSpPr>
        <p:spPr bwMode="auto">
          <a:xfrm>
            <a:off x="1103313" y="1497013"/>
            <a:ext cx="382587" cy="6111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60"/>
              </a:cxn>
              <a:cxn ang="0">
                <a:pos x="48" y="192"/>
              </a:cxn>
              <a:cxn ang="0">
                <a:pos x="0" y="224"/>
              </a:cxn>
              <a:cxn ang="0">
                <a:pos x="0" y="384"/>
              </a:cxn>
              <a:cxn ang="0">
                <a:pos x="240" y="288"/>
              </a:cxn>
              <a:cxn ang="0">
                <a:pos x="240" y="96"/>
              </a:cxn>
              <a:cxn ang="0">
                <a:pos x="0" y="0"/>
              </a:cxn>
            </a:cxnLst>
            <a:rect l="0" t="0" r="r" b="b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21" name="Line 45"/>
          <p:cNvSpPr>
            <a:spLocks noChangeShapeType="1"/>
          </p:cNvSpPr>
          <p:nvPr/>
        </p:nvSpPr>
        <p:spPr bwMode="auto">
          <a:xfrm>
            <a:off x="1033463" y="1573213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22" name="Rectangle 46"/>
          <p:cNvSpPr>
            <a:spLocks noChangeArrowheads="1"/>
          </p:cNvSpPr>
          <p:nvPr/>
        </p:nvSpPr>
        <p:spPr bwMode="auto">
          <a:xfrm>
            <a:off x="1084263" y="1684338"/>
            <a:ext cx="474662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rgbClr val="56127A"/>
                </a:solidFill>
                <a:latin typeface="Verdana" charset="0"/>
              </a:rPr>
              <a:t>Add</a:t>
            </a:r>
          </a:p>
        </p:txBody>
      </p:sp>
      <p:sp>
        <p:nvSpPr>
          <p:cNvPr id="1330223" name="Rectangle 47"/>
          <p:cNvSpPr>
            <a:spLocks noChangeArrowheads="1"/>
          </p:cNvSpPr>
          <p:nvPr/>
        </p:nvSpPr>
        <p:spPr bwMode="auto">
          <a:xfrm>
            <a:off x="1058863" y="2314575"/>
            <a:ext cx="774700" cy="11938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24" name="Rectangle 48"/>
          <p:cNvSpPr>
            <a:spLocks noChangeArrowheads="1"/>
          </p:cNvSpPr>
          <p:nvPr/>
        </p:nvSpPr>
        <p:spPr bwMode="auto">
          <a:xfrm>
            <a:off x="1000125" y="2387600"/>
            <a:ext cx="52705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addr</a:t>
            </a:r>
          </a:p>
        </p:txBody>
      </p:sp>
      <p:sp>
        <p:nvSpPr>
          <p:cNvPr id="1330225" name="Rectangle 49"/>
          <p:cNvSpPr>
            <a:spLocks noChangeArrowheads="1"/>
          </p:cNvSpPr>
          <p:nvPr/>
        </p:nvSpPr>
        <p:spPr bwMode="auto">
          <a:xfrm>
            <a:off x="1341438" y="2528888"/>
            <a:ext cx="58420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rdata</a:t>
            </a:r>
          </a:p>
        </p:txBody>
      </p:sp>
      <p:sp>
        <p:nvSpPr>
          <p:cNvPr id="1330226" name="Rectangle 50"/>
          <p:cNvSpPr>
            <a:spLocks noChangeArrowheads="1"/>
          </p:cNvSpPr>
          <p:nvPr/>
        </p:nvSpPr>
        <p:spPr bwMode="auto">
          <a:xfrm>
            <a:off x="1031875" y="2974975"/>
            <a:ext cx="898525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  <a:latin typeface="Verdana" charset="0"/>
              </a:rPr>
              <a:t>Inst.</a:t>
            </a:r>
          </a:p>
          <a:p>
            <a:pPr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  <a:latin typeface="Verdana" charset="0"/>
              </a:rPr>
              <a:t>Memory</a:t>
            </a:r>
          </a:p>
        </p:txBody>
      </p:sp>
      <p:sp>
        <p:nvSpPr>
          <p:cNvPr id="1330227" name="Rectangle 51"/>
          <p:cNvSpPr>
            <a:spLocks noChangeArrowheads="1"/>
          </p:cNvSpPr>
          <p:nvPr/>
        </p:nvSpPr>
        <p:spPr bwMode="auto">
          <a:xfrm>
            <a:off x="3360738" y="1949450"/>
            <a:ext cx="584200" cy="1079500"/>
          </a:xfrm>
          <a:prstGeom prst="rect">
            <a:avLst/>
          </a:prstGeom>
          <a:solidFill>
            <a:schemeClr val="accent1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28" name="Rectangle 52"/>
          <p:cNvSpPr>
            <a:spLocks noChangeArrowheads="1"/>
          </p:cNvSpPr>
          <p:nvPr/>
        </p:nvSpPr>
        <p:spPr bwMode="auto">
          <a:xfrm>
            <a:off x="3559175" y="2328863"/>
            <a:ext cx="481013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rd1</a:t>
            </a:r>
          </a:p>
        </p:txBody>
      </p:sp>
      <p:sp>
        <p:nvSpPr>
          <p:cNvPr id="1330229" name="Rectangle 53"/>
          <p:cNvSpPr>
            <a:spLocks noChangeArrowheads="1"/>
          </p:cNvSpPr>
          <p:nvPr/>
        </p:nvSpPr>
        <p:spPr bwMode="auto">
          <a:xfrm>
            <a:off x="3362325" y="2824163"/>
            <a:ext cx="576263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GPRs</a:t>
            </a:r>
          </a:p>
        </p:txBody>
      </p:sp>
      <p:sp>
        <p:nvSpPr>
          <p:cNvPr id="1330230" name="Rectangle 54"/>
          <p:cNvSpPr>
            <a:spLocks noChangeArrowheads="1"/>
          </p:cNvSpPr>
          <p:nvPr/>
        </p:nvSpPr>
        <p:spPr bwMode="auto">
          <a:xfrm>
            <a:off x="3289300" y="2035175"/>
            <a:ext cx="42227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rs1</a:t>
            </a:r>
          </a:p>
        </p:txBody>
      </p:sp>
      <p:sp>
        <p:nvSpPr>
          <p:cNvPr id="1330231" name="Rectangle 55"/>
          <p:cNvSpPr>
            <a:spLocks noChangeArrowheads="1"/>
          </p:cNvSpPr>
          <p:nvPr/>
        </p:nvSpPr>
        <p:spPr bwMode="auto">
          <a:xfrm>
            <a:off x="3292475" y="2187575"/>
            <a:ext cx="42227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rs2</a:t>
            </a:r>
          </a:p>
        </p:txBody>
      </p:sp>
      <p:sp>
        <p:nvSpPr>
          <p:cNvPr id="1330232" name="Rectangle 56"/>
          <p:cNvSpPr>
            <a:spLocks noChangeArrowheads="1"/>
          </p:cNvSpPr>
          <p:nvPr/>
        </p:nvSpPr>
        <p:spPr bwMode="auto">
          <a:xfrm>
            <a:off x="3298825" y="2476500"/>
            <a:ext cx="400752" cy="27443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 dirty="0" err="1">
                <a:solidFill>
                  <a:schemeClr val="tx1"/>
                </a:solidFill>
                <a:latin typeface="Verdana" charset="0"/>
              </a:rPr>
              <a:t>wa</a:t>
            </a:r>
            <a:endParaRPr lang="en-US" sz="1200" dirty="0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1330233" name="Rectangle 57"/>
          <p:cNvSpPr>
            <a:spLocks noChangeArrowheads="1"/>
          </p:cNvSpPr>
          <p:nvPr/>
        </p:nvSpPr>
        <p:spPr bwMode="auto">
          <a:xfrm>
            <a:off x="3298825" y="2632075"/>
            <a:ext cx="40005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wd</a:t>
            </a:r>
          </a:p>
        </p:txBody>
      </p:sp>
      <p:sp>
        <p:nvSpPr>
          <p:cNvPr id="1330234" name="Rectangle 58"/>
          <p:cNvSpPr>
            <a:spLocks noChangeArrowheads="1"/>
          </p:cNvSpPr>
          <p:nvPr/>
        </p:nvSpPr>
        <p:spPr bwMode="auto">
          <a:xfrm>
            <a:off x="3575050" y="2654300"/>
            <a:ext cx="468313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rd2</a:t>
            </a:r>
          </a:p>
        </p:txBody>
      </p:sp>
      <p:sp>
        <p:nvSpPr>
          <p:cNvPr id="1330235" name="Rectangle 59"/>
          <p:cNvSpPr>
            <a:spLocks noChangeArrowheads="1"/>
          </p:cNvSpPr>
          <p:nvPr/>
        </p:nvSpPr>
        <p:spPr bwMode="auto">
          <a:xfrm>
            <a:off x="3511550" y="1870075"/>
            <a:ext cx="39687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charset="0"/>
              </a:rPr>
              <a:t>we</a:t>
            </a:r>
          </a:p>
        </p:txBody>
      </p:sp>
      <p:sp>
        <p:nvSpPr>
          <p:cNvPr id="1330236" name="Freeform 60"/>
          <p:cNvSpPr>
            <a:spLocks/>
          </p:cNvSpPr>
          <p:nvPr/>
        </p:nvSpPr>
        <p:spPr bwMode="auto">
          <a:xfrm>
            <a:off x="812800" y="1954213"/>
            <a:ext cx="280988" cy="560387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0" y="0"/>
              </a:cxn>
              <a:cxn ang="0">
                <a:pos x="176" y="0"/>
              </a:cxn>
            </a:cxnLst>
            <a:rect l="0" t="0" r="r" b="b"/>
            <a:pathLst>
              <a:path w="177" h="353">
                <a:moveTo>
                  <a:pt x="0" y="352"/>
                </a:moveTo>
                <a:lnTo>
                  <a:pt x="0" y="0"/>
                </a:lnTo>
                <a:lnTo>
                  <a:pt x="17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37" name="Freeform 61"/>
          <p:cNvSpPr>
            <a:spLocks/>
          </p:cNvSpPr>
          <p:nvPr/>
        </p:nvSpPr>
        <p:spPr bwMode="auto">
          <a:xfrm flipV="1">
            <a:off x="6843713" y="2449513"/>
            <a:ext cx="77787" cy="77787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4" y="0"/>
              </a:cxn>
              <a:cxn ang="0">
                <a:pos x="48" y="48"/>
              </a:cxn>
            </a:cxnLst>
            <a:rect l="0" t="0" r="r" b="b"/>
            <a:pathLst>
              <a:path w="49" h="49">
                <a:moveTo>
                  <a:pt x="0" y="48"/>
                </a:moveTo>
                <a:lnTo>
                  <a:pt x="24" y="0"/>
                </a:lnTo>
                <a:lnTo>
                  <a:pt x="48" y="4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38" name="Freeform 62"/>
          <p:cNvSpPr>
            <a:spLocks/>
          </p:cNvSpPr>
          <p:nvPr/>
        </p:nvSpPr>
        <p:spPr bwMode="auto">
          <a:xfrm flipV="1">
            <a:off x="3413125" y="1951038"/>
            <a:ext cx="77788" cy="77787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4" y="0"/>
              </a:cxn>
              <a:cxn ang="0">
                <a:pos x="48" y="48"/>
              </a:cxn>
            </a:cxnLst>
            <a:rect l="0" t="0" r="r" b="b"/>
            <a:pathLst>
              <a:path w="49" h="49">
                <a:moveTo>
                  <a:pt x="0" y="48"/>
                </a:moveTo>
                <a:lnTo>
                  <a:pt x="24" y="0"/>
                </a:lnTo>
                <a:lnTo>
                  <a:pt x="48" y="4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30239" name="Freeform 63"/>
          <p:cNvSpPr>
            <a:spLocks/>
          </p:cNvSpPr>
          <p:nvPr/>
        </p:nvSpPr>
        <p:spPr bwMode="auto">
          <a:xfrm>
            <a:off x="6570663" y="2667000"/>
            <a:ext cx="1277937" cy="1246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" y="785"/>
              </a:cxn>
              <a:cxn ang="0">
                <a:pos x="701" y="784"/>
              </a:cxn>
              <a:cxn ang="0">
                <a:pos x="701" y="394"/>
              </a:cxn>
              <a:cxn ang="0">
                <a:pos x="805" y="394"/>
              </a:cxn>
            </a:cxnLst>
            <a:rect l="0" t="0" r="r" b="b"/>
            <a:pathLst>
              <a:path w="805" h="785">
                <a:moveTo>
                  <a:pt x="0" y="0"/>
                </a:moveTo>
                <a:lnTo>
                  <a:pt x="1" y="785"/>
                </a:lnTo>
                <a:lnTo>
                  <a:pt x="701" y="784"/>
                </a:lnTo>
                <a:lnTo>
                  <a:pt x="701" y="394"/>
                </a:lnTo>
                <a:lnTo>
                  <a:pt x="805" y="39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466725" y="1649413"/>
            <a:ext cx="7915275" cy="3041650"/>
            <a:chOff x="294" y="1039"/>
            <a:chExt cx="4986" cy="1916"/>
          </a:xfrm>
        </p:grpSpPr>
        <p:grpSp>
          <p:nvGrpSpPr>
            <p:cNvPr id="4" name="Group 65"/>
            <p:cNvGrpSpPr>
              <a:grpSpLocks/>
            </p:cNvGrpSpPr>
            <p:nvPr/>
          </p:nvGrpSpPr>
          <p:grpSpPr bwMode="auto">
            <a:xfrm>
              <a:off x="409" y="1039"/>
              <a:ext cx="4796" cy="1916"/>
              <a:chOff x="409" y="959"/>
              <a:chExt cx="4796" cy="1916"/>
            </a:xfrm>
          </p:grpSpPr>
          <p:sp>
            <p:nvSpPr>
              <p:cNvPr id="1330242" name="Line 66"/>
              <p:cNvSpPr>
                <a:spLocks noChangeShapeType="1"/>
              </p:cNvSpPr>
              <p:nvPr/>
            </p:nvSpPr>
            <p:spPr bwMode="auto">
              <a:xfrm>
                <a:off x="5205" y="975"/>
                <a:ext cx="0" cy="1900"/>
              </a:xfrm>
              <a:prstGeom prst="line">
                <a:avLst/>
              </a:prstGeom>
              <a:noFill/>
              <a:ln w="101600">
                <a:solidFill>
                  <a:srgbClr val="CFBDC8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43" name="Line 67"/>
              <p:cNvSpPr>
                <a:spLocks noChangeShapeType="1"/>
              </p:cNvSpPr>
              <p:nvPr/>
            </p:nvSpPr>
            <p:spPr bwMode="auto">
              <a:xfrm>
                <a:off x="409" y="959"/>
                <a:ext cx="0" cy="1900"/>
              </a:xfrm>
              <a:prstGeom prst="line">
                <a:avLst/>
              </a:prstGeom>
              <a:noFill/>
              <a:ln w="101600">
                <a:solidFill>
                  <a:srgbClr val="CFBDC8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44" name="Line 68"/>
              <p:cNvSpPr>
                <a:spLocks noChangeShapeType="1"/>
              </p:cNvSpPr>
              <p:nvPr/>
            </p:nvSpPr>
            <p:spPr bwMode="auto">
              <a:xfrm>
                <a:off x="1311" y="959"/>
                <a:ext cx="0" cy="1900"/>
              </a:xfrm>
              <a:prstGeom prst="line">
                <a:avLst/>
              </a:prstGeom>
              <a:noFill/>
              <a:ln w="101600">
                <a:solidFill>
                  <a:srgbClr val="CFBDC8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45" name="Line 69"/>
              <p:cNvSpPr>
                <a:spLocks noChangeShapeType="1"/>
              </p:cNvSpPr>
              <p:nvPr/>
            </p:nvSpPr>
            <p:spPr bwMode="auto">
              <a:xfrm>
                <a:off x="3129" y="959"/>
                <a:ext cx="0" cy="1900"/>
              </a:xfrm>
              <a:prstGeom prst="line">
                <a:avLst/>
              </a:prstGeom>
              <a:noFill/>
              <a:ln w="101600">
                <a:solidFill>
                  <a:srgbClr val="CFBDC8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46" name="Line 70"/>
              <p:cNvSpPr>
                <a:spLocks noChangeShapeType="1"/>
              </p:cNvSpPr>
              <p:nvPr/>
            </p:nvSpPr>
            <p:spPr bwMode="auto">
              <a:xfrm>
                <a:off x="3951" y="959"/>
                <a:ext cx="0" cy="1900"/>
              </a:xfrm>
              <a:prstGeom prst="line">
                <a:avLst/>
              </a:prstGeom>
              <a:noFill/>
              <a:ln w="101600">
                <a:solidFill>
                  <a:srgbClr val="CFBDC8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oup 71"/>
            <p:cNvGrpSpPr>
              <a:grpSpLocks/>
            </p:cNvGrpSpPr>
            <p:nvPr/>
          </p:nvGrpSpPr>
          <p:grpSpPr bwMode="auto">
            <a:xfrm>
              <a:off x="1206" y="1463"/>
              <a:ext cx="221" cy="369"/>
              <a:chOff x="1206" y="1463"/>
              <a:chExt cx="221" cy="369"/>
            </a:xfrm>
          </p:grpSpPr>
          <p:sp>
            <p:nvSpPr>
              <p:cNvPr id="1330248" name="Rectangle 72"/>
              <p:cNvSpPr>
                <a:spLocks noChangeArrowheads="1"/>
              </p:cNvSpPr>
              <p:nvPr/>
            </p:nvSpPr>
            <p:spPr bwMode="auto">
              <a:xfrm>
                <a:off x="1247" y="1463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49" name="Rectangle 73"/>
              <p:cNvSpPr>
                <a:spLocks noChangeArrowheads="1"/>
              </p:cNvSpPr>
              <p:nvPr/>
            </p:nvSpPr>
            <p:spPr bwMode="auto">
              <a:xfrm>
                <a:off x="1206" y="1573"/>
                <a:ext cx="221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IR</a:t>
                </a:r>
              </a:p>
            </p:txBody>
          </p:sp>
          <p:sp>
            <p:nvSpPr>
              <p:cNvPr id="1330250" name="Freeform 74"/>
              <p:cNvSpPr>
                <a:spLocks/>
              </p:cNvSpPr>
              <p:nvPr/>
            </p:nvSpPr>
            <p:spPr bwMode="auto">
              <a:xfrm>
                <a:off x="1287" y="1783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3065" y="1418"/>
              <a:ext cx="128" cy="257"/>
              <a:chOff x="2886" y="914"/>
              <a:chExt cx="128" cy="369"/>
            </a:xfrm>
          </p:grpSpPr>
          <p:sp>
            <p:nvSpPr>
              <p:cNvPr id="1330252" name="Rectangle 76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53" name="Freeform 77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78"/>
            <p:cNvGrpSpPr>
              <a:grpSpLocks/>
            </p:cNvGrpSpPr>
            <p:nvPr/>
          </p:nvGrpSpPr>
          <p:grpSpPr bwMode="auto">
            <a:xfrm>
              <a:off x="3072" y="1728"/>
              <a:ext cx="128" cy="257"/>
              <a:chOff x="2886" y="914"/>
              <a:chExt cx="128" cy="369"/>
            </a:xfrm>
          </p:grpSpPr>
          <p:sp>
            <p:nvSpPr>
              <p:cNvPr id="1330255" name="Rectangle 79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56" name="Freeform 80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81"/>
            <p:cNvGrpSpPr>
              <a:grpSpLocks/>
            </p:cNvGrpSpPr>
            <p:nvPr/>
          </p:nvGrpSpPr>
          <p:grpSpPr bwMode="auto">
            <a:xfrm>
              <a:off x="3072" y="2047"/>
              <a:ext cx="128" cy="257"/>
              <a:chOff x="2886" y="914"/>
              <a:chExt cx="128" cy="369"/>
            </a:xfrm>
          </p:grpSpPr>
          <p:sp>
            <p:nvSpPr>
              <p:cNvPr id="1330258" name="Rectangle 82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59" name="Freeform 83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84"/>
            <p:cNvGrpSpPr>
              <a:grpSpLocks/>
            </p:cNvGrpSpPr>
            <p:nvPr/>
          </p:nvGrpSpPr>
          <p:grpSpPr bwMode="auto">
            <a:xfrm>
              <a:off x="3890" y="1546"/>
              <a:ext cx="128" cy="257"/>
              <a:chOff x="2886" y="914"/>
              <a:chExt cx="128" cy="369"/>
            </a:xfrm>
          </p:grpSpPr>
          <p:sp>
            <p:nvSpPr>
              <p:cNvPr id="1330261" name="Rectangle 85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62" name="Freeform 86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87"/>
            <p:cNvGrpSpPr>
              <a:grpSpLocks/>
            </p:cNvGrpSpPr>
            <p:nvPr/>
          </p:nvGrpSpPr>
          <p:grpSpPr bwMode="auto">
            <a:xfrm>
              <a:off x="3888" y="2064"/>
              <a:ext cx="128" cy="257"/>
              <a:chOff x="2886" y="914"/>
              <a:chExt cx="128" cy="369"/>
            </a:xfrm>
          </p:grpSpPr>
          <p:sp>
            <p:nvSpPr>
              <p:cNvPr id="1330264" name="Rectangle 88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65" name="Freeform 89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90"/>
            <p:cNvGrpSpPr>
              <a:grpSpLocks/>
            </p:cNvGrpSpPr>
            <p:nvPr/>
          </p:nvGrpSpPr>
          <p:grpSpPr bwMode="auto">
            <a:xfrm>
              <a:off x="5152" y="1855"/>
              <a:ext cx="128" cy="257"/>
              <a:chOff x="2886" y="914"/>
              <a:chExt cx="128" cy="369"/>
            </a:xfrm>
          </p:grpSpPr>
          <p:sp>
            <p:nvSpPr>
              <p:cNvPr id="1330267" name="Rectangle 91"/>
              <p:cNvSpPr>
                <a:spLocks noChangeArrowheads="1"/>
              </p:cNvSpPr>
              <p:nvPr/>
            </p:nvSpPr>
            <p:spPr bwMode="auto">
              <a:xfrm>
                <a:off x="2886" y="914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68" name="Freeform 92"/>
              <p:cNvSpPr>
                <a:spLocks/>
              </p:cNvSpPr>
              <p:nvPr/>
            </p:nvSpPr>
            <p:spPr bwMode="auto">
              <a:xfrm>
                <a:off x="2926" y="1234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93"/>
            <p:cNvGrpSpPr>
              <a:grpSpLocks/>
            </p:cNvGrpSpPr>
            <p:nvPr/>
          </p:nvGrpSpPr>
          <p:grpSpPr bwMode="auto">
            <a:xfrm>
              <a:off x="294" y="1399"/>
              <a:ext cx="239" cy="369"/>
              <a:chOff x="294" y="1399"/>
              <a:chExt cx="239" cy="369"/>
            </a:xfrm>
          </p:grpSpPr>
          <p:sp>
            <p:nvSpPr>
              <p:cNvPr id="1330270" name="Rectangle 94"/>
              <p:cNvSpPr>
                <a:spLocks noChangeArrowheads="1"/>
              </p:cNvSpPr>
              <p:nvPr/>
            </p:nvSpPr>
            <p:spPr bwMode="auto">
              <a:xfrm>
                <a:off x="343" y="1399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71" name="Freeform 95"/>
              <p:cNvSpPr>
                <a:spLocks/>
              </p:cNvSpPr>
              <p:nvPr/>
            </p:nvSpPr>
            <p:spPr bwMode="auto">
              <a:xfrm>
                <a:off x="383" y="1719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0272" name="Rectangle 96"/>
              <p:cNvSpPr>
                <a:spLocks noChangeArrowheads="1"/>
              </p:cNvSpPr>
              <p:nvPr/>
            </p:nvSpPr>
            <p:spPr bwMode="auto">
              <a:xfrm>
                <a:off x="294" y="1509"/>
                <a:ext cx="239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PC</a:t>
                </a: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0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0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0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180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6553200" y="6565900"/>
            <a:ext cx="1905000" cy="292100"/>
          </a:xfrm>
          <a:prstGeom prst="rect">
            <a:avLst/>
          </a:prstGeom>
        </p:spPr>
        <p:txBody>
          <a:bodyPr/>
          <a:lstStyle/>
          <a:p>
            <a:fld id="{41CCC5F8-D52B-4B43-AA26-AEE27DC97523}" type="slidenum">
              <a:rPr lang="en-US"/>
              <a:pPr/>
              <a:t>51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09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30200"/>
            <a:ext cx="7467600" cy="736600"/>
          </a:xfrm>
        </p:spPr>
        <p:txBody>
          <a:bodyPr/>
          <a:lstStyle/>
          <a:p>
            <a:r>
              <a:rPr lang="en-US"/>
              <a:t>“Iron Law” of Processor Performance</a:t>
            </a:r>
          </a:p>
        </p:txBody>
      </p:sp>
      <p:sp>
        <p:nvSpPr>
          <p:cNvPr id="1209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4400" y="1189038"/>
            <a:ext cx="7620000" cy="758825"/>
          </a:xfrm>
          <a:noFill/>
          <a:ln>
            <a:solidFill>
              <a:srgbClr val="FF0000"/>
            </a:solidFill>
          </a:ln>
        </p:spPr>
        <p:txBody>
          <a:bodyPr anchor="ctr">
            <a:spAutoFit/>
          </a:bodyPr>
          <a:lstStyle/>
          <a:p>
            <a:pPr>
              <a:buFontTx/>
              <a:buNone/>
            </a:pPr>
            <a:r>
              <a:rPr lang="en-US"/>
              <a:t>   </a:t>
            </a:r>
            <a:r>
              <a:rPr lang="en-US" u="sng"/>
              <a:t>   Time   </a:t>
            </a:r>
            <a:r>
              <a:rPr lang="en-US"/>
              <a:t>  =   </a:t>
            </a:r>
            <a:r>
              <a:rPr lang="en-US" u="sng"/>
              <a:t>Instructions</a:t>
            </a:r>
            <a:r>
              <a:rPr lang="en-US"/>
              <a:t>      </a:t>
            </a:r>
            <a:r>
              <a:rPr lang="en-US" u="sng"/>
              <a:t>   Cycles    </a:t>
            </a:r>
            <a:r>
              <a:rPr lang="en-US"/>
              <a:t>        </a:t>
            </a:r>
            <a:r>
              <a:rPr lang="en-US" u="sng"/>
              <a:t>Time</a:t>
            </a:r>
          </a:p>
          <a:p>
            <a:pPr>
              <a:lnSpc>
                <a:spcPct val="60000"/>
              </a:lnSpc>
              <a:buFontTx/>
              <a:buNone/>
            </a:pPr>
            <a:r>
              <a:rPr lang="en-US"/>
              <a:t>   Program           Program    *   Instruction   *   Cycle</a:t>
            </a:r>
          </a:p>
        </p:txBody>
      </p:sp>
      <p:sp>
        <p:nvSpPr>
          <p:cNvPr id="1209348" name="Text Box 4"/>
          <p:cNvSpPr txBox="1">
            <a:spLocks noChangeArrowheads="1"/>
          </p:cNvSpPr>
          <p:nvPr/>
        </p:nvSpPr>
        <p:spPr bwMode="auto">
          <a:xfrm>
            <a:off x="533400" y="2057400"/>
            <a:ext cx="8212138" cy="26479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233363" indent="-233363">
              <a:buFont typeface="Verdana" charset="0"/>
              <a:buChar char="–"/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Instructions per program depends on source code, compiler technology, and ISA</a:t>
            </a:r>
          </a:p>
          <a:p>
            <a:pPr marL="233363" indent="-233363">
              <a:buFont typeface="Verdana" charset="0"/>
              <a:buChar char="–"/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Cycles per instructions (CPI) depends upon the ISA and the microarchitecture</a:t>
            </a:r>
            <a:endParaRPr lang="en-US" sz="2400" i="1">
              <a:solidFill>
                <a:srgbClr val="56127A"/>
              </a:solidFill>
              <a:latin typeface="Verdana" charset="0"/>
            </a:endParaRPr>
          </a:p>
          <a:p>
            <a:pPr marL="233363" indent="-233363">
              <a:buFont typeface="Verdana" charset="0"/>
              <a:buChar char="–"/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Time per cycle depends upon the microarchitecture and the base technology</a:t>
            </a:r>
          </a:p>
        </p:txBody>
      </p:sp>
      <p:graphicFrame>
        <p:nvGraphicFramePr>
          <p:cNvPr id="1209373" name="Group 29"/>
          <p:cNvGraphicFramePr>
            <a:graphicFrameLocks noGrp="1"/>
          </p:cNvGraphicFramePr>
          <p:nvPr>
            <p:ph sz="half" idx="2"/>
          </p:nvPr>
        </p:nvGraphicFramePr>
        <p:xfrm>
          <a:off x="2209800" y="4800600"/>
          <a:ext cx="6096000" cy="1463040"/>
        </p:xfrm>
        <a:graphic>
          <a:graphicData uri="http://schemas.openxmlformats.org/drawingml/2006/table">
            <a:tbl>
              <a:tblPr/>
              <a:tblGrid>
                <a:gridCol w="3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Microarchitecture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CPI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cycle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Microcoded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&gt;1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Single-cycle unpipelined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long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Pipelined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6127A"/>
                          </a:solidFill>
                          <a:effectLst/>
                          <a:latin typeface="Arial" charset="0"/>
                        </a:rPr>
                        <a:t>short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CPI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32D5D-1C6C-5D43-8B5F-A64558DA2881}" type="slidenum">
              <a:rPr lang="en-US" smtClean="0"/>
              <a:pPr/>
              <a:t>52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0" y="914400"/>
            <a:ext cx="857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Time</a:t>
            </a:r>
          </a:p>
        </p:txBody>
      </p:sp>
      <p:grpSp>
        <p:nvGrpSpPr>
          <p:cNvPr id="3" name="Group 93"/>
          <p:cNvGrpSpPr/>
          <p:nvPr/>
        </p:nvGrpSpPr>
        <p:grpSpPr>
          <a:xfrm>
            <a:off x="228600" y="909935"/>
            <a:ext cx="8115177" cy="2142530"/>
            <a:chOff x="228600" y="909935"/>
            <a:chExt cx="8115177" cy="2142530"/>
          </a:xfrm>
        </p:grpSpPr>
        <p:sp>
          <p:nvSpPr>
            <p:cNvPr id="5" name="Left Brace 4"/>
            <p:cNvSpPr/>
            <p:nvPr/>
          </p:nvSpPr>
          <p:spPr bwMode="auto">
            <a:xfrm rot="5400000">
              <a:off x="1504950" y="781050"/>
              <a:ext cx="342900" cy="2133600"/>
            </a:xfrm>
            <a:prstGeom prst="leftBrace">
              <a:avLst>
                <a:gd name="adj1" fmla="val 18210"/>
                <a:gd name="adj2" fmla="val 48354"/>
              </a:avLst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6" name="Left Brace 5"/>
            <p:cNvSpPr/>
            <p:nvPr/>
          </p:nvSpPr>
          <p:spPr bwMode="auto">
            <a:xfrm rot="5400000">
              <a:off x="3333750" y="1085850"/>
              <a:ext cx="342900" cy="1524000"/>
            </a:xfrm>
            <a:prstGeom prst="leftBrace">
              <a:avLst>
                <a:gd name="adj1" fmla="val 18210"/>
                <a:gd name="adj2" fmla="val 48354"/>
              </a:avLst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7" name="Left Brace 6"/>
            <p:cNvSpPr/>
            <p:nvPr/>
          </p:nvSpPr>
          <p:spPr bwMode="auto">
            <a:xfrm rot="5400000">
              <a:off x="5619750" y="323850"/>
              <a:ext cx="342900" cy="3048000"/>
            </a:xfrm>
            <a:prstGeom prst="leftBrace">
              <a:avLst>
                <a:gd name="adj1" fmla="val 18210"/>
                <a:gd name="adj2" fmla="val 48354"/>
              </a:avLst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10200" y="17526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3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609600" y="2209800"/>
              <a:ext cx="21336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6096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144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12192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15240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18288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21336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24384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2743200" y="2209800"/>
              <a:ext cx="15240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27432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30480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33528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36576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39624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4267200" y="2209800"/>
              <a:ext cx="30480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42672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45720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48768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51816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54864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57912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60960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64008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67056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7010400" y="2209800"/>
              <a:ext cx="304800" cy="3048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066800" y="1219200"/>
              <a:ext cx="12964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7 cycles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295400" y="17526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71800" y="17526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2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819400" y="1219200"/>
              <a:ext cx="152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5 cycles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53000" y="1219200"/>
              <a:ext cx="18520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10 cycles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28600" y="909935"/>
              <a:ext cx="30243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u="sng" dirty="0" err="1">
                  <a:solidFill>
                    <a:schemeClr val="tx1"/>
                  </a:solidFill>
                </a:rPr>
                <a:t>Microcoded</a:t>
              </a:r>
              <a:r>
                <a:rPr lang="en-US" sz="2400" u="sng" dirty="0">
                  <a:solidFill>
                    <a:schemeClr val="tx1"/>
                  </a:solidFill>
                </a:rPr>
                <a:t> machine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29000" y="2590800"/>
              <a:ext cx="49147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</a:rPr>
                <a:t>3 instructions, 22 cycles, CPI=7.33</a:t>
              </a:r>
            </a:p>
          </p:txBody>
        </p:sp>
      </p:grpSp>
      <p:grpSp>
        <p:nvGrpSpPr>
          <p:cNvPr id="40" name="Group 94"/>
          <p:cNvGrpSpPr/>
          <p:nvPr/>
        </p:nvGrpSpPr>
        <p:grpSpPr>
          <a:xfrm>
            <a:off x="228600" y="3048000"/>
            <a:ext cx="8610600" cy="1528465"/>
            <a:chOff x="228600" y="3048000"/>
            <a:chExt cx="8610600" cy="1528465"/>
          </a:xfrm>
        </p:grpSpPr>
        <p:sp>
          <p:nvSpPr>
            <p:cNvPr id="44" name="Rectangle 43"/>
            <p:cNvSpPr/>
            <p:nvPr/>
          </p:nvSpPr>
          <p:spPr bwMode="auto">
            <a:xfrm>
              <a:off x="381000" y="3657600"/>
              <a:ext cx="28194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3200400" y="3657600"/>
              <a:ext cx="28194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6019800" y="3657600"/>
              <a:ext cx="2819400" cy="304800"/>
            </a:xfrm>
            <a:prstGeom prst="rect">
              <a:avLst/>
            </a:prstGeom>
            <a:solidFill>
              <a:schemeClr val="bg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hlink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28600" y="3048000"/>
              <a:ext cx="3059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u="sng" dirty="0" err="1">
                  <a:solidFill>
                    <a:schemeClr val="tx1"/>
                  </a:solidFill>
                </a:rPr>
                <a:t>Unpipelined</a:t>
              </a:r>
              <a:r>
                <a:rPr lang="en-US" sz="2400" u="sng" dirty="0">
                  <a:solidFill>
                    <a:schemeClr val="tx1"/>
                  </a:solidFill>
                </a:rPr>
                <a:t> machine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505200" y="4114800"/>
              <a:ext cx="43157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</a:rPr>
                <a:t>3 instructions, 3 cycles, CPI=1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371600" y="3581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1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91000" y="3581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010400" y="3581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3</a:t>
              </a:r>
            </a:p>
          </p:txBody>
        </p:sp>
      </p:grpSp>
      <p:grpSp>
        <p:nvGrpSpPr>
          <p:cNvPr id="43" name="Group 95"/>
          <p:cNvGrpSpPr/>
          <p:nvPr/>
        </p:nvGrpSpPr>
        <p:grpSpPr>
          <a:xfrm>
            <a:off x="228600" y="4572000"/>
            <a:ext cx="8735355" cy="1757065"/>
            <a:chOff x="228600" y="4572000"/>
            <a:chExt cx="8735355" cy="1757065"/>
          </a:xfrm>
        </p:grpSpPr>
        <p:sp>
          <p:nvSpPr>
            <p:cNvPr id="52" name="TextBox 51"/>
            <p:cNvSpPr txBox="1"/>
            <p:nvPr/>
          </p:nvSpPr>
          <p:spPr>
            <a:xfrm>
              <a:off x="228600" y="4572000"/>
              <a:ext cx="26997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u="sng" dirty="0">
                  <a:solidFill>
                    <a:schemeClr val="tx1"/>
                  </a:solidFill>
                </a:rPr>
                <a:t>Pipelined machine</a:t>
              </a:r>
            </a:p>
          </p:txBody>
        </p:sp>
        <p:grpSp>
          <p:nvGrpSpPr>
            <p:cNvPr id="53" name="Group 64"/>
            <p:cNvGrpSpPr/>
            <p:nvPr/>
          </p:nvGrpSpPr>
          <p:grpSpPr>
            <a:xfrm>
              <a:off x="990600" y="5181600"/>
              <a:ext cx="3048000" cy="304800"/>
              <a:chOff x="1295400" y="5410200"/>
              <a:chExt cx="3048000" cy="304800"/>
            </a:xfrm>
          </p:grpSpPr>
          <p:sp>
            <p:nvSpPr>
              <p:cNvPr id="54" name="Rectangle 53"/>
              <p:cNvSpPr/>
              <p:nvPr/>
            </p:nvSpPr>
            <p:spPr bwMode="auto">
              <a:xfrm>
                <a:off x="1295400" y="5410200"/>
                <a:ext cx="3048000" cy="304800"/>
              </a:xfrm>
              <a:prstGeom prst="rect">
                <a:avLst/>
              </a:prstGeom>
              <a:solidFill>
                <a:schemeClr val="bg1"/>
              </a:solidFill>
              <a:ln w="762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 bwMode="auto">
              <a:xfrm>
                <a:off x="1295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6" name="Rectangle 55"/>
              <p:cNvSpPr/>
              <p:nvPr/>
            </p:nvSpPr>
            <p:spPr bwMode="auto">
              <a:xfrm>
                <a:off x="1600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7" name="Rectangle 56"/>
              <p:cNvSpPr/>
              <p:nvPr/>
            </p:nvSpPr>
            <p:spPr bwMode="auto">
              <a:xfrm>
                <a:off x="1905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 bwMode="auto">
              <a:xfrm>
                <a:off x="2209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 bwMode="auto">
              <a:xfrm>
                <a:off x="2514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 bwMode="auto">
              <a:xfrm>
                <a:off x="2819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 bwMode="auto">
              <a:xfrm>
                <a:off x="3124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 bwMode="auto">
              <a:xfrm>
                <a:off x="3429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 bwMode="auto">
              <a:xfrm>
                <a:off x="3733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 bwMode="auto">
              <a:xfrm>
                <a:off x="4038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295400" y="5562600"/>
              <a:ext cx="3048000" cy="304800"/>
              <a:chOff x="1295400" y="5410200"/>
              <a:chExt cx="3048000" cy="304800"/>
            </a:xfrm>
          </p:grpSpPr>
          <p:sp>
            <p:nvSpPr>
              <p:cNvPr id="67" name="Rectangle 66"/>
              <p:cNvSpPr/>
              <p:nvPr/>
            </p:nvSpPr>
            <p:spPr bwMode="auto">
              <a:xfrm>
                <a:off x="1295400" y="5410200"/>
                <a:ext cx="3048000" cy="304800"/>
              </a:xfrm>
              <a:prstGeom prst="rect">
                <a:avLst/>
              </a:prstGeom>
              <a:solidFill>
                <a:schemeClr val="bg1"/>
              </a:solidFill>
              <a:ln w="762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8" name="Rectangle 67"/>
              <p:cNvSpPr/>
              <p:nvPr/>
            </p:nvSpPr>
            <p:spPr bwMode="auto">
              <a:xfrm>
                <a:off x="1295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9" name="Rectangle 68"/>
              <p:cNvSpPr/>
              <p:nvPr/>
            </p:nvSpPr>
            <p:spPr bwMode="auto">
              <a:xfrm>
                <a:off x="1600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 bwMode="auto">
              <a:xfrm>
                <a:off x="1905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 bwMode="auto">
              <a:xfrm>
                <a:off x="2209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 bwMode="auto">
              <a:xfrm>
                <a:off x="2514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3" name="Rectangle 72"/>
              <p:cNvSpPr/>
              <p:nvPr/>
            </p:nvSpPr>
            <p:spPr bwMode="auto">
              <a:xfrm>
                <a:off x="2819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4" name="Rectangle 73"/>
              <p:cNvSpPr/>
              <p:nvPr/>
            </p:nvSpPr>
            <p:spPr bwMode="auto">
              <a:xfrm>
                <a:off x="3124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5" name="Rectangle 74"/>
              <p:cNvSpPr/>
              <p:nvPr/>
            </p:nvSpPr>
            <p:spPr bwMode="auto">
              <a:xfrm>
                <a:off x="3429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 bwMode="auto">
              <a:xfrm>
                <a:off x="3733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 bwMode="auto">
              <a:xfrm>
                <a:off x="4038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oup 77"/>
            <p:cNvGrpSpPr/>
            <p:nvPr/>
          </p:nvGrpSpPr>
          <p:grpSpPr>
            <a:xfrm>
              <a:off x="1600200" y="5943600"/>
              <a:ext cx="3048000" cy="304800"/>
              <a:chOff x="1295400" y="5410200"/>
              <a:chExt cx="3048000" cy="304800"/>
            </a:xfrm>
          </p:grpSpPr>
          <p:sp>
            <p:nvSpPr>
              <p:cNvPr id="79" name="Rectangle 78"/>
              <p:cNvSpPr/>
              <p:nvPr/>
            </p:nvSpPr>
            <p:spPr bwMode="auto">
              <a:xfrm>
                <a:off x="1295400" y="5410200"/>
                <a:ext cx="3048000" cy="304800"/>
              </a:xfrm>
              <a:prstGeom prst="rect">
                <a:avLst/>
              </a:prstGeom>
              <a:solidFill>
                <a:schemeClr val="bg1"/>
              </a:solidFill>
              <a:ln w="762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 bwMode="auto">
              <a:xfrm>
                <a:off x="1295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1" name="Rectangle 80"/>
              <p:cNvSpPr/>
              <p:nvPr/>
            </p:nvSpPr>
            <p:spPr bwMode="auto">
              <a:xfrm>
                <a:off x="1600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2" name="Rectangle 81"/>
              <p:cNvSpPr/>
              <p:nvPr/>
            </p:nvSpPr>
            <p:spPr bwMode="auto">
              <a:xfrm>
                <a:off x="1905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 bwMode="auto">
              <a:xfrm>
                <a:off x="2209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4" name="Rectangle 83"/>
              <p:cNvSpPr/>
              <p:nvPr/>
            </p:nvSpPr>
            <p:spPr bwMode="auto">
              <a:xfrm>
                <a:off x="2514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 bwMode="auto">
              <a:xfrm>
                <a:off x="28194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 bwMode="auto">
              <a:xfrm>
                <a:off x="31242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auto">
              <a:xfrm>
                <a:off x="34290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8" name="Rectangle 87"/>
              <p:cNvSpPr/>
              <p:nvPr/>
            </p:nvSpPr>
            <p:spPr bwMode="auto">
              <a:xfrm>
                <a:off x="37338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9" name="Rectangle 88"/>
              <p:cNvSpPr/>
              <p:nvPr/>
            </p:nvSpPr>
            <p:spPr bwMode="auto">
              <a:xfrm>
                <a:off x="4038600" y="5410200"/>
                <a:ext cx="304800" cy="304800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hlink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4648200" y="5334000"/>
              <a:ext cx="43157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tx1"/>
                  </a:solidFill>
                </a:rPr>
                <a:t>3 instructions, 3 cycles, CPI=1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905000" y="5105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1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286000" y="5486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2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2667000" y="5867400"/>
              <a:ext cx="9374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</a:rPr>
                <a:t>Inst 3</a:t>
              </a:r>
            </a:p>
          </p:txBody>
        </p:sp>
      </p:grpSp>
      <p:cxnSp>
        <p:nvCxnSpPr>
          <p:cNvPr id="97" name="Straight Arrow Connector 96"/>
          <p:cNvCxnSpPr/>
          <p:nvPr/>
        </p:nvCxnSpPr>
        <p:spPr bwMode="auto">
          <a:xfrm>
            <a:off x="7696200" y="1219200"/>
            <a:ext cx="914400" cy="1588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99" name="TextBox 98"/>
          <p:cNvSpPr txBox="1"/>
          <p:nvPr/>
        </p:nvSpPr>
        <p:spPr>
          <a:xfrm>
            <a:off x="4828245" y="5854700"/>
            <a:ext cx="3756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5-stage pipeline CPI≠5!!!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08952-5E21-BE44-9A8E-8D765734A7F8}" type="slidenum">
              <a:rPr lang="en-US"/>
              <a:pPr/>
              <a:t>53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80002" name="Rectangle 2"/>
          <p:cNvSpPr>
            <a:spLocks noGrp="1" noChangeArrowheads="1"/>
          </p:cNvSpPr>
          <p:nvPr>
            <p:ph type="title"/>
          </p:nvPr>
        </p:nvSpPr>
        <p:spPr>
          <a:xfrm>
            <a:off x="269875" y="460375"/>
            <a:ext cx="7162800" cy="8255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Technology Assumptions</a:t>
            </a:r>
          </a:p>
        </p:txBody>
      </p:sp>
      <p:sp>
        <p:nvSpPr>
          <p:cNvPr id="1280003" name="Rectangle 3"/>
          <p:cNvSpPr>
            <a:spLocks noChangeArrowheads="1"/>
          </p:cNvSpPr>
          <p:nvPr/>
        </p:nvSpPr>
        <p:spPr bwMode="auto">
          <a:xfrm>
            <a:off x="381000" y="3505200"/>
            <a:ext cx="8162925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Thus, the following timing assumption is reasonable</a:t>
            </a:r>
            <a:endParaRPr lang="en-US" sz="20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280004" name="Rectangle 4"/>
          <p:cNvSpPr>
            <a:spLocks noChangeArrowheads="1"/>
          </p:cNvSpPr>
          <p:nvPr/>
        </p:nvSpPr>
        <p:spPr bwMode="auto">
          <a:xfrm>
            <a:off x="1333500" y="1503363"/>
            <a:ext cx="6451600" cy="1625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2000">
                <a:solidFill>
                  <a:schemeClr val="tx1"/>
                </a:solidFill>
                <a:latin typeface="Verdana" charset="0"/>
              </a:rPr>
              <a:t> 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A small amount of very fast memory (caches)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 backed up by a large, slower memory </a:t>
            </a:r>
          </a:p>
          <a:p>
            <a:pPr>
              <a:buFontTx/>
              <a:buChar char="•"/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Fast ALU (at least for integers) </a:t>
            </a:r>
          </a:p>
          <a:p>
            <a:pPr>
              <a:buFontTx/>
              <a:buChar char="•"/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Multiported Register files (slower!)</a:t>
            </a:r>
          </a:p>
        </p:txBody>
      </p:sp>
      <p:sp>
        <p:nvSpPr>
          <p:cNvPr id="1280005" name="Rectangle 5"/>
          <p:cNvSpPr>
            <a:spLocks noChangeArrowheads="1"/>
          </p:cNvSpPr>
          <p:nvPr/>
        </p:nvSpPr>
        <p:spPr bwMode="auto">
          <a:xfrm>
            <a:off x="2824163" y="4167188"/>
            <a:ext cx="3125787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IM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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RF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 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ALU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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DM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 </a:t>
            </a:r>
            <a:r>
              <a:rPr lang="en-US" sz="2000">
                <a:solidFill>
                  <a:srgbClr val="56127A"/>
                </a:solidFill>
                <a:latin typeface="Verdana" charset="0"/>
              </a:rPr>
              <a:t>t</a:t>
            </a:r>
            <a:r>
              <a:rPr lang="en-US" sz="2000" baseline="-25000">
                <a:solidFill>
                  <a:srgbClr val="56127A"/>
                </a:solidFill>
                <a:latin typeface="Verdana" charset="0"/>
              </a:rPr>
              <a:t>RW</a:t>
            </a:r>
          </a:p>
        </p:txBody>
      </p:sp>
      <p:sp>
        <p:nvSpPr>
          <p:cNvPr id="1280006" name="Rectangle 6"/>
          <p:cNvSpPr>
            <a:spLocks noChangeArrowheads="1"/>
          </p:cNvSpPr>
          <p:nvPr/>
        </p:nvSpPr>
        <p:spPr bwMode="auto">
          <a:xfrm>
            <a:off x="733425" y="4910138"/>
            <a:ext cx="734377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A 5-stage pipeline will be the focus of our detailed design</a:t>
            </a:r>
          </a:p>
          <a:p>
            <a:pPr algn="r">
              <a:spcBef>
                <a:spcPct val="0"/>
              </a:spcBef>
            </a:pPr>
            <a:r>
              <a:rPr lang="en-US" sz="2400" i="1" dirty="0">
                <a:solidFill>
                  <a:schemeClr val="tx1"/>
                </a:solidFill>
                <a:latin typeface="Verdana" charset="0"/>
              </a:rPr>
              <a:t>	- some commercial designs have over 30 pipeline stages to do an integer add!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03" grpId="0" autoUpdateAnimBg="0"/>
      <p:bldP spid="1280005" grpId="0" animBg="1" autoUpdateAnimBg="0"/>
      <p:bldP spid="1280006" grpId="0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287C0-D968-AC4D-8C57-706203FA5EBC}" type="slidenum">
              <a:rPr lang="en-US"/>
              <a:pPr/>
              <a:t>54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8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7648575" cy="704850"/>
          </a:xfrm>
        </p:spPr>
        <p:txBody>
          <a:bodyPr/>
          <a:lstStyle/>
          <a:p>
            <a:r>
              <a:rPr lang="en-US" dirty="0"/>
              <a:t>5-Stage Pipelined Execution</a:t>
            </a:r>
          </a:p>
        </p:txBody>
      </p:sp>
      <p:sp>
        <p:nvSpPr>
          <p:cNvPr id="1281027" name="Rectangle 3"/>
          <p:cNvSpPr>
            <a:spLocks noChangeArrowheads="1"/>
          </p:cNvSpPr>
          <p:nvPr/>
        </p:nvSpPr>
        <p:spPr bwMode="auto">
          <a:xfrm>
            <a:off x="1189038" y="4333875"/>
            <a:ext cx="7042150" cy="17367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defTabSz="571500">
              <a:spcBef>
                <a:spcPct val="0"/>
              </a:spcBef>
            </a:pPr>
            <a:r>
              <a:rPr lang="en-US" sz="1800" i="1" dirty="0">
                <a:solidFill>
                  <a:schemeClr val="tx1"/>
                </a:solidFill>
                <a:latin typeface="Verdana" charset="0"/>
              </a:rPr>
              <a:t>time 		</a:t>
            </a: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t0	t1	t2	t3	t4	t5	t6	t7	. . . .</a:t>
            </a:r>
          </a:p>
          <a:p>
            <a:pPr defTabSz="571500">
              <a:spcBef>
                <a:spcPct val="0"/>
              </a:spcBef>
            </a:pPr>
            <a:r>
              <a:rPr lang="en-US" sz="1800" dirty="0">
                <a:solidFill>
                  <a:schemeClr val="accent1"/>
                </a:solidFill>
                <a:latin typeface="Verdana" charset="0"/>
              </a:rPr>
              <a:t>instruction1	IF</a:t>
            </a:r>
            <a:r>
              <a:rPr lang="en-US" sz="1800" baseline="-25000" dirty="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 dirty="0">
                <a:solidFill>
                  <a:schemeClr val="accent1"/>
                </a:solidFill>
                <a:latin typeface="Verdana" charset="0"/>
              </a:rPr>
              <a:t>	ID</a:t>
            </a:r>
            <a:r>
              <a:rPr lang="en-US" sz="1800" baseline="-25000" dirty="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 dirty="0">
                <a:solidFill>
                  <a:schemeClr val="accent1"/>
                </a:solidFill>
                <a:latin typeface="Verdana" charset="0"/>
              </a:rPr>
              <a:t>	EX</a:t>
            </a:r>
            <a:r>
              <a:rPr lang="en-US" sz="1800" baseline="-25000" dirty="0">
                <a:solidFill>
                  <a:schemeClr val="accent1"/>
                </a:solidFill>
                <a:latin typeface="Verdana" charset="0"/>
              </a:rPr>
              <a:t>1	</a:t>
            </a:r>
            <a:r>
              <a:rPr lang="en-US" sz="1800" dirty="0">
                <a:solidFill>
                  <a:schemeClr val="accent1"/>
                </a:solidFill>
                <a:latin typeface="Verdana" charset="0"/>
              </a:rPr>
              <a:t>MA</a:t>
            </a:r>
            <a:r>
              <a:rPr lang="en-US" sz="1800" baseline="-25000" dirty="0">
                <a:solidFill>
                  <a:schemeClr val="accent1"/>
                </a:solidFill>
                <a:latin typeface="Verdana" charset="0"/>
              </a:rPr>
              <a:t>1	</a:t>
            </a:r>
            <a:r>
              <a:rPr lang="en-US" sz="1800" dirty="0">
                <a:solidFill>
                  <a:schemeClr val="accent1"/>
                </a:solidFill>
                <a:latin typeface="Verdana" charset="0"/>
              </a:rPr>
              <a:t>WB</a:t>
            </a:r>
            <a:r>
              <a:rPr lang="en-US" sz="1800" baseline="-25000" dirty="0">
                <a:solidFill>
                  <a:schemeClr val="accent1"/>
                </a:solidFill>
                <a:latin typeface="Verdana" charset="0"/>
              </a:rPr>
              <a:t>1</a:t>
            </a:r>
          </a:p>
          <a:p>
            <a:pPr defTabSz="571500">
              <a:spcBef>
                <a:spcPct val="0"/>
              </a:spcBef>
            </a:pPr>
            <a:r>
              <a:rPr lang="en-US" sz="1800" dirty="0">
                <a:solidFill>
                  <a:schemeClr val="accent2"/>
                </a:solidFill>
                <a:latin typeface="Verdana" charset="0"/>
              </a:rPr>
              <a:t>instruction2 		IF</a:t>
            </a:r>
            <a:r>
              <a:rPr lang="en-US" sz="1800" baseline="-25000" dirty="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 dirty="0">
                <a:solidFill>
                  <a:schemeClr val="accent2"/>
                </a:solidFill>
                <a:latin typeface="Verdana" charset="0"/>
              </a:rPr>
              <a:t>	ID</a:t>
            </a:r>
            <a:r>
              <a:rPr lang="en-US" sz="1800" baseline="-25000" dirty="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 dirty="0">
                <a:solidFill>
                  <a:schemeClr val="accent2"/>
                </a:solidFill>
                <a:latin typeface="Verdana" charset="0"/>
              </a:rPr>
              <a:t>	EX</a:t>
            </a:r>
            <a:r>
              <a:rPr lang="en-US" sz="1800" baseline="-25000" dirty="0">
                <a:solidFill>
                  <a:schemeClr val="accent2"/>
                </a:solidFill>
                <a:latin typeface="Verdana" charset="0"/>
              </a:rPr>
              <a:t>2	</a:t>
            </a:r>
            <a:r>
              <a:rPr lang="en-US" sz="1800" dirty="0">
                <a:solidFill>
                  <a:schemeClr val="accent2"/>
                </a:solidFill>
                <a:latin typeface="Verdana" charset="0"/>
              </a:rPr>
              <a:t>MA</a:t>
            </a:r>
            <a:r>
              <a:rPr lang="en-US" sz="1800" baseline="-25000" dirty="0">
                <a:solidFill>
                  <a:schemeClr val="accent2"/>
                </a:solidFill>
                <a:latin typeface="Verdana" charset="0"/>
              </a:rPr>
              <a:t>2	</a:t>
            </a:r>
            <a:r>
              <a:rPr lang="en-US" sz="1800" dirty="0">
                <a:solidFill>
                  <a:schemeClr val="accent2"/>
                </a:solidFill>
                <a:latin typeface="Verdana" charset="0"/>
              </a:rPr>
              <a:t>WB</a:t>
            </a:r>
            <a:r>
              <a:rPr lang="en-US" sz="1800" baseline="-25000" dirty="0">
                <a:solidFill>
                  <a:schemeClr val="accent2"/>
                </a:solidFill>
                <a:latin typeface="Verdana" charset="0"/>
              </a:rPr>
              <a:t>2</a:t>
            </a:r>
          </a:p>
          <a:p>
            <a:pPr defTabSz="571500">
              <a:spcBef>
                <a:spcPct val="0"/>
              </a:spcBef>
            </a:pPr>
            <a:r>
              <a:rPr lang="en-US" sz="1800" dirty="0">
                <a:latin typeface="Verdana" charset="0"/>
              </a:rPr>
              <a:t>instruction3			IF</a:t>
            </a:r>
            <a:r>
              <a:rPr lang="en-US" sz="1800" baseline="-25000" dirty="0">
                <a:latin typeface="Verdana" charset="0"/>
              </a:rPr>
              <a:t>3</a:t>
            </a:r>
            <a:r>
              <a:rPr lang="en-US" sz="1800" dirty="0">
                <a:latin typeface="Verdana" charset="0"/>
              </a:rPr>
              <a:t>	ID</a:t>
            </a:r>
            <a:r>
              <a:rPr lang="en-US" sz="1800" baseline="-25000" dirty="0">
                <a:latin typeface="Verdana" charset="0"/>
              </a:rPr>
              <a:t>3</a:t>
            </a:r>
            <a:r>
              <a:rPr lang="en-US" sz="1800" dirty="0">
                <a:latin typeface="Verdana" charset="0"/>
              </a:rPr>
              <a:t>	EX</a:t>
            </a:r>
            <a:r>
              <a:rPr lang="en-US" sz="1800" baseline="-25000" dirty="0">
                <a:latin typeface="Verdana" charset="0"/>
              </a:rPr>
              <a:t>3	</a:t>
            </a:r>
            <a:r>
              <a:rPr lang="en-US" sz="1800" dirty="0">
                <a:latin typeface="Verdana" charset="0"/>
              </a:rPr>
              <a:t>MA</a:t>
            </a:r>
            <a:r>
              <a:rPr lang="en-US" sz="1800" baseline="-25000" dirty="0">
                <a:latin typeface="Verdana" charset="0"/>
              </a:rPr>
              <a:t>3	</a:t>
            </a:r>
            <a:r>
              <a:rPr lang="en-US" sz="1800" dirty="0">
                <a:latin typeface="Verdana" charset="0"/>
              </a:rPr>
              <a:t>WB</a:t>
            </a:r>
            <a:r>
              <a:rPr lang="en-US" sz="1800" baseline="-25000" dirty="0">
                <a:latin typeface="Verdana" charset="0"/>
              </a:rPr>
              <a:t>3</a:t>
            </a:r>
          </a:p>
          <a:p>
            <a:pPr defTabSz="571500">
              <a:spcBef>
                <a:spcPct val="0"/>
              </a:spcBef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instruction4 				IF</a:t>
            </a:r>
            <a:r>
              <a:rPr lang="en-US" sz="1800" baseline="-25000" dirty="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	ID</a:t>
            </a:r>
            <a:r>
              <a:rPr lang="en-US" sz="1800" baseline="-25000" dirty="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	EX</a:t>
            </a:r>
            <a:r>
              <a:rPr lang="en-US" sz="1800" baseline="-25000" dirty="0">
                <a:solidFill>
                  <a:srgbClr val="56127A"/>
                </a:solidFill>
                <a:latin typeface="Verdana" charset="0"/>
              </a:rPr>
              <a:t>4	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MA</a:t>
            </a:r>
            <a:r>
              <a:rPr lang="en-US" sz="1800" baseline="-25000" dirty="0">
                <a:solidFill>
                  <a:srgbClr val="56127A"/>
                </a:solidFill>
                <a:latin typeface="Verdana" charset="0"/>
              </a:rPr>
              <a:t>4	</a:t>
            </a: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WB</a:t>
            </a:r>
            <a:r>
              <a:rPr lang="en-US" sz="1800" baseline="-25000" dirty="0">
                <a:solidFill>
                  <a:srgbClr val="56127A"/>
                </a:solidFill>
                <a:latin typeface="Verdana" charset="0"/>
              </a:rPr>
              <a:t>4</a:t>
            </a:r>
          </a:p>
          <a:p>
            <a:pPr defTabSz="571500"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instruction5 					IF</a:t>
            </a:r>
            <a:r>
              <a:rPr lang="en-US" sz="1800" baseline="-25000" dirty="0">
                <a:solidFill>
                  <a:schemeClr val="tx1"/>
                </a:solidFill>
                <a:latin typeface="Verdana" charset="0"/>
              </a:rPr>
              <a:t>5</a:t>
            </a: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	ID</a:t>
            </a:r>
            <a:r>
              <a:rPr lang="en-US" sz="1800" baseline="-25000" dirty="0">
                <a:solidFill>
                  <a:schemeClr val="tx1"/>
                </a:solidFill>
                <a:latin typeface="Verdana" charset="0"/>
              </a:rPr>
              <a:t>5</a:t>
            </a: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	EX</a:t>
            </a:r>
            <a:r>
              <a:rPr lang="en-US" sz="1800" baseline="-25000" dirty="0">
                <a:solidFill>
                  <a:schemeClr val="tx1"/>
                </a:solidFill>
                <a:latin typeface="Verdana" charset="0"/>
              </a:rPr>
              <a:t>5	</a:t>
            </a: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MA</a:t>
            </a:r>
            <a:r>
              <a:rPr lang="en-US" sz="1800" baseline="-25000" dirty="0">
                <a:solidFill>
                  <a:schemeClr val="tx1"/>
                </a:solidFill>
                <a:latin typeface="Verdana" charset="0"/>
              </a:rPr>
              <a:t>5	</a:t>
            </a:r>
            <a:r>
              <a:rPr lang="en-US" sz="1800" dirty="0">
                <a:solidFill>
                  <a:schemeClr val="tx1"/>
                </a:solidFill>
                <a:latin typeface="Verdana" charset="0"/>
              </a:rPr>
              <a:t>WB</a:t>
            </a:r>
            <a:r>
              <a:rPr lang="en-US" sz="1800" baseline="-25000" dirty="0">
                <a:solidFill>
                  <a:schemeClr val="tx1"/>
                </a:solidFill>
                <a:latin typeface="Verdana" charset="0"/>
              </a:rPr>
              <a:t>5</a:t>
            </a:r>
          </a:p>
        </p:txBody>
      </p:sp>
      <p:sp>
        <p:nvSpPr>
          <p:cNvPr id="1281028" name="Rectangle 4"/>
          <p:cNvSpPr>
            <a:spLocks noChangeArrowheads="1"/>
          </p:cNvSpPr>
          <p:nvPr/>
        </p:nvSpPr>
        <p:spPr bwMode="auto">
          <a:xfrm>
            <a:off x="5194300" y="4318000"/>
            <a:ext cx="584200" cy="1790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5750" y="914400"/>
            <a:ext cx="8691563" cy="3394075"/>
            <a:chOff x="285" y="808"/>
            <a:chExt cx="5475" cy="2138"/>
          </a:xfrm>
        </p:grpSpPr>
        <p:sp>
          <p:nvSpPr>
            <p:cNvPr id="1281030" name="Freeform 6"/>
            <p:cNvSpPr>
              <a:spLocks/>
            </p:cNvSpPr>
            <p:nvPr/>
          </p:nvSpPr>
          <p:spPr bwMode="auto">
            <a:xfrm>
              <a:off x="285" y="808"/>
              <a:ext cx="918" cy="712"/>
            </a:xfrm>
            <a:custGeom>
              <a:avLst/>
              <a:gdLst/>
              <a:ahLst/>
              <a:cxnLst>
                <a:cxn ang="0">
                  <a:pos x="800" y="311"/>
                </a:cxn>
                <a:cxn ang="0">
                  <a:pos x="987" y="311"/>
                </a:cxn>
                <a:cxn ang="0">
                  <a:pos x="987" y="0"/>
                </a:cxn>
                <a:cxn ang="0">
                  <a:pos x="0" y="0"/>
                </a:cxn>
                <a:cxn ang="0">
                  <a:pos x="0" y="765"/>
                </a:cxn>
                <a:cxn ang="0">
                  <a:pos x="541" y="766"/>
                </a:cxn>
              </a:cxnLst>
              <a:rect l="0" t="0" r="r" b="b"/>
              <a:pathLst>
                <a:path w="987" h="766">
                  <a:moveTo>
                    <a:pt x="800" y="311"/>
                  </a:moveTo>
                  <a:lnTo>
                    <a:pt x="987" y="311"/>
                  </a:lnTo>
                  <a:lnTo>
                    <a:pt x="987" y="0"/>
                  </a:lnTo>
                  <a:lnTo>
                    <a:pt x="0" y="0"/>
                  </a:lnTo>
                  <a:lnTo>
                    <a:pt x="0" y="765"/>
                  </a:lnTo>
                  <a:lnTo>
                    <a:pt x="541" y="76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648" y="2314"/>
              <a:ext cx="5112" cy="632"/>
              <a:chOff x="648" y="2314"/>
              <a:chExt cx="5112" cy="632"/>
            </a:xfrm>
          </p:grpSpPr>
          <p:sp>
            <p:nvSpPr>
              <p:cNvPr id="1281032" name="Rectangle 8"/>
              <p:cNvSpPr>
                <a:spLocks noChangeArrowheads="1"/>
              </p:cNvSpPr>
              <p:nvPr/>
            </p:nvSpPr>
            <p:spPr bwMode="auto">
              <a:xfrm>
                <a:off x="5190" y="2314"/>
                <a:ext cx="570" cy="63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Write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-Back (WB)</a:t>
                </a:r>
              </a:p>
            </p:txBody>
          </p:sp>
          <p:sp>
            <p:nvSpPr>
              <p:cNvPr id="1281033" name="Rectangle 9"/>
              <p:cNvSpPr>
                <a:spLocks noChangeArrowheads="1"/>
              </p:cNvSpPr>
              <p:nvPr/>
            </p:nvSpPr>
            <p:spPr bwMode="auto">
              <a:xfrm>
                <a:off x="648" y="2503"/>
                <a:ext cx="69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I-Fetch (IF)</a:t>
                </a:r>
              </a:p>
            </p:txBody>
          </p:sp>
          <p:sp>
            <p:nvSpPr>
              <p:cNvPr id="1281034" name="Rectangle 10"/>
              <p:cNvSpPr>
                <a:spLocks noChangeArrowheads="1"/>
              </p:cNvSpPr>
              <p:nvPr/>
            </p:nvSpPr>
            <p:spPr bwMode="auto">
              <a:xfrm>
                <a:off x="3079" y="2503"/>
                <a:ext cx="75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Execute (EX)</a:t>
                </a:r>
              </a:p>
            </p:txBody>
          </p:sp>
          <p:sp>
            <p:nvSpPr>
              <p:cNvPr id="1281035" name="Rectangle 11"/>
              <p:cNvSpPr>
                <a:spLocks noChangeArrowheads="1"/>
              </p:cNvSpPr>
              <p:nvPr/>
            </p:nvSpPr>
            <p:spPr bwMode="auto">
              <a:xfrm>
                <a:off x="1356" y="2495"/>
                <a:ext cx="177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 dirty="0">
                    <a:solidFill>
                      <a:srgbClr val="56127A"/>
                    </a:solidFill>
                    <a:latin typeface="Verdana" charset="0"/>
                  </a:rPr>
                  <a:t>Decode, Reg. Fetch (ID)</a:t>
                </a:r>
              </a:p>
            </p:txBody>
          </p:sp>
          <p:sp>
            <p:nvSpPr>
              <p:cNvPr id="1281036" name="Rectangle 12"/>
              <p:cNvSpPr>
                <a:spLocks noChangeArrowheads="1"/>
              </p:cNvSpPr>
              <p:nvPr/>
            </p:nvSpPr>
            <p:spPr bwMode="auto">
              <a:xfrm>
                <a:off x="4014" y="2504"/>
                <a:ext cx="819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Memory (MA)</a:t>
                </a:r>
              </a:p>
            </p:txBody>
          </p:sp>
        </p:grpSp>
        <p:sp>
          <p:nvSpPr>
            <p:cNvPr id="1281037" name="Freeform 13"/>
            <p:cNvSpPr>
              <a:spLocks/>
            </p:cNvSpPr>
            <p:nvPr/>
          </p:nvSpPr>
          <p:spPr bwMode="auto">
            <a:xfrm>
              <a:off x="2619" y="1701"/>
              <a:ext cx="1520" cy="3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18"/>
                </a:cxn>
                <a:cxn ang="0">
                  <a:pos x="1237" y="418"/>
                </a:cxn>
              </a:cxnLst>
              <a:rect l="0" t="0" r="r" b="b"/>
              <a:pathLst>
                <a:path w="1238" h="419">
                  <a:moveTo>
                    <a:pt x="0" y="0"/>
                  </a:moveTo>
                  <a:lnTo>
                    <a:pt x="0" y="418"/>
                  </a:lnTo>
                  <a:lnTo>
                    <a:pt x="1237" y="41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38" name="Line 14"/>
            <p:cNvSpPr>
              <a:spLocks noChangeShapeType="1"/>
            </p:cNvSpPr>
            <p:nvPr/>
          </p:nvSpPr>
          <p:spPr bwMode="auto">
            <a:xfrm flipV="1">
              <a:off x="3512" y="1612"/>
              <a:ext cx="6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39" name="Freeform 15"/>
            <p:cNvSpPr>
              <a:spLocks/>
            </p:cNvSpPr>
            <p:nvPr/>
          </p:nvSpPr>
          <p:spPr bwMode="auto">
            <a:xfrm flipV="1">
              <a:off x="4593" y="1726"/>
              <a:ext cx="168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7" y="0"/>
                </a:cxn>
              </a:cxnLst>
              <a:rect l="0" t="0" r="r" b="b"/>
              <a:pathLst>
                <a:path w="358" h="1">
                  <a:moveTo>
                    <a:pt x="0" y="0"/>
                  </a:moveTo>
                  <a:lnTo>
                    <a:pt x="35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40" name="Freeform 16"/>
            <p:cNvSpPr>
              <a:spLocks/>
            </p:cNvSpPr>
            <p:nvPr/>
          </p:nvSpPr>
          <p:spPr bwMode="auto">
            <a:xfrm>
              <a:off x="2011" y="1666"/>
              <a:ext cx="3145" cy="794"/>
            </a:xfrm>
            <a:custGeom>
              <a:avLst/>
              <a:gdLst/>
              <a:ahLst/>
              <a:cxnLst>
                <a:cxn ang="0">
                  <a:pos x="3097" y="244"/>
                </a:cxn>
                <a:cxn ang="0">
                  <a:pos x="3381" y="240"/>
                </a:cxn>
                <a:cxn ang="0">
                  <a:pos x="3379" y="854"/>
                </a:cxn>
                <a:cxn ang="0">
                  <a:pos x="0" y="853"/>
                </a:cxn>
                <a:cxn ang="0">
                  <a:pos x="1" y="0"/>
                </a:cxn>
                <a:cxn ang="0">
                  <a:pos x="131" y="0"/>
                </a:cxn>
              </a:cxnLst>
              <a:rect l="0" t="0" r="r" b="b"/>
              <a:pathLst>
                <a:path w="3381" h="854">
                  <a:moveTo>
                    <a:pt x="3097" y="244"/>
                  </a:moveTo>
                  <a:lnTo>
                    <a:pt x="3381" y="240"/>
                  </a:lnTo>
                  <a:lnTo>
                    <a:pt x="3379" y="854"/>
                  </a:lnTo>
                  <a:lnTo>
                    <a:pt x="0" y="853"/>
                  </a:lnTo>
                  <a:lnTo>
                    <a:pt x="1" y="0"/>
                  </a:lnTo>
                  <a:lnTo>
                    <a:pt x="131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41" name="Freeform 17"/>
            <p:cNvSpPr>
              <a:spLocks/>
            </p:cNvSpPr>
            <p:nvPr/>
          </p:nvSpPr>
          <p:spPr bwMode="auto">
            <a:xfrm>
              <a:off x="4761" y="1722"/>
              <a:ext cx="135" cy="358"/>
            </a:xfrm>
            <a:custGeom>
              <a:avLst/>
              <a:gdLst/>
              <a:ahLst/>
              <a:cxnLst>
                <a:cxn ang="0">
                  <a:pos x="144" y="48"/>
                </a:cxn>
                <a:cxn ang="0">
                  <a:pos x="144" y="336"/>
                </a:cxn>
                <a:cxn ang="0">
                  <a:pos x="0" y="384"/>
                </a:cxn>
                <a:cxn ang="0">
                  <a:pos x="0" y="0"/>
                </a:cxn>
                <a:cxn ang="0">
                  <a:pos x="144" y="48"/>
                </a:cxn>
              </a:cxnLst>
              <a:rect l="0" t="0" r="r" b="b"/>
              <a:pathLst>
                <a:path w="145" h="385">
                  <a:moveTo>
                    <a:pt x="144" y="48"/>
                  </a:moveTo>
                  <a:lnTo>
                    <a:pt x="144" y="336"/>
                  </a:lnTo>
                  <a:lnTo>
                    <a:pt x="0" y="384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42" name="Rectangle 18"/>
            <p:cNvSpPr>
              <a:spLocks noChangeArrowheads="1"/>
            </p:cNvSpPr>
            <p:nvPr/>
          </p:nvSpPr>
          <p:spPr bwMode="auto">
            <a:xfrm>
              <a:off x="4134" y="1481"/>
              <a:ext cx="454" cy="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43" name="Rectangle 19"/>
            <p:cNvSpPr>
              <a:spLocks noChangeArrowheads="1"/>
            </p:cNvSpPr>
            <p:nvPr/>
          </p:nvSpPr>
          <p:spPr bwMode="auto">
            <a:xfrm>
              <a:off x="4096" y="1523"/>
              <a:ext cx="332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addr</a:t>
              </a:r>
            </a:p>
          </p:txBody>
        </p:sp>
        <p:sp>
          <p:nvSpPr>
            <p:cNvPr id="1281044" name="Rectangle 20"/>
            <p:cNvSpPr>
              <a:spLocks noChangeArrowheads="1"/>
            </p:cNvSpPr>
            <p:nvPr/>
          </p:nvSpPr>
          <p:spPr bwMode="auto">
            <a:xfrm>
              <a:off x="4104" y="1999"/>
              <a:ext cx="406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wdata</a:t>
              </a:r>
            </a:p>
          </p:txBody>
        </p:sp>
        <p:sp>
          <p:nvSpPr>
            <p:cNvPr id="1281045" name="Rectangle 21"/>
            <p:cNvSpPr>
              <a:spLocks noChangeArrowheads="1"/>
            </p:cNvSpPr>
            <p:nvPr/>
          </p:nvSpPr>
          <p:spPr bwMode="auto">
            <a:xfrm>
              <a:off x="4273" y="1665"/>
              <a:ext cx="368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rdata</a:t>
              </a:r>
            </a:p>
          </p:txBody>
        </p:sp>
        <p:sp>
          <p:nvSpPr>
            <p:cNvPr id="1281046" name="Rectangle 22"/>
            <p:cNvSpPr>
              <a:spLocks noChangeArrowheads="1"/>
            </p:cNvSpPr>
            <p:nvPr/>
          </p:nvSpPr>
          <p:spPr bwMode="auto">
            <a:xfrm>
              <a:off x="4103" y="1752"/>
              <a:ext cx="566" cy="3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Data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Memory</a:t>
              </a:r>
            </a:p>
          </p:txBody>
        </p:sp>
        <p:sp>
          <p:nvSpPr>
            <p:cNvPr id="1281047" name="Rectangle 23"/>
            <p:cNvSpPr>
              <a:spLocks noChangeArrowheads="1"/>
            </p:cNvSpPr>
            <p:nvPr/>
          </p:nvSpPr>
          <p:spPr bwMode="auto">
            <a:xfrm>
              <a:off x="4223" y="1435"/>
              <a:ext cx="25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we</a:t>
              </a:r>
            </a:p>
          </p:txBody>
        </p:sp>
        <p:sp>
          <p:nvSpPr>
            <p:cNvPr id="1281048" name="Line 24"/>
            <p:cNvSpPr>
              <a:spLocks noChangeShapeType="1"/>
            </p:cNvSpPr>
            <p:nvPr/>
          </p:nvSpPr>
          <p:spPr bwMode="auto">
            <a:xfrm>
              <a:off x="4157" y="1489"/>
              <a:ext cx="29" cy="44"/>
            </a:xfrm>
            <a:prstGeom prst="lin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49" name="Line 25"/>
            <p:cNvSpPr>
              <a:spLocks noChangeShapeType="1"/>
            </p:cNvSpPr>
            <p:nvPr/>
          </p:nvSpPr>
          <p:spPr bwMode="auto">
            <a:xfrm flipV="1">
              <a:off x="4186" y="1474"/>
              <a:ext cx="23" cy="52"/>
            </a:xfrm>
            <a:prstGeom prst="lin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1" name="Freeform 27"/>
            <p:cNvSpPr>
              <a:spLocks/>
            </p:cNvSpPr>
            <p:nvPr/>
          </p:nvSpPr>
          <p:spPr bwMode="auto">
            <a:xfrm>
              <a:off x="2490" y="1803"/>
              <a:ext cx="263" cy="246"/>
            </a:xfrm>
            <a:custGeom>
              <a:avLst/>
              <a:gdLst/>
              <a:ahLst/>
              <a:cxnLst>
                <a:cxn ang="0">
                  <a:pos x="0" y="262"/>
                </a:cxn>
                <a:cxn ang="0">
                  <a:pos x="72" y="264"/>
                </a:cxn>
                <a:cxn ang="0">
                  <a:pos x="72" y="0"/>
                </a:cxn>
                <a:cxn ang="0">
                  <a:pos x="283" y="0"/>
                </a:cxn>
              </a:cxnLst>
              <a:rect l="0" t="0" r="r" b="b"/>
              <a:pathLst>
                <a:path w="283" h="264">
                  <a:moveTo>
                    <a:pt x="0" y="262"/>
                  </a:moveTo>
                  <a:lnTo>
                    <a:pt x="72" y="264"/>
                  </a:lnTo>
                  <a:lnTo>
                    <a:pt x="72" y="0"/>
                  </a:lnTo>
                  <a:lnTo>
                    <a:pt x="28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2" name="Freeform 28"/>
            <p:cNvSpPr>
              <a:spLocks/>
            </p:cNvSpPr>
            <p:nvPr/>
          </p:nvSpPr>
          <p:spPr bwMode="auto">
            <a:xfrm>
              <a:off x="1557" y="1318"/>
              <a:ext cx="567" cy="179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93">
                  <a:moveTo>
                    <a:pt x="0" y="192"/>
                  </a:moveTo>
                  <a:lnTo>
                    <a:pt x="0" y="0"/>
                  </a:ln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3" name="Freeform 29"/>
            <p:cNvSpPr>
              <a:spLocks/>
            </p:cNvSpPr>
            <p:nvPr/>
          </p:nvSpPr>
          <p:spPr bwMode="auto">
            <a:xfrm>
              <a:off x="1557" y="1407"/>
              <a:ext cx="569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5" name="Freeform 31"/>
            <p:cNvSpPr>
              <a:spLocks/>
            </p:cNvSpPr>
            <p:nvPr/>
          </p:nvSpPr>
          <p:spPr bwMode="auto">
            <a:xfrm>
              <a:off x="1557" y="1400"/>
              <a:ext cx="576" cy="6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02"/>
                </a:cxn>
                <a:cxn ang="0">
                  <a:pos x="816" y="402"/>
                </a:cxn>
              </a:cxnLst>
              <a:rect l="0" t="0" r="r" b="b"/>
              <a:pathLst>
                <a:path w="817" h="403">
                  <a:moveTo>
                    <a:pt x="0" y="0"/>
                  </a:moveTo>
                  <a:lnTo>
                    <a:pt x="0" y="402"/>
                  </a:lnTo>
                  <a:lnTo>
                    <a:pt x="816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7" name="Freeform 33"/>
            <p:cNvSpPr>
              <a:spLocks/>
            </p:cNvSpPr>
            <p:nvPr/>
          </p:nvSpPr>
          <p:spPr bwMode="auto">
            <a:xfrm>
              <a:off x="1561" y="1606"/>
              <a:ext cx="565" cy="2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81" y="0"/>
                </a:cxn>
              </a:cxnLst>
              <a:rect l="0" t="0" r="r" b="b"/>
              <a:pathLst>
                <a:path w="282" h="1">
                  <a:moveTo>
                    <a:pt x="0" y="0"/>
                  </a:moveTo>
                  <a:lnTo>
                    <a:pt x="281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8" name="Freeform 34"/>
            <p:cNvSpPr>
              <a:spLocks/>
            </p:cNvSpPr>
            <p:nvPr/>
          </p:nvSpPr>
          <p:spPr bwMode="auto">
            <a:xfrm>
              <a:off x="2481" y="1501"/>
              <a:ext cx="798" cy="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5" y="0"/>
                </a:cxn>
              </a:cxnLst>
              <a:rect l="0" t="0" r="r" b="b"/>
              <a:pathLst>
                <a:path w="916" h="1">
                  <a:moveTo>
                    <a:pt x="0" y="0"/>
                  </a:moveTo>
                  <a:lnTo>
                    <a:pt x="915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59" name="Freeform 35"/>
            <p:cNvSpPr>
              <a:spLocks/>
            </p:cNvSpPr>
            <p:nvPr/>
          </p:nvSpPr>
          <p:spPr bwMode="auto">
            <a:xfrm flipV="1">
              <a:off x="2475" y="1645"/>
              <a:ext cx="277" cy="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8" y="0"/>
                </a:cxn>
              </a:cxnLst>
              <a:rect l="0" t="0" r="r" b="b"/>
              <a:pathLst>
                <a:path w="689" h="1">
                  <a:moveTo>
                    <a:pt x="0" y="0"/>
                  </a:moveTo>
                  <a:lnTo>
                    <a:pt x="68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0" name="Rectangle 36"/>
            <p:cNvSpPr>
              <a:spLocks noChangeArrowheads="1"/>
            </p:cNvSpPr>
            <p:nvPr/>
          </p:nvSpPr>
          <p:spPr bwMode="auto">
            <a:xfrm>
              <a:off x="1534" y="1223"/>
              <a:ext cx="477" cy="1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1" name="Oval 37"/>
            <p:cNvSpPr>
              <a:spLocks noChangeArrowheads="1"/>
            </p:cNvSpPr>
            <p:nvPr/>
          </p:nvSpPr>
          <p:spPr bwMode="auto">
            <a:xfrm>
              <a:off x="1542" y="1580"/>
              <a:ext cx="30" cy="3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2" name="Freeform 38"/>
            <p:cNvSpPr>
              <a:spLocks/>
            </p:cNvSpPr>
            <p:nvPr/>
          </p:nvSpPr>
          <p:spPr bwMode="auto">
            <a:xfrm>
              <a:off x="3279" y="1452"/>
              <a:ext cx="241" cy="3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52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58" y="288"/>
                </a:cxn>
                <a:cxn ang="0">
                  <a:pos x="258" y="96"/>
                </a:cxn>
                <a:cxn ang="0">
                  <a:pos x="0" y="0"/>
                </a:cxn>
              </a:cxnLst>
              <a:rect l="0" t="0" r="r" b="b"/>
              <a:pathLst>
                <a:path w="259" h="385">
                  <a:moveTo>
                    <a:pt x="0" y="0"/>
                  </a:moveTo>
                  <a:lnTo>
                    <a:pt x="0" y="160"/>
                  </a:lnTo>
                  <a:lnTo>
                    <a:pt x="52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58" y="288"/>
                  </a:lnTo>
                  <a:lnTo>
                    <a:pt x="258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3" name="Rectangle 39"/>
            <p:cNvSpPr>
              <a:spLocks noChangeArrowheads="1"/>
            </p:cNvSpPr>
            <p:nvPr/>
          </p:nvSpPr>
          <p:spPr bwMode="auto">
            <a:xfrm>
              <a:off x="3275" y="1562"/>
              <a:ext cx="30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ALU</a:t>
              </a:r>
            </a:p>
          </p:txBody>
        </p:sp>
        <p:sp>
          <p:nvSpPr>
            <p:cNvPr id="1281064" name="Freeform 40"/>
            <p:cNvSpPr>
              <a:spLocks/>
            </p:cNvSpPr>
            <p:nvPr/>
          </p:nvSpPr>
          <p:spPr bwMode="auto">
            <a:xfrm>
              <a:off x="2752" y="1630"/>
              <a:ext cx="135" cy="269"/>
            </a:xfrm>
            <a:custGeom>
              <a:avLst/>
              <a:gdLst/>
              <a:ahLst/>
              <a:cxnLst>
                <a:cxn ang="0">
                  <a:pos x="144" y="48"/>
                </a:cxn>
                <a:cxn ang="0">
                  <a:pos x="144" y="240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144" y="48"/>
                </a:cxn>
              </a:cxnLst>
              <a:rect l="0" t="0" r="r" b="b"/>
              <a:pathLst>
                <a:path w="145" h="289">
                  <a:moveTo>
                    <a:pt x="144" y="48"/>
                  </a:moveTo>
                  <a:lnTo>
                    <a:pt x="144" y="240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5" name="Line 41"/>
            <p:cNvSpPr>
              <a:spLocks noChangeShapeType="1"/>
            </p:cNvSpPr>
            <p:nvPr/>
          </p:nvSpPr>
          <p:spPr bwMode="auto">
            <a:xfrm flipH="1">
              <a:off x="2887" y="1750"/>
              <a:ext cx="392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6" name="Rectangle 42"/>
            <p:cNvSpPr>
              <a:spLocks noChangeArrowheads="1"/>
            </p:cNvSpPr>
            <p:nvPr/>
          </p:nvSpPr>
          <p:spPr bwMode="auto">
            <a:xfrm>
              <a:off x="2132" y="1950"/>
              <a:ext cx="343" cy="23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7" name="Rectangle 43"/>
            <p:cNvSpPr>
              <a:spLocks noChangeArrowheads="1"/>
            </p:cNvSpPr>
            <p:nvPr/>
          </p:nvSpPr>
          <p:spPr bwMode="auto">
            <a:xfrm>
              <a:off x="2103" y="1919"/>
              <a:ext cx="414" cy="2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200" dirty="0" err="1">
                  <a:solidFill>
                    <a:srgbClr val="56127A"/>
                  </a:solidFill>
                  <a:latin typeface="Verdana" charset="0"/>
                </a:rPr>
                <a:t>Imm</a:t>
              </a:r>
              <a:endParaRPr lang="en-US" sz="1200" dirty="0">
                <a:solidFill>
                  <a:srgbClr val="56127A"/>
                </a:solidFill>
                <a:latin typeface="Verdana" charset="0"/>
              </a:endParaRPr>
            </a:p>
            <a:p>
              <a:pPr algn="ctr">
                <a:spcBef>
                  <a:spcPct val="0"/>
                </a:spcBef>
              </a:pPr>
              <a:r>
                <a:rPr lang="en-US" sz="1200" dirty="0">
                  <a:solidFill>
                    <a:srgbClr val="56127A"/>
                  </a:solidFill>
                  <a:latin typeface="Verdana" charset="0"/>
                </a:rPr>
                <a:t>Select</a:t>
              </a:r>
            </a:p>
          </p:txBody>
        </p:sp>
        <p:sp>
          <p:nvSpPr>
            <p:cNvPr id="1281068" name="Line 44"/>
            <p:cNvSpPr>
              <a:spLocks noChangeShapeType="1"/>
            </p:cNvSpPr>
            <p:nvPr/>
          </p:nvSpPr>
          <p:spPr bwMode="auto">
            <a:xfrm>
              <a:off x="1242" y="1597"/>
              <a:ext cx="309" cy="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69" name="Rectangle 45"/>
            <p:cNvSpPr>
              <a:spLocks noChangeArrowheads="1"/>
            </p:cNvSpPr>
            <p:nvPr/>
          </p:nvSpPr>
          <p:spPr bwMode="auto">
            <a:xfrm>
              <a:off x="530" y="893"/>
              <a:ext cx="29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0x4</a:t>
              </a:r>
            </a:p>
          </p:txBody>
        </p:sp>
        <p:sp>
          <p:nvSpPr>
            <p:cNvPr id="1281070" name="Freeform 46"/>
            <p:cNvSpPr>
              <a:spLocks/>
            </p:cNvSpPr>
            <p:nvPr/>
          </p:nvSpPr>
          <p:spPr bwMode="auto">
            <a:xfrm>
              <a:off x="810" y="926"/>
              <a:ext cx="224" cy="3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48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40" y="288"/>
                </a:cxn>
                <a:cxn ang="0">
                  <a:pos x="240" y="96"/>
                </a:cxn>
                <a:cxn ang="0">
                  <a:pos x="0" y="0"/>
                </a:cxn>
              </a:cxnLst>
              <a:rect l="0" t="0" r="r" b="b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71" name="Line 47"/>
            <p:cNvSpPr>
              <a:spLocks noChangeShapeType="1"/>
            </p:cNvSpPr>
            <p:nvPr/>
          </p:nvSpPr>
          <p:spPr bwMode="auto">
            <a:xfrm>
              <a:off x="769" y="971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72" name="Rectangle 48"/>
            <p:cNvSpPr>
              <a:spLocks noChangeArrowheads="1"/>
            </p:cNvSpPr>
            <p:nvPr/>
          </p:nvSpPr>
          <p:spPr bwMode="auto">
            <a:xfrm>
              <a:off x="798" y="1036"/>
              <a:ext cx="299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Add</a:t>
              </a:r>
            </a:p>
          </p:txBody>
        </p:sp>
        <p:sp>
          <p:nvSpPr>
            <p:cNvPr id="1281073" name="Rectangle 49"/>
            <p:cNvSpPr>
              <a:spLocks noChangeArrowheads="1"/>
            </p:cNvSpPr>
            <p:nvPr/>
          </p:nvSpPr>
          <p:spPr bwMode="auto">
            <a:xfrm>
              <a:off x="784" y="1405"/>
              <a:ext cx="454" cy="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74" name="Rectangle 50"/>
            <p:cNvSpPr>
              <a:spLocks noChangeArrowheads="1"/>
            </p:cNvSpPr>
            <p:nvPr/>
          </p:nvSpPr>
          <p:spPr bwMode="auto">
            <a:xfrm>
              <a:off x="749" y="1448"/>
              <a:ext cx="33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addr</a:t>
              </a:r>
            </a:p>
          </p:txBody>
        </p:sp>
        <p:sp>
          <p:nvSpPr>
            <p:cNvPr id="1281075" name="Rectangle 51"/>
            <p:cNvSpPr>
              <a:spLocks noChangeArrowheads="1"/>
            </p:cNvSpPr>
            <p:nvPr/>
          </p:nvSpPr>
          <p:spPr bwMode="auto">
            <a:xfrm>
              <a:off x="925" y="1535"/>
              <a:ext cx="368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rdata</a:t>
              </a:r>
            </a:p>
          </p:txBody>
        </p:sp>
        <p:sp>
          <p:nvSpPr>
            <p:cNvPr id="1281076" name="Rectangle 52"/>
            <p:cNvSpPr>
              <a:spLocks noChangeArrowheads="1"/>
            </p:cNvSpPr>
            <p:nvPr/>
          </p:nvSpPr>
          <p:spPr bwMode="auto">
            <a:xfrm>
              <a:off x="744" y="1788"/>
              <a:ext cx="566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Inst.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Memory</a:t>
              </a:r>
            </a:p>
          </p:txBody>
        </p:sp>
        <p:sp>
          <p:nvSpPr>
            <p:cNvPr id="1281077" name="Rectangle 53"/>
            <p:cNvSpPr>
              <a:spLocks noChangeArrowheads="1"/>
            </p:cNvSpPr>
            <p:nvPr/>
          </p:nvSpPr>
          <p:spPr bwMode="auto">
            <a:xfrm>
              <a:off x="2132" y="1191"/>
              <a:ext cx="343" cy="63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78" name="Rectangle 54"/>
            <p:cNvSpPr>
              <a:spLocks noChangeArrowheads="1"/>
            </p:cNvSpPr>
            <p:nvPr/>
          </p:nvSpPr>
          <p:spPr bwMode="auto">
            <a:xfrm>
              <a:off x="2249" y="1413"/>
              <a:ext cx="28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rd1</a:t>
              </a:r>
            </a:p>
          </p:txBody>
        </p:sp>
        <p:sp>
          <p:nvSpPr>
            <p:cNvPr id="1281079" name="Rectangle 55"/>
            <p:cNvSpPr>
              <a:spLocks noChangeArrowheads="1"/>
            </p:cNvSpPr>
            <p:nvPr/>
          </p:nvSpPr>
          <p:spPr bwMode="auto">
            <a:xfrm>
              <a:off x="2133" y="1704"/>
              <a:ext cx="36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GPRs</a:t>
              </a:r>
            </a:p>
          </p:txBody>
        </p:sp>
        <p:sp>
          <p:nvSpPr>
            <p:cNvPr id="1281080" name="Rectangle 56"/>
            <p:cNvSpPr>
              <a:spLocks noChangeArrowheads="1"/>
            </p:cNvSpPr>
            <p:nvPr/>
          </p:nvSpPr>
          <p:spPr bwMode="auto">
            <a:xfrm>
              <a:off x="2091" y="1241"/>
              <a:ext cx="26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rs1</a:t>
              </a:r>
            </a:p>
          </p:txBody>
        </p:sp>
        <p:sp>
          <p:nvSpPr>
            <p:cNvPr id="1281081" name="Rectangle 57"/>
            <p:cNvSpPr>
              <a:spLocks noChangeArrowheads="1"/>
            </p:cNvSpPr>
            <p:nvPr/>
          </p:nvSpPr>
          <p:spPr bwMode="auto">
            <a:xfrm>
              <a:off x="2092" y="1331"/>
              <a:ext cx="26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rs2</a:t>
              </a:r>
            </a:p>
          </p:txBody>
        </p:sp>
        <p:sp>
          <p:nvSpPr>
            <p:cNvPr id="1281082" name="Rectangle 58"/>
            <p:cNvSpPr>
              <a:spLocks noChangeArrowheads="1"/>
            </p:cNvSpPr>
            <p:nvPr/>
          </p:nvSpPr>
          <p:spPr bwMode="auto">
            <a:xfrm>
              <a:off x="2096" y="1500"/>
              <a:ext cx="252" cy="17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 dirty="0" err="1">
                  <a:solidFill>
                    <a:schemeClr val="tx1"/>
                  </a:solidFill>
                  <a:latin typeface="Verdana" charset="0"/>
                </a:rPr>
                <a:t>wa</a:t>
              </a:r>
              <a:endParaRPr lang="en-US" sz="1200" dirty="0">
                <a:solidFill>
                  <a:schemeClr val="tx1"/>
                </a:solidFill>
                <a:latin typeface="Verdana" charset="0"/>
              </a:endParaRPr>
            </a:p>
          </p:txBody>
        </p:sp>
        <p:sp>
          <p:nvSpPr>
            <p:cNvPr id="1281083" name="Rectangle 59"/>
            <p:cNvSpPr>
              <a:spLocks noChangeArrowheads="1"/>
            </p:cNvSpPr>
            <p:nvPr/>
          </p:nvSpPr>
          <p:spPr bwMode="auto">
            <a:xfrm>
              <a:off x="2096" y="1590"/>
              <a:ext cx="25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wd</a:t>
              </a:r>
            </a:p>
          </p:txBody>
        </p:sp>
        <p:sp>
          <p:nvSpPr>
            <p:cNvPr id="1281084" name="Rectangle 60"/>
            <p:cNvSpPr>
              <a:spLocks noChangeArrowheads="1"/>
            </p:cNvSpPr>
            <p:nvPr/>
          </p:nvSpPr>
          <p:spPr bwMode="auto">
            <a:xfrm>
              <a:off x="2246" y="1603"/>
              <a:ext cx="28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rd2</a:t>
              </a:r>
            </a:p>
          </p:txBody>
        </p:sp>
        <p:sp>
          <p:nvSpPr>
            <p:cNvPr id="1281085" name="Rectangle 61"/>
            <p:cNvSpPr>
              <a:spLocks noChangeArrowheads="1"/>
            </p:cNvSpPr>
            <p:nvPr/>
          </p:nvSpPr>
          <p:spPr bwMode="auto">
            <a:xfrm>
              <a:off x="2221" y="1145"/>
              <a:ext cx="250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we</a:t>
              </a:r>
            </a:p>
          </p:txBody>
        </p:sp>
        <p:sp>
          <p:nvSpPr>
            <p:cNvPr id="1281086" name="Freeform 62"/>
            <p:cNvSpPr>
              <a:spLocks/>
            </p:cNvSpPr>
            <p:nvPr/>
          </p:nvSpPr>
          <p:spPr bwMode="auto">
            <a:xfrm>
              <a:off x="639" y="1194"/>
              <a:ext cx="165" cy="328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0" y="0"/>
                </a:cxn>
                <a:cxn ang="0">
                  <a:pos x="176" y="0"/>
                </a:cxn>
              </a:cxnLst>
              <a:rect l="0" t="0" r="r" b="b"/>
              <a:pathLst>
                <a:path w="177" h="353">
                  <a:moveTo>
                    <a:pt x="0" y="352"/>
                  </a:moveTo>
                  <a:lnTo>
                    <a:pt x="0" y="0"/>
                  </a:lnTo>
                  <a:lnTo>
                    <a:pt x="17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87" name="Freeform 63"/>
            <p:cNvSpPr>
              <a:spLocks/>
            </p:cNvSpPr>
            <p:nvPr/>
          </p:nvSpPr>
          <p:spPr bwMode="auto">
            <a:xfrm flipV="1">
              <a:off x="4173" y="1484"/>
              <a:ext cx="46" cy="46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</a:cxnLst>
              <a:rect l="0" t="0" r="r" b="b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88" name="Freeform 64"/>
            <p:cNvSpPr>
              <a:spLocks/>
            </p:cNvSpPr>
            <p:nvPr/>
          </p:nvSpPr>
          <p:spPr bwMode="auto">
            <a:xfrm flipV="1">
              <a:off x="2163" y="1192"/>
              <a:ext cx="46" cy="46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</a:cxnLst>
              <a:rect l="0" t="0" r="r" b="b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089" name="Freeform 65"/>
            <p:cNvSpPr>
              <a:spLocks/>
            </p:cNvSpPr>
            <p:nvPr/>
          </p:nvSpPr>
          <p:spPr bwMode="auto">
            <a:xfrm>
              <a:off x="4013" y="1612"/>
              <a:ext cx="749" cy="7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85"/>
                </a:cxn>
                <a:cxn ang="0">
                  <a:pos x="701" y="784"/>
                </a:cxn>
                <a:cxn ang="0">
                  <a:pos x="701" y="394"/>
                </a:cxn>
                <a:cxn ang="0">
                  <a:pos x="805" y="394"/>
                </a:cxn>
              </a:cxnLst>
              <a:rect l="0" t="0" r="r" b="b"/>
              <a:pathLst>
                <a:path w="805" h="785">
                  <a:moveTo>
                    <a:pt x="0" y="0"/>
                  </a:moveTo>
                  <a:lnTo>
                    <a:pt x="1" y="785"/>
                  </a:lnTo>
                  <a:lnTo>
                    <a:pt x="701" y="784"/>
                  </a:lnTo>
                  <a:lnTo>
                    <a:pt x="701" y="394"/>
                  </a:lnTo>
                  <a:lnTo>
                    <a:pt x="805" y="39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66"/>
            <p:cNvGrpSpPr>
              <a:grpSpLocks/>
            </p:cNvGrpSpPr>
            <p:nvPr/>
          </p:nvGrpSpPr>
          <p:grpSpPr bwMode="auto">
            <a:xfrm>
              <a:off x="437" y="1015"/>
              <a:ext cx="4638" cy="1782"/>
              <a:chOff x="294" y="1039"/>
              <a:chExt cx="4986" cy="1916"/>
            </a:xfrm>
          </p:grpSpPr>
          <p:grpSp>
            <p:nvGrpSpPr>
              <p:cNvPr id="5" name="Group 67"/>
              <p:cNvGrpSpPr>
                <a:grpSpLocks/>
              </p:cNvGrpSpPr>
              <p:nvPr/>
            </p:nvGrpSpPr>
            <p:grpSpPr bwMode="auto">
              <a:xfrm>
                <a:off x="409" y="1039"/>
                <a:ext cx="4796" cy="1916"/>
                <a:chOff x="409" y="959"/>
                <a:chExt cx="4796" cy="1916"/>
              </a:xfrm>
            </p:grpSpPr>
            <p:sp>
              <p:nvSpPr>
                <p:cNvPr id="1281092" name="Line 68"/>
                <p:cNvSpPr>
                  <a:spLocks noChangeShapeType="1"/>
                </p:cNvSpPr>
                <p:nvPr/>
              </p:nvSpPr>
              <p:spPr bwMode="auto">
                <a:xfrm>
                  <a:off x="5205" y="975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093" name="Line 69"/>
                <p:cNvSpPr>
                  <a:spLocks noChangeShapeType="1"/>
                </p:cNvSpPr>
                <p:nvPr/>
              </p:nvSpPr>
              <p:spPr bwMode="auto">
                <a:xfrm>
                  <a:off x="409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094" name="Line 70"/>
                <p:cNvSpPr>
                  <a:spLocks noChangeShapeType="1"/>
                </p:cNvSpPr>
                <p:nvPr/>
              </p:nvSpPr>
              <p:spPr bwMode="auto">
                <a:xfrm>
                  <a:off x="1311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095" name="Line 71"/>
                <p:cNvSpPr>
                  <a:spLocks noChangeShapeType="1"/>
                </p:cNvSpPr>
                <p:nvPr/>
              </p:nvSpPr>
              <p:spPr bwMode="auto">
                <a:xfrm>
                  <a:off x="3129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096" name="Line 72"/>
                <p:cNvSpPr>
                  <a:spLocks noChangeShapeType="1"/>
                </p:cNvSpPr>
                <p:nvPr/>
              </p:nvSpPr>
              <p:spPr bwMode="auto">
                <a:xfrm>
                  <a:off x="3951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" name="Group 73"/>
              <p:cNvGrpSpPr>
                <a:grpSpLocks/>
              </p:cNvGrpSpPr>
              <p:nvPr/>
            </p:nvGrpSpPr>
            <p:grpSpPr bwMode="auto">
              <a:xfrm>
                <a:off x="1206" y="1463"/>
                <a:ext cx="237" cy="369"/>
                <a:chOff x="1206" y="1463"/>
                <a:chExt cx="237" cy="369"/>
              </a:xfrm>
            </p:grpSpPr>
            <p:sp>
              <p:nvSpPr>
                <p:cNvPr id="1281098" name="Rectangle 74"/>
                <p:cNvSpPr>
                  <a:spLocks noChangeArrowheads="1"/>
                </p:cNvSpPr>
                <p:nvPr/>
              </p:nvSpPr>
              <p:spPr bwMode="auto">
                <a:xfrm>
                  <a:off x="1247" y="1463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099" name="Rectangle 75"/>
                <p:cNvSpPr>
                  <a:spLocks noChangeArrowheads="1"/>
                </p:cNvSpPr>
                <p:nvPr/>
              </p:nvSpPr>
              <p:spPr bwMode="auto">
                <a:xfrm>
                  <a:off x="1206" y="1573"/>
                  <a:ext cx="237" cy="18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chemeClr val="tx1"/>
                      </a:solidFill>
                      <a:latin typeface="Verdana" charset="0"/>
                    </a:rPr>
                    <a:t>IR</a:t>
                  </a:r>
                </a:p>
              </p:txBody>
            </p:sp>
            <p:sp>
              <p:nvSpPr>
                <p:cNvPr id="1281100" name="Freeform 76"/>
                <p:cNvSpPr>
                  <a:spLocks/>
                </p:cNvSpPr>
                <p:nvPr/>
              </p:nvSpPr>
              <p:spPr bwMode="auto">
                <a:xfrm>
                  <a:off x="1287" y="1783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" name="Group 77"/>
              <p:cNvGrpSpPr>
                <a:grpSpLocks/>
              </p:cNvGrpSpPr>
              <p:nvPr/>
            </p:nvGrpSpPr>
            <p:grpSpPr bwMode="auto">
              <a:xfrm>
                <a:off x="3065" y="1418"/>
                <a:ext cx="128" cy="257"/>
                <a:chOff x="2886" y="914"/>
                <a:chExt cx="128" cy="369"/>
              </a:xfrm>
            </p:grpSpPr>
            <p:sp>
              <p:nvSpPr>
                <p:cNvPr id="1281102" name="Rectangle 78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03" name="Freeform 79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Group 80"/>
              <p:cNvGrpSpPr>
                <a:grpSpLocks/>
              </p:cNvGrpSpPr>
              <p:nvPr/>
            </p:nvGrpSpPr>
            <p:grpSpPr bwMode="auto">
              <a:xfrm>
                <a:off x="3072" y="1728"/>
                <a:ext cx="128" cy="257"/>
                <a:chOff x="2886" y="914"/>
                <a:chExt cx="128" cy="369"/>
              </a:xfrm>
            </p:grpSpPr>
            <p:sp>
              <p:nvSpPr>
                <p:cNvPr id="1281105" name="Rectangle 81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06" name="Freeform 82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" name="Group 83"/>
              <p:cNvGrpSpPr>
                <a:grpSpLocks/>
              </p:cNvGrpSpPr>
              <p:nvPr/>
            </p:nvGrpSpPr>
            <p:grpSpPr bwMode="auto">
              <a:xfrm>
                <a:off x="3072" y="2047"/>
                <a:ext cx="128" cy="257"/>
                <a:chOff x="2886" y="914"/>
                <a:chExt cx="128" cy="369"/>
              </a:xfrm>
            </p:grpSpPr>
            <p:sp>
              <p:nvSpPr>
                <p:cNvPr id="1281108" name="Rectangle 84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09" name="Freeform 85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86"/>
              <p:cNvGrpSpPr>
                <a:grpSpLocks/>
              </p:cNvGrpSpPr>
              <p:nvPr/>
            </p:nvGrpSpPr>
            <p:grpSpPr bwMode="auto">
              <a:xfrm>
                <a:off x="3890" y="1546"/>
                <a:ext cx="128" cy="257"/>
                <a:chOff x="2886" y="914"/>
                <a:chExt cx="128" cy="369"/>
              </a:xfrm>
            </p:grpSpPr>
            <p:sp>
              <p:nvSpPr>
                <p:cNvPr id="1281111" name="Rectangle 87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12" name="Freeform 88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89"/>
              <p:cNvGrpSpPr>
                <a:grpSpLocks/>
              </p:cNvGrpSpPr>
              <p:nvPr/>
            </p:nvGrpSpPr>
            <p:grpSpPr bwMode="auto">
              <a:xfrm>
                <a:off x="3888" y="2064"/>
                <a:ext cx="128" cy="257"/>
                <a:chOff x="2886" y="914"/>
                <a:chExt cx="128" cy="369"/>
              </a:xfrm>
            </p:grpSpPr>
            <p:sp>
              <p:nvSpPr>
                <p:cNvPr id="1281114" name="Rectangle 90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15" name="Freeform 91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92"/>
              <p:cNvGrpSpPr>
                <a:grpSpLocks/>
              </p:cNvGrpSpPr>
              <p:nvPr/>
            </p:nvGrpSpPr>
            <p:grpSpPr bwMode="auto">
              <a:xfrm>
                <a:off x="5152" y="1855"/>
                <a:ext cx="128" cy="257"/>
                <a:chOff x="2886" y="914"/>
                <a:chExt cx="128" cy="369"/>
              </a:xfrm>
            </p:grpSpPr>
            <p:sp>
              <p:nvSpPr>
                <p:cNvPr id="1281117" name="Rectangle 93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18" name="Freeform 94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95"/>
              <p:cNvGrpSpPr>
                <a:grpSpLocks/>
              </p:cNvGrpSpPr>
              <p:nvPr/>
            </p:nvGrpSpPr>
            <p:grpSpPr bwMode="auto">
              <a:xfrm>
                <a:off x="294" y="1399"/>
                <a:ext cx="257" cy="369"/>
                <a:chOff x="294" y="1399"/>
                <a:chExt cx="257" cy="369"/>
              </a:xfrm>
            </p:grpSpPr>
            <p:sp>
              <p:nvSpPr>
                <p:cNvPr id="1281120" name="Rectangle 96"/>
                <p:cNvSpPr>
                  <a:spLocks noChangeArrowheads="1"/>
                </p:cNvSpPr>
                <p:nvPr/>
              </p:nvSpPr>
              <p:spPr bwMode="auto">
                <a:xfrm>
                  <a:off x="343" y="1399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21" name="Freeform 97"/>
                <p:cNvSpPr>
                  <a:spLocks/>
                </p:cNvSpPr>
                <p:nvPr/>
              </p:nvSpPr>
              <p:spPr bwMode="auto">
                <a:xfrm>
                  <a:off x="383" y="1719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1122" name="Rectangle 98"/>
                <p:cNvSpPr>
                  <a:spLocks noChangeArrowheads="1"/>
                </p:cNvSpPr>
                <p:nvPr/>
              </p:nvSpPr>
              <p:spPr bwMode="auto">
                <a:xfrm>
                  <a:off x="294" y="1508"/>
                  <a:ext cx="257" cy="18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chemeClr val="tx1"/>
                      </a:solidFill>
                      <a:latin typeface="Verdana" charset="0"/>
                    </a:rPr>
                    <a:t>PC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1027" grpId="0" build="p" autoUpdateAnimBg="0"/>
      <p:bldP spid="12810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031CA-5F73-F247-8805-F8BA63E54A32}" type="slidenum">
              <a:rPr lang="en-US"/>
              <a:pPr/>
              <a:t>55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8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417513"/>
            <a:ext cx="7648575" cy="704850"/>
          </a:xfrm>
        </p:spPr>
        <p:txBody>
          <a:bodyPr/>
          <a:lstStyle/>
          <a:p>
            <a:r>
              <a:rPr lang="en-US"/>
              <a:t>5-Stage Pipelined Execution</a:t>
            </a:r>
            <a:br>
              <a:rPr lang="en-US"/>
            </a:br>
            <a:r>
              <a:rPr lang="en-US" sz="2000" i="1"/>
              <a:t>Resource Usage Diagram</a:t>
            </a:r>
          </a:p>
        </p:txBody>
      </p:sp>
      <p:sp>
        <p:nvSpPr>
          <p:cNvPr id="1283075" name="Rectangle 3"/>
          <p:cNvSpPr>
            <a:spLocks noChangeArrowheads="1"/>
          </p:cNvSpPr>
          <p:nvPr/>
        </p:nvSpPr>
        <p:spPr bwMode="auto">
          <a:xfrm>
            <a:off x="4991100" y="4673600"/>
            <a:ext cx="584200" cy="1790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3076" name="Rectangle 4"/>
          <p:cNvSpPr>
            <a:spLocks noChangeArrowheads="1"/>
          </p:cNvSpPr>
          <p:nvPr/>
        </p:nvSpPr>
        <p:spPr bwMode="auto">
          <a:xfrm>
            <a:off x="1666875" y="4710113"/>
            <a:ext cx="6470650" cy="17367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time 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t0	t1	t2	t3	t4	t5	t6	t7	. . . .</a:t>
            </a:r>
          </a:p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IF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	</a:t>
            </a:r>
            <a:r>
              <a:rPr lang="en-US" sz="1800">
                <a:solidFill>
                  <a:schemeClr val="accent1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chemeClr val="accent2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latin typeface="Verdana" charset="0"/>
              </a:rPr>
              <a:t>I</a:t>
            </a:r>
            <a:r>
              <a:rPr lang="en-US" sz="1800" baseline="-25000">
                <a:latin typeface="Verdana" charset="0"/>
              </a:rPr>
              <a:t>3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I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5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</a:p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ID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		</a:t>
            </a:r>
            <a:r>
              <a:rPr lang="en-US" sz="1800">
                <a:solidFill>
                  <a:schemeClr val="accent1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chemeClr val="accent2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latin typeface="Verdana" charset="0"/>
              </a:rPr>
              <a:t>I</a:t>
            </a:r>
            <a:r>
              <a:rPr lang="en-US" sz="1800" baseline="-25000">
                <a:latin typeface="Verdana" charset="0"/>
              </a:rPr>
              <a:t>3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I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5</a:t>
            </a:r>
            <a:endParaRPr lang="en-US" sz="1800">
              <a:solidFill>
                <a:schemeClr val="tx1"/>
              </a:solidFill>
              <a:latin typeface="Verdana" charset="0"/>
            </a:endParaRPr>
          </a:p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EX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	         	</a:t>
            </a:r>
            <a:r>
              <a:rPr lang="en-US" sz="1800">
                <a:solidFill>
                  <a:schemeClr val="accent1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chemeClr val="accent2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latin typeface="Verdana" charset="0"/>
              </a:rPr>
              <a:t>I</a:t>
            </a:r>
            <a:r>
              <a:rPr lang="en-US" sz="1800" baseline="-25000">
                <a:latin typeface="Verdana" charset="0"/>
              </a:rPr>
              <a:t>3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I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5</a:t>
            </a:r>
          </a:p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MA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      				</a:t>
            </a:r>
            <a:r>
              <a:rPr lang="en-US" sz="1800">
                <a:solidFill>
                  <a:schemeClr val="accent1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chemeClr val="accent2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latin typeface="Verdana" charset="0"/>
              </a:rPr>
              <a:t>I</a:t>
            </a:r>
            <a:r>
              <a:rPr lang="en-US" sz="1800" baseline="-25000">
                <a:latin typeface="Verdana" charset="0"/>
              </a:rPr>
              <a:t>3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I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5</a:t>
            </a:r>
          </a:p>
          <a:p>
            <a:pPr defTabSz="571500"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WB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     					</a:t>
            </a:r>
            <a:r>
              <a:rPr lang="en-US" sz="1800">
                <a:solidFill>
                  <a:schemeClr val="accent1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1"/>
                </a:solidFill>
                <a:latin typeface="Verdana" charset="0"/>
              </a:rPr>
              <a:t>1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chemeClr val="accent2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chemeClr val="accent2"/>
                </a:solidFill>
                <a:latin typeface="Verdana" charset="0"/>
              </a:rPr>
              <a:t>2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latin typeface="Verdana" charset="0"/>
              </a:rPr>
              <a:t>I</a:t>
            </a:r>
            <a:r>
              <a:rPr lang="en-US" sz="1800" baseline="-25000">
                <a:latin typeface="Verdana" charset="0"/>
              </a:rPr>
              <a:t>3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	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I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4</a:t>
            </a:r>
            <a:r>
              <a:rPr lang="en-US" sz="1800">
                <a:solidFill>
                  <a:schemeClr val="tx1"/>
                </a:solidFill>
                <a:latin typeface="Verdana" charset="0"/>
              </a:rPr>
              <a:t>	I</a:t>
            </a:r>
            <a:r>
              <a:rPr lang="en-US" sz="1800" baseline="-25000">
                <a:solidFill>
                  <a:schemeClr val="tx1"/>
                </a:solidFill>
                <a:latin typeface="Verdana" charset="0"/>
              </a:rPr>
              <a:t>5</a:t>
            </a:r>
          </a:p>
        </p:txBody>
      </p:sp>
      <p:sp>
        <p:nvSpPr>
          <p:cNvPr id="1283077" name="Rectangle 5"/>
          <p:cNvSpPr>
            <a:spLocks noChangeArrowheads="1"/>
          </p:cNvSpPr>
          <p:nvPr/>
        </p:nvSpPr>
        <p:spPr bwMode="auto">
          <a:xfrm rot="16200000">
            <a:off x="620713" y="5416550"/>
            <a:ext cx="1350962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chemeClr val="tx1"/>
                </a:solidFill>
                <a:latin typeface="Verdana" charset="0"/>
              </a:rPr>
              <a:t>Resources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85750" y="1270000"/>
            <a:ext cx="8691563" cy="3394075"/>
            <a:chOff x="285" y="808"/>
            <a:chExt cx="5475" cy="2138"/>
          </a:xfrm>
        </p:grpSpPr>
        <p:sp>
          <p:nvSpPr>
            <p:cNvPr id="1283079" name="Freeform 7"/>
            <p:cNvSpPr>
              <a:spLocks/>
            </p:cNvSpPr>
            <p:nvPr/>
          </p:nvSpPr>
          <p:spPr bwMode="auto">
            <a:xfrm>
              <a:off x="285" y="808"/>
              <a:ext cx="918" cy="712"/>
            </a:xfrm>
            <a:custGeom>
              <a:avLst/>
              <a:gdLst/>
              <a:ahLst/>
              <a:cxnLst>
                <a:cxn ang="0">
                  <a:pos x="800" y="311"/>
                </a:cxn>
                <a:cxn ang="0">
                  <a:pos x="987" y="311"/>
                </a:cxn>
                <a:cxn ang="0">
                  <a:pos x="987" y="0"/>
                </a:cxn>
                <a:cxn ang="0">
                  <a:pos x="0" y="0"/>
                </a:cxn>
                <a:cxn ang="0">
                  <a:pos x="0" y="765"/>
                </a:cxn>
                <a:cxn ang="0">
                  <a:pos x="541" y="766"/>
                </a:cxn>
              </a:cxnLst>
              <a:rect l="0" t="0" r="r" b="b"/>
              <a:pathLst>
                <a:path w="987" h="766">
                  <a:moveTo>
                    <a:pt x="800" y="311"/>
                  </a:moveTo>
                  <a:lnTo>
                    <a:pt x="987" y="311"/>
                  </a:lnTo>
                  <a:lnTo>
                    <a:pt x="987" y="0"/>
                  </a:lnTo>
                  <a:lnTo>
                    <a:pt x="0" y="0"/>
                  </a:lnTo>
                  <a:lnTo>
                    <a:pt x="0" y="765"/>
                  </a:lnTo>
                  <a:lnTo>
                    <a:pt x="541" y="76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648" y="2314"/>
              <a:ext cx="5112" cy="632"/>
              <a:chOff x="648" y="2314"/>
              <a:chExt cx="5112" cy="632"/>
            </a:xfrm>
          </p:grpSpPr>
          <p:sp>
            <p:nvSpPr>
              <p:cNvPr id="1283081" name="Rectangle 9"/>
              <p:cNvSpPr>
                <a:spLocks noChangeArrowheads="1"/>
              </p:cNvSpPr>
              <p:nvPr/>
            </p:nvSpPr>
            <p:spPr bwMode="auto">
              <a:xfrm>
                <a:off x="5190" y="2314"/>
                <a:ext cx="570" cy="63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Write</a:t>
                </a:r>
              </a:p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-Back (WB)</a:t>
                </a:r>
              </a:p>
            </p:txBody>
          </p:sp>
          <p:sp>
            <p:nvSpPr>
              <p:cNvPr id="1283082" name="Rectangle 10"/>
              <p:cNvSpPr>
                <a:spLocks noChangeArrowheads="1"/>
              </p:cNvSpPr>
              <p:nvPr/>
            </p:nvSpPr>
            <p:spPr bwMode="auto">
              <a:xfrm>
                <a:off x="648" y="2503"/>
                <a:ext cx="69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I-Fetch (IF)</a:t>
                </a:r>
              </a:p>
            </p:txBody>
          </p:sp>
          <p:sp>
            <p:nvSpPr>
              <p:cNvPr id="1283083" name="Rectangle 11"/>
              <p:cNvSpPr>
                <a:spLocks noChangeArrowheads="1"/>
              </p:cNvSpPr>
              <p:nvPr/>
            </p:nvSpPr>
            <p:spPr bwMode="auto">
              <a:xfrm>
                <a:off x="3079" y="2503"/>
                <a:ext cx="75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Execute (EX)</a:t>
                </a:r>
              </a:p>
            </p:txBody>
          </p:sp>
          <p:sp>
            <p:nvSpPr>
              <p:cNvPr id="1283084" name="Rectangle 12"/>
              <p:cNvSpPr>
                <a:spLocks noChangeArrowheads="1"/>
              </p:cNvSpPr>
              <p:nvPr/>
            </p:nvSpPr>
            <p:spPr bwMode="auto">
              <a:xfrm>
                <a:off x="1356" y="2495"/>
                <a:ext cx="1772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Decode, Reg. Fetch (ID)</a:t>
                </a:r>
              </a:p>
            </p:txBody>
          </p:sp>
          <p:sp>
            <p:nvSpPr>
              <p:cNvPr id="1283085" name="Rectangle 13"/>
              <p:cNvSpPr>
                <a:spLocks noChangeArrowheads="1"/>
              </p:cNvSpPr>
              <p:nvPr/>
            </p:nvSpPr>
            <p:spPr bwMode="auto">
              <a:xfrm>
                <a:off x="4014" y="2504"/>
                <a:ext cx="819" cy="440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sz="2000" i="1">
                    <a:solidFill>
                      <a:srgbClr val="56127A"/>
                    </a:solidFill>
                    <a:latin typeface="Verdana" charset="0"/>
                  </a:rPr>
                  <a:t>Memory (MA)</a:t>
                </a:r>
              </a:p>
            </p:txBody>
          </p:sp>
        </p:grpSp>
        <p:sp>
          <p:nvSpPr>
            <p:cNvPr id="1283086" name="Freeform 14"/>
            <p:cNvSpPr>
              <a:spLocks/>
            </p:cNvSpPr>
            <p:nvPr/>
          </p:nvSpPr>
          <p:spPr bwMode="auto">
            <a:xfrm>
              <a:off x="2619" y="1701"/>
              <a:ext cx="1520" cy="38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18"/>
                </a:cxn>
                <a:cxn ang="0">
                  <a:pos x="1237" y="418"/>
                </a:cxn>
              </a:cxnLst>
              <a:rect l="0" t="0" r="r" b="b"/>
              <a:pathLst>
                <a:path w="1238" h="419">
                  <a:moveTo>
                    <a:pt x="0" y="0"/>
                  </a:moveTo>
                  <a:lnTo>
                    <a:pt x="0" y="418"/>
                  </a:lnTo>
                  <a:lnTo>
                    <a:pt x="1237" y="41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87" name="Line 15"/>
            <p:cNvSpPr>
              <a:spLocks noChangeShapeType="1"/>
            </p:cNvSpPr>
            <p:nvPr/>
          </p:nvSpPr>
          <p:spPr bwMode="auto">
            <a:xfrm flipV="1">
              <a:off x="3512" y="1612"/>
              <a:ext cx="62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88" name="Freeform 16"/>
            <p:cNvSpPr>
              <a:spLocks/>
            </p:cNvSpPr>
            <p:nvPr/>
          </p:nvSpPr>
          <p:spPr bwMode="auto">
            <a:xfrm flipV="1">
              <a:off x="4593" y="1726"/>
              <a:ext cx="168" cy="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7" y="0"/>
                </a:cxn>
              </a:cxnLst>
              <a:rect l="0" t="0" r="r" b="b"/>
              <a:pathLst>
                <a:path w="358" h="1">
                  <a:moveTo>
                    <a:pt x="0" y="0"/>
                  </a:moveTo>
                  <a:lnTo>
                    <a:pt x="35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89" name="Freeform 17"/>
            <p:cNvSpPr>
              <a:spLocks/>
            </p:cNvSpPr>
            <p:nvPr/>
          </p:nvSpPr>
          <p:spPr bwMode="auto">
            <a:xfrm>
              <a:off x="2011" y="1666"/>
              <a:ext cx="3145" cy="794"/>
            </a:xfrm>
            <a:custGeom>
              <a:avLst/>
              <a:gdLst/>
              <a:ahLst/>
              <a:cxnLst>
                <a:cxn ang="0">
                  <a:pos x="3097" y="244"/>
                </a:cxn>
                <a:cxn ang="0">
                  <a:pos x="3381" y="240"/>
                </a:cxn>
                <a:cxn ang="0">
                  <a:pos x="3379" y="854"/>
                </a:cxn>
                <a:cxn ang="0">
                  <a:pos x="0" y="853"/>
                </a:cxn>
                <a:cxn ang="0">
                  <a:pos x="1" y="0"/>
                </a:cxn>
                <a:cxn ang="0">
                  <a:pos x="131" y="0"/>
                </a:cxn>
              </a:cxnLst>
              <a:rect l="0" t="0" r="r" b="b"/>
              <a:pathLst>
                <a:path w="3381" h="854">
                  <a:moveTo>
                    <a:pt x="3097" y="244"/>
                  </a:moveTo>
                  <a:lnTo>
                    <a:pt x="3381" y="240"/>
                  </a:lnTo>
                  <a:lnTo>
                    <a:pt x="3379" y="854"/>
                  </a:lnTo>
                  <a:lnTo>
                    <a:pt x="0" y="853"/>
                  </a:lnTo>
                  <a:lnTo>
                    <a:pt x="1" y="0"/>
                  </a:lnTo>
                  <a:lnTo>
                    <a:pt x="131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90" name="Freeform 18"/>
            <p:cNvSpPr>
              <a:spLocks/>
            </p:cNvSpPr>
            <p:nvPr/>
          </p:nvSpPr>
          <p:spPr bwMode="auto">
            <a:xfrm>
              <a:off x="4761" y="1722"/>
              <a:ext cx="135" cy="358"/>
            </a:xfrm>
            <a:custGeom>
              <a:avLst/>
              <a:gdLst/>
              <a:ahLst/>
              <a:cxnLst>
                <a:cxn ang="0">
                  <a:pos x="144" y="48"/>
                </a:cxn>
                <a:cxn ang="0">
                  <a:pos x="144" y="336"/>
                </a:cxn>
                <a:cxn ang="0">
                  <a:pos x="0" y="384"/>
                </a:cxn>
                <a:cxn ang="0">
                  <a:pos x="0" y="0"/>
                </a:cxn>
                <a:cxn ang="0">
                  <a:pos x="144" y="48"/>
                </a:cxn>
              </a:cxnLst>
              <a:rect l="0" t="0" r="r" b="b"/>
              <a:pathLst>
                <a:path w="145" h="385">
                  <a:moveTo>
                    <a:pt x="144" y="48"/>
                  </a:moveTo>
                  <a:lnTo>
                    <a:pt x="144" y="336"/>
                  </a:lnTo>
                  <a:lnTo>
                    <a:pt x="0" y="384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91" name="Rectangle 19"/>
            <p:cNvSpPr>
              <a:spLocks noChangeArrowheads="1"/>
            </p:cNvSpPr>
            <p:nvPr/>
          </p:nvSpPr>
          <p:spPr bwMode="auto">
            <a:xfrm>
              <a:off x="4134" y="1481"/>
              <a:ext cx="454" cy="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92" name="Rectangle 20"/>
            <p:cNvSpPr>
              <a:spLocks noChangeArrowheads="1"/>
            </p:cNvSpPr>
            <p:nvPr/>
          </p:nvSpPr>
          <p:spPr bwMode="auto">
            <a:xfrm>
              <a:off x="4096" y="1523"/>
              <a:ext cx="332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addr</a:t>
              </a:r>
            </a:p>
          </p:txBody>
        </p:sp>
        <p:sp>
          <p:nvSpPr>
            <p:cNvPr id="1283093" name="Rectangle 21"/>
            <p:cNvSpPr>
              <a:spLocks noChangeArrowheads="1"/>
            </p:cNvSpPr>
            <p:nvPr/>
          </p:nvSpPr>
          <p:spPr bwMode="auto">
            <a:xfrm>
              <a:off x="4104" y="1999"/>
              <a:ext cx="406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wdata</a:t>
              </a:r>
            </a:p>
          </p:txBody>
        </p:sp>
        <p:sp>
          <p:nvSpPr>
            <p:cNvPr id="1283094" name="Rectangle 22"/>
            <p:cNvSpPr>
              <a:spLocks noChangeArrowheads="1"/>
            </p:cNvSpPr>
            <p:nvPr/>
          </p:nvSpPr>
          <p:spPr bwMode="auto">
            <a:xfrm>
              <a:off x="4273" y="1665"/>
              <a:ext cx="368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rdata</a:t>
              </a:r>
            </a:p>
          </p:txBody>
        </p:sp>
        <p:sp>
          <p:nvSpPr>
            <p:cNvPr id="1283095" name="Rectangle 23"/>
            <p:cNvSpPr>
              <a:spLocks noChangeArrowheads="1"/>
            </p:cNvSpPr>
            <p:nvPr/>
          </p:nvSpPr>
          <p:spPr bwMode="auto">
            <a:xfrm>
              <a:off x="4103" y="1752"/>
              <a:ext cx="566" cy="32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Data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Memory</a:t>
              </a:r>
            </a:p>
          </p:txBody>
        </p:sp>
        <p:sp>
          <p:nvSpPr>
            <p:cNvPr id="1283096" name="Rectangle 24"/>
            <p:cNvSpPr>
              <a:spLocks noChangeArrowheads="1"/>
            </p:cNvSpPr>
            <p:nvPr/>
          </p:nvSpPr>
          <p:spPr bwMode="auto">
            <a:xfrm>
              <a:off x="4223" y="1435"/>
              <a:ext cx="25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we</a:t>
              </a:r>
            </a:p>
          </p:txBody>
        </p:sp>
        <p:sp>
          <p:nvSpPr>
            <p:cNvPr id="1283097" name="Line 25"/>
            <p:cNvSpPr>
              <a:spLocks noChangeShapeType="1"/>
            </p:cNvSpPr>
            <p:nvPr/>
          </p:nvSpPr>
          <p:spPr bwMode="auto">
            <a:xfrm>
              <a:off x="4157" y="1489"/>
              <a:ext cx="29" cy="44"/>
            </a:xfrm>
            <a:prstGeom prst="lin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098" name="Line 26"/>
            <p:cNvSpPr>
              <a:spLocks noChangeShapeType="1"/>
            </p:cNvSpPr>
            <p:nvPr/>
          </p:nvSpPr>
          <p:spPr bwMode="auto">
            <a:xfrm flipV="1">
              <a:off x="4186" y="1474"/>
              <a:ext cx="23" cy="52"/>
            </a:xfrm>
            <a:prstGeom prst="line">
              <a:avLst/>
            </a:prstGeom>
            <a:noFill/>
            <a:ln w="25400">
              <a:noFill/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0" name="Freeform 28"/>
            <p:cNvSpPr>
              <a:spLocks/>
            </p:cNvSpPr>
            <p:nvPr/>
          </p:nvSpPr>
          <p:spPr bwMode="auto">
            <a:xfrm>
              <a:off x="2490" y="1803"/>
              <a:ext cx="263" cy="246"/>
            </a:xfrm>
            <a:custGeom>
              <a:avLst/>
              <a:gdLst/>
              <a:ahLst/>
              <a:cxnLst>
                <a:cxn ang="0">
                  <a:pos x="0" y="262"/>
                </a:cxn>
                <a:cxn ang="0">
                  <a:pos x="72" y="264"/>
                </a:cxn>
                <a:cxn ang="0">
                  <a:pos x="72" y="0"/>
                </a:cxn>
                <a:cxn ang="0">
                  <a:pos x="283" y="0"/>
                </a:cxn>
              </a:cxnLst>
              <a:rect l="0" t="0" r="r" b="b"/>
              <a:pathLst>
                <a:path w="283" h="264">
                  <a:moveTo>
                    <a:pt x="0" y="262"/>
                  </a:moveTo>
                  <a:lnTo>
                    <a:pt x="72" y="264"/>
                  </a:lnTo>
                  <a:lnTo>
                    <a:pt x="72" y="0"/>
                  </a:lnTo>
                  <a:lnTo>
                    <a:pt x="283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1" name="Freeform 29"/>
            <p:cNvSpPr>
              <a:spLocks/>
            </p:cNvSpPr>
            <p:nvPr/>
          </p:nvSpPr>
          <p:spPr bwMode="auto">
            <a:xfrm>
              <a:off x="1557" y="1318"/>
              <a:ext cx="567" cy="179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93">
                  <a:moveTo>
                    <a:pt x="0" y="192"/>
                  </a:moveTo>
                  <a:lnTo>
                    <a:pt x="0" y="0"/>
                  </a:ln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2" name="Freeform 30"/>
            <p:cNvSpPr>
              <a:spLocks/>
            </p:cNvSpPr>
            <p:nvPr/>
          </p:nvSpPr>
          <p:spPr bwMode="auto">
            <a:xfrm>
              <a:off x="1557" y="1407"/>
              <a:ext cx="569" cy="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4" name="Freeform 32"/>
            <p:cNvSpPr>
              <a:spLocks/>
            </p:cNvSpPr>
            <p:nvPr/>
          </p:nvSpPr>
          <p:spPr bwMode="auto">
            <a:xfrm>
              <a:off x="1557" y="1448"/>
              <a:ext cx="576" cy="5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02"/>
                </a:cxn>
                <a:cxn ang="0">
                  <a:pos x="816" y="402"/>
                </a:cxn>
              </a:cxnLst>
              <a:rect l="0" t="0" r="r" b="b"/>
              <a:pathLst>
                <a:path w="817" h="403">
                  <a:moveTo>
                    <a:pt x="0" y="0"/>
                  </a:moveTo>
                  <a:lnTo>
                    <a:pt x="0" y="402"/>
                  </a:lnTo>
                  <a:lnTo>
                    <a:pt x="816" y="40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7" name="Freeform 35"/>
            <p:cNvSpPr>
              <a:spLocks/>
            </p:cNvSpPr>
            <p:nvPr/>
          </p:nvSpPr>
          <p:spPr bwMode="auto">
            <a:xfrm>
              <a:off x="2481" y="1501"/>
              <a:ext cx="798" cy="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5" y="0"/>
                </a:cxn>
              </a:cxnLst>
              <a:rect l="0" t="0" r="r" b="b"/>
              <a:pathLst>
                <a:path w="916" h="1">
                  <a:moveTo>
                    <a:pt x="0" y="0"/>
                  </a:moveTo>
                  <a:lnTo>
                    <a:pt x="915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8" name="Freeform 36"/>
            <p:cNvSpPr>
              <a:spLocks/>
            </p:cNvSpPr>
            <p:nvPr/>
          </p:nvSpPr>
          <p:spPr bwMode="auto">
            <a:xfrm flipV="1">
              <a:off x="2475" y="1645"/>
              <a:ext cx="277" cy="5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88" y="0"/>
                </a:cxn>
              </a:cxnLst>
              <a:rect l="0" t="0" r="r" b="b"/>
              <a:pathLst>
                <a:path w="689" h="1">
                  <a:moveTo>
                    <a:pt x="0" y="0"/>
                  </a:moveTo>
                  <a:lnTo>
                    <a:pt x="68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09" name="Rectangle 37"/>
            <p:cNvSpPr>
              <a:spLocks noChangeArrowheads="1"/>
            </p:cNvSpPr>
            <p:nvPr/>
          </p:nvSpPr>
          <p:spPr bwMode="auto">
            <a:xfrm>
              <a:off x="1534" y="1223"/>
              <a:ext cx="477" cy="13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0" name="Oval 38"/>
            <p:cNvSpPr>
              <a:spLocks noChangeArrowheads="1"/>
            </p:cNvSpPr>
            <p:nvPr/>
          </p:nvSpPr>
          <p:spPr bwMode="auto">
            <a:xfrm>
              <a:off x="1542" y="1580"/>
              <a:ext cx="30" cy="3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1" name="Freeform 39"/>
            <p:cNvSpPr>
              <a:spLocks/>
            </p:cNvSpPr>
            <p:nvPr/>
          </p:nvSpPr>
          <p:spPr bwMode="auto">
            <a:xfrm>
              <a:off x="3279" y="1452"/>
              <a:ext cx="241" cy="3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52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58" y="288"/>
                </a:cxn>
                <a:cxn ang="0">
                  <a:pos x="258" y="96"/>
                </a:cxn>
                <a:cxn ang="0">
                  <a:pos x="0" y="0"/>
                </a:cxn>
              </a:cxnLst>
              <a:rect l="0" t="0" r="r" b="b"/>
              <a:pathLst>
                <a:path w="259" h="385">
                  <a:moveTo>
                    <a:pt x="0" y="0"/>
                  </a:moveTo>
                  <a:lnTo>
                    <a:pt x="0" y="160"/>
                  </a:lnTo>
                  <a:lnTo>
                    <a:pt x="52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58" y="288"/>
                  </a:lnTo>
                  <a:lnTo>
                    <a:pt x="258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2" name="Rectangle 40"/>
            <p:cNvSpPr>
              <a:spLocks noChangeArrowheads="1"/>
            </p:cNvSpPr>
            <p:nvPr/>
          </p:nvSpPr>
          <p:spPr bwMode="auto">
            <a:xfrm>
              <a:off x="3275" y="1562"/>
              <a:ext cx="30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ALU</a:t>
              </a:r>
            </a:p>
          </p:txBody>
        </p:sp>
        <p:sp>
          <p:nvSpPr>
            <p:cNvPr id="1283113" name="Freeform 41"/>
            <p:cNvSpPr>
              <a:spLocks/>
            </p:cNvSpPr>
            <p:nvPr/>
          </p:nvSpPr>
          <p:spPr bwMode="auto">
            <a:xfrm>
              <a:off x="2752" y="1630"/>
              <a:ext cx="135" cy="269"/>
            </a:xfrm>
            <a:custGeom>
              <a:avLst/>
              <a:gdLst/>
              <a:ahLst/>
              <a:cxnLst>
                <a:cxn ang="0">
                  <a:pos x="144" y="48"/>
                </a:cxn>
                <a:cxn ang="0">
                  <a:pos x="144" y="240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144" y="48"/>
                </a:cxn>
              </a:cxnLst>
              <a:rect l="0" t="0" r="r" b="b"/>
              <a:pathLst>
                <a:path w="145" h="289">
                  <a:moveTo>
                    <a:pt x="144" y="48"/>
                  </a:moveTo>
                  <a:lnTo>
                    <a:pt x="144" y="240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4" name="Line 42"/>
            <p:cNvSpPr>
              <a:spLocks noChangeShapeType="1"/>
            </p:cNvSpPr>
            <p:nvPr/>
          </p:nvSpPr>
          <p:spPr bwMode="auto">
            <a:xfrm flipH="1">
              <a:off x="2887" y="1750"/>
              <a:ext cx="392" cy="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5" name="Rectangle 43"/>
            <p:cNvSpPr>
              <a:spLocks noChangeArrowheads="1"/>
            </p:cNvSpPr>
            <p:nvPr/>
          </p:nvSpPr>
          <p:spPr bwMode="auto">
            <a:xfrm>
              <a:off x="2132" y="1950"/>
              <a:ext cx="343" cy="23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7" name="Line 45"/>
            <p:cNvSpPr>
              <a:spLocks noChangeShapeType="1"/>
            </p:cNvSpPr>
            <p:nvPr/>
          </p:nvSpPr>
          <p:spPr bwMode="auto">
            <a:xfrm>
              <a:off x="1242" y="1597"/>
              <a:ext cx="309" cy="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18" name="Rectangle 46"/>
            <p:cNvSpPr>
              <a:spLocks noChangeArrowheads="1"/>
            </p:cNvSpPr>
            <p:nvPr/>
          </p:nvSpPr>
          <p:spPr bwMode="auto">
            <a:xfrm>
              <a:off x="530" y="893"/>
              <a:ext cx="29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0x4</a:t>
              </a:r>
            </a:p>
          </p:txBody>
        </p:sp>
        <p:sp>
          <p:nvSpPr>
            <p:cNvPr id="1283119" name="Freeform 47"/>
            <p:cNvSpPr>
              <a:spLocks/>
            </p:cNvSpPr>
            <p:nvPr/>
          </p:nvSpPr>
          <p:spPr bwMode="auto">
            <a:xfrm>
              <a:off x="810" y="926"/>
              <a:ext cx="224" cy="3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48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40" y="288"/>
                </a:cxn>
                <a:cxn ang="0">
                  <a:pos x="240" y="96"/>
                </a:cxn>
                <a:cxn ang="0">
                  <a:pos x="0" y="0"/>
                </a:cxn>
              </a:cxnLst>
              <a:rect l="0" t="0" r="r" b="b"/>
              <a:pathLst>
                <a:path w="241" h="385">
                  <a:moveTo>
                    <a:pt x="0" y="0"/>
                  </a:moveTo>
                  <a:lnTo>
                    <a:pt x="0" y="160"/>
                  </a:lnTo>
                  <a:lnTo>
                    <a:pt x="48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0" y="288"/>
                  </a:lnTo>
                  <a:lnTo>
                    <a:pt x="240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20" name="Line 48"/>
            <p:cNvSpPr>
              <a:spLocks noChangeShapeType="1"/>
            </p:cNvSpPr>
            <p:nvPr/>
          </p:nvSpPr>
          <p:spPr bwMode="auto">
            <a:xfrm>
              <a:off x="769" y="971"/>
              <a:ext cx="3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21" name="Rectangle 49"/>
            <p:cNvSpPr>
              <a:spLocks noChangeArrowheads="1"/>
            </p:cNvSpPr>
            <p:nvPr/>
          </p:nvSpPr>
          <p:spPr bwMode="auto">
            <a:xfrm>
              <a:off x="798" y="1036"/>
              <a:ext cx="299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rgbClr val="56127A"/>
                  </a:solidFill>
                  <a:latin typeface="Verdana" charset="0"/>
                </a:rPr>
                <a:t>Add</a:t>
              </a:r>
            </a:p>
          </p:txBody>
        </p:sp>
        <p:sp>
          <p:nvSpPr>
            <p:cNvPr id="1283122" name="Rectangle 50"/>
            <p:cNvSpPr>
              <a:spLocks noChangeArrowheads="1"/>
            </p:cNvSpPr>
            <p:nvPr/>
          </p:nvSpPr>
          <p:spPr bwMode="auto">
            <a:xfrm>
              <a:off x="784" y="1405"/>
              <a:ext cx="454" cy="7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23" name="Rectangle 51"/>
            <p:cNvSpPr>
              <a:spLocks noChangeArrowheads="1"/>
            </p:cNvSpPr>
            <p:nvPr/>
          </p:nvSpPr>
          <p:spPr bwMode="auto">
            <a:xfrm>
              <a:off x="749" y="1448"/>
              <a:ext cx="33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addr</a:t>
              </a:r>
            </a:p>
          </p:txBody>
        </p:sp>
        <p:sp>
          <p:nvSpPr>
            <p:cNvPr id="1283124" name="Rectangle 52"/>
            <p:cNvSpPr>
              <a:spLocks noChangeArrowheads="1"/>
            </p:cNvSpPr>
            <p:nvPr/>
          </p:nvSpPr>
          <p:spPr bwMode="auto">
            <a:xfrm>
              <a:off x="925" y="1535"/>
              <a:ext cx="368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rdata</a:t>
              </a:r>
            </a:p>
          </p:txBody>
        </p:sp>
        <p:sp>
          <p:nvSpPr>
            <p:cNvPr id="1283125" name="Rectangle 53"/>
            <p:cNvSpPr>
              <a:spLocks noChangeArrowheads="1"/>
            </p:cNvSpPr>
            <p:nvPr/>
          </p:nvSpPr>
          <p:spPr bwMode="auto">
            <a:xfrm>
              <a:off x="744" y="1788"/>
              <a:ext cx="566" cy="3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Inst.</a:t>
              </a:r>
            </a:p>
            <a:p>
              <a:pPr>
                <a:spcBef>
                  <a:spcPct val="0"/>
                </a:spcBef>
              </a:pPr>
              <a:r>
                <a:rPr lang="en-US" sz="1400">
                  <a:solidFill>
                    <a:schemeClr val="tx1"/>
                  </a:solidFill>
                  <a:latin typeface="Verdana" charset="0"/>
                </a:rPr>
                <a:t>Memory</a:t>
              </a:r>
            </a:p>
          </p:txBody>
        </p:sp>
        <p:sp>
          <p:nvSpPr>
            <p:cNvPr id="1283126" name="Rectangle 54"/>
            <p:cNvSpPr>
              <a:spLocks noChangeArrowheads="1"/>
            </p:cNvSpPr>
            <p:nvPr/>
          </p:nvSpPr>
          <p:spPr bwMode="auto">
            <a:xfrm>
              <a:off x="2132" y="1191"/>
              <a:ext cx="343" cy="633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27" name="Rectangle 55"/>
            <p:cNvSpPr>
              <a:spLocks noChangeArrowheads="1"/>
            </p:cNvSpPr>
            <p:nvPr/>
          </p:nvSpPr>
          <p:spPr bwMode="auto">
            <a:xfrm>
              <a:off x="2249" y="1413"/>
              <a:ext cx="28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rd1</a:t>
              </a:r>
            </a:p>
          </p:txBody>
        </p:sp>
        <p:sp>
          <p:nvSpPr>
            <p:cNvPr id="1283128" name="Rectangle 56"/>
            <p:cNvSpPr>
              <a:spLocks noChangeArrowheads="1"/>
            </p:cNvSpPr>
            <p:nvPr/>
          </p:nvSpPr>
          <p:spPr bwMode="auto">
            <a:xfrm>
              <a:off x="2133" y="1704"/>
              <a:ext cx="36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GPRs</a:t>
              </a:r>
            </a:p>
          </p:txBody>
        </p:sp>
        <p:sp>
          <p:nvSpPr>
            <p:cNvPr id="1283129" name="Rectangle 57"/>
            <p:cNvSpPr>
              <a:spLocks noChangeArrowheads="1"/>
            </p:cNvSpPr>
            <p:nvPr/>
          </p:nvSpPr>
          <p:spPr bwMode="auto">
            <a:xfrm>
              <a:off x="2091" y="1241"/>
              <a:ext cx="26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rs1</a:t>
              </a:r>
            </a:p>
          </p:txBody>
        </p:sp>
        <p:sp>
          <p:nvSpPr>
            <p:cNvPr id="1283130" name="Rectangle 58"/>
            <p:cNvSpPr>
              <a:spLocks noChangeArrowheads="1"/>
            </p:cNvSpPr>
            <p:nvPr/>
          </p:nvSpPr>
          <p:spPr bwMode="auto">
            <a:xfrm>
              <a:off x="2092" y="1331"/>
              <a:ext cx="266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rs2</a:t>
              </a:r>
            </a:p>
          </p:txBody>
        </p:sp>
        <p:sp>
          <p:nvSpPr>
            <p:cNvPr id="1283131" name="Rectangle 59"/>
            <p:cNvSpPr>
              <a:spLocks noChangeArrowheads="1"/>
            </p:cNvSpPr>
            <p:nvPr/>
          </p:nvSpPr>
          <p:spPr bwMode="auto">
            <a:xfrm>
              <a:off x="2096" y="1500"/>
              <a:ext cx="243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ws</a:t>
              </a:r>
            </a:p>
          </p:txBody>
        </p:sp>
        <p:sp>
          <p:nvSpPr>
            <p:cNvPr id="1283132" name="Rectangle 60"/>
            <p:cNvSpPr>
              <a:spLocks noChangeArrowheads="1"/>
            </p:cNvSpPr>
            <p:nvPr/>
          </p:nvSpPr>
          <p:spPr bwMode="auto">
            <a:xfrm>
              <a:off x="2096" y="1590"/>
              <a:ext cx="252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wd</a:t>
              </a:r>
            </a:p>
          </p:txBody>
        </p:sp>
        <p:sp>
          <p:nvSpPr>
            <p:cNvPr id="1283133" name="Rectangle 61"/>
            <p:cNvSpPr>
              <a:spLocks noChangeArrowheads="1"/>
            </p:cNvSpPr>
            <p:nvPr/>
          </p:nvSpPr>
          <p:spPr bwMode="auto">
            <a:xfrm>
              <a:off x="2246" y="1603"/>
              <a:ext cx="287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rd2</a:t>
              </a:r>
            </a:p>
          </p:txBody>
        </p:sp>
        <p:sp>
          <p:nvSpPr>
            <p:cNvPr id="1283134" name="Rectangle 62"/>
            <p:cNvSpPr>
              <a:spLocks noChangeArrowheads="1"/>
            </p:cNvSpPr>
            <p:nvPr/>
          </p:nvSpPr>
          <p:spPr bwMode="auto">
            <a:xfrm>
              <a:off x="2221" y="1145"/>
              <a:ext cx="250" cy="1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we</a:t>
              </a:r>
            </a:p>
          </p:txBody>
        </p:sp>
        <p:sp>
          <p:nvSpPr>
            <p:cNvPr id="1283135" name="Freeform 63"/>
            <p:cNvSpPr>
              <a:spLocks/>
            </p:cNvSpPr>
            <p:nvPr/>
          </p:nvSpPr>
          <p:spPr bwMode="auto">
            <a:xfrm>
              <a:off x="639" y="1194"/>
              <a:ext cx="165" cy="328"/>
            </a:xfrm>
            <a:custGeom>
              <a:avLst/>
              <a:gdLst/>
              <a:ahLst/>
              <a:cxnLst>
                <a:cxn ang="0">
                  <a:pos x="0" y="352"/>
                </a:cxn>
                <a:cxn ang="0">
                  <a:pos x="0" y="0"/>
                </a:cxn>
                <a:cxn ang="0">
                  <a:pos x="176" y="0"/>
                </a:cxn>
              </a:cxnLst>
              <a:rect l="0" t="0" r="r" b="b"/>
              <a:pathLst>
                <a:path w="177" h="353">
                  <a:moveTo>
                    <a:pt x="0" y="352"/>
                  </a:moveTo>
                  <a:lnTo>
                    <a:pt x="0" y="0"/>
                  </a:lnTo>
                  <a:lnTo>
                    <a:pt x="17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36" name="Freeform 64"/>
            <p:cNvSpPr>
              <a:spLocks/>
            </p:cNvSpPr>
            <p:nvPr/>
          </p:nvSpPr>
          <p:spPr bwMode="auto">
            <a:xfrm flipV="1">
              <a:off x="4173" y="1484"/>
              <a:ext cx="46" cy="46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</a:cxnLst>
              <a:rect l="0" t="0" r="r" b="b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37" name="Freeform 65"/>
            <p:cNvSpPr>
              <a:spLocks/>
            </p:cNvSpPr>
            <p:nvPr/>
          </p:nvSpPr>
          <p:spPr bwMode="auto">
            <a:xfrm flipV="1">
              <a:off x="2163" y="1192"/>
              <a:ext cx="46" cy="46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24" y="0"/>
                </a:cxn>
                <a:cxn ang="0">
                  <a:pos x="48" y="48"/>
                </a:cxn>
              </a:cxnLst>
              <a:rect l="0" t="0" r="r" b="b"/>
              <a:pathLst>
                <a:path w="49" h="49">
                  <a:moveTo>
                    <a:pt x="0" y="48"/>
                  </a:moveTo>
                  <a:lnTo>
                    <a:pt x="24" y="0"/>
                  </a:lnTo>
                  <a:lnTo>
                    <a:pt x="48" y="4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138" name="Freeform 66"/>
            <p:cNvSpPr>
              <a:spLocks/>
            </p:cNvSpPr>
            <p:nvPr/>
          </p:nvSpPr>
          <p:spPr bwMode="auto">
            <a:xfrm>
              <a:off x="4013" y="1612"/>
              <a:ext cx="749" cy="7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85"/>
                </a:cxn>
                <a:cxn ang="0">
                  <a:pos x="701" y="784"/>
                </a:cxn>
                <a:cxn ang="0">
                  <a:pos x="701" y="394"/>
                </a:cxn>
                <a:cxn ang="0">
                  <a:pos x="805" y="394"/>
                </a:cxn>
              </a:cxnLst>
              <a:rect l="0" t="0" r="r" b="b"/>
              <a:pathLst>
                <a:path w="805" h="785">
                  <a:moveTo>
                    <a:pt x="0" y="0"/>
                  </a:moveTo>
                  <a:lnTo>
                    <a:pt x="1" y="785"/>
                  </a:lnTo>
                  <a:lnTo>
                    <a:pt x="701" y="784"/>
                  </a:lnTo>
                  <a:lnTo>
                    <a:pt x="701" y="394"/>
                  </a:lnTo>
                  <a:lnTo>
                    <a:pt x="805" y="39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oval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437" y="1015"/>
              <a:ext cx="4638" cy="1782"/>
              <a:chOff x="294" y="1039"/>
              <a:chExt cx="4986" cy="1916"/>
            </a:xfrm>
          </p:grpSpPr>
          <p:grpSp>
            <p:nvGrpSpPr>
              <p:cNvPr id="5" name="Group 68"/>
              <p:cNvGrpSpPr>
                <a:grpSpLocks/>
              </p:cNvGrpSpPr>
              <p:nvPr/>
            </p:nvGrpSpPr>
            <p:grpSpPr bwMode="auto">
              <a:xfrm>
                <a:off x="409" y="1039"/>
                <a:ext cx="4796" cy="1916"/>
                <a:chOff x="409" y="959"/>
                <a:chExt cx="4796" cy="1916"/>
              </a:xfrm>
            </p:grpSpPr>
            <p:sp>
              <p:nvSpPr>
                <p:cNvPr id="1283141" name="Line 69"/>
                <p:cNvSpPr>
                  <a:spLocks noChangeShapeType="1"/>
                </p:cNvSpPr>
                <p:nvPr/>
              </p:nvSpPr>
              <p:spPr bwMode="auto">
                <a:xfrm>
                  <a:off x="5205" y="975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42" name="Line 70"/>
                <p:cNvSpPr>
                  <a:spLocks noChangeShapeType="1"/>
                </p:cNvSpPr>
                <p:nvPr/>
              </p:nvSpPr>
              <p:spPr bwMode="auto">
                <a:xfrm>
                  <a:off x="409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43" name="Line 71"/>
                <p:cNvSpPr>
                  <a:spLocks noChangeShapeType="1"/>
                </p:cNvSpPr>
                <p:nvPr/>
              </p:nvSpPr>
              <p:spPr bwMode="auto">
                <a:xfrm>
                  <a:off x="1311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44" name="Line 72"/>
                <p:cNvSpPr>
                  <a:spLocks noChangeShapeType="1"/>
                </p:cNvSpPr>
                <p:nvPr/>
              </p:nvSpPr>
              <p:spPr bwMode="auto">
                <a:xfrm>
                  <a:off x="3129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45" name="Line 73"/>
                <p:cNvSpPr>
                  <a:spLocks noChangeShapeType="1"/>
                </p:cNvSpPr>
                <p:nvPr/>
              </p:nvSpPr>
              <p:spPr bwMode="auto">
                <a:xfrm>
                  <a:off x="3951" y="959"/>
                  <a:ext cx="0" cy="1900"/>
                </a:xfrm>
                <a:prstGeom prst="line">
                  <a:avLst/>
                </a:prstGeom>
                <a:noFill/>
                <a:ln w="101600">
                  <a:solidFill>
                    <a:srgbClr val="CFBDC8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" name="Group 74"/>
              <p:cNvGrpSpPr>
                <a:grpSpLocks/>
              </p:cNvGrpSpPr>
              <p:nvPr/>
            </p:nvGrpSpPr>
            <p:grpSpPr bwMode="auto">
              <a:xfrm>
                <a:off x="1206" y="1463"/>
                <a:ext cx="237" cy="369"/>
                <a:chOff x="1206" y="1463"/>
                <a:chExt cx="237" cy="369"/>
              </a:xfrm>
            </p:grpSpPr>
            <p:sp>
              <p:nvSpPr>
                <p:cNvPr id="1283147" name="Rectangle 75"/>
                <p:cNvSpPr>
                  <a:spLocks noChangeArrowheads="1"/>
                </p:cNvSpPr>
                <p:nvPr/>
              </p:nvSpPr>
              <p:spPr bwMode="auto">
                <a:xfrm>
                  <a:off x="1247" y="1463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48" name="Rectangle 76"/>
                <p:cNvSpPr>
                  <a:spLocks noChangeArrowheads="1"/>
                </p:cNvSpPr>
                <p:nvPr/>
              </p:nvSpPr>
              <p:spPr bwMode="auto">
                <a:xfrm>
                  <a:off x="1206" y="1573"/>
                  <a:ext cx="237" cy="18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chemeClr val="tx1"/>
                      </a:solidFill>
                      <a:latin typeface="Verdana" charset="0"/>
                    </a:rPr>
                    <a:t>IR</a:t>
                  </a:r>
                </a:p>
              </p:txBody>
            </p:sp>
            <p:sp>
              <p:nvSpPr>
                <p:cNvPr id="1283149" name="Freeform 77"/>
                <p:cNvSpPr>
                  <a:spLocks/>
                </p:cNvSpPr>
                <p:nvPr/>
              </p:nvSpPr>
              <p:spPr bwMode="auto">
                <a:xfrm>
                  <a:off x="1287" y="1783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7" name="Group 78"/>
              <p:cNvGrpSpPr>
                <a:grpSpLocks/>
              </p:cNvGrpSpPr>
              <p:nvPr/>
            </p:nvGrpSpPr>
            <p:grpSpPr bwMode="auto">
              <a:xfrm>
                <a:off x="3065" y="1418"/>
                <a:ext cx="128" cy="257"/>
                <a:chOff x="2886" y="914"/>
                <a:chExt cx="128" cy="369"/>
              </a:xfrm>
            </p:grpSpPr>
            <p:sp>
              <p:nvSpPr>
                <p:cNvPr id="1283151" name="Rectangle 79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52" name="Freeform 80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8" name="Group 81"/>
              <p:cNvGrpSpPr>
                <a:grpSpLocks/>
              </p:cNvGrpSpPr>
              <p:nvPr/>
            </p:nvGrpSpPr>
            <p:grpSpPr bwMode="auto">
              <a:xfrm>
                <a:off x="3072" y="1728"/>
                <a:ext cx="128" cy="257"/>
                <a:chOff x="2886" y="914"/>
                <a:chExt cx="128" cy="369"/>
              </a:xfrm>
            </p:grpSpPr>
            <p:sp>
              <p:nvSpPr>
                <p:cNvPr id="1283154" name="Rectangle 82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55" name="Freeform 83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9" name="Group 84"/>
              <p:cNvGrpSpPr>
                <a:grpSpLocks/>
              </p:cNvGrpSpPr>
              <p:nvPr/>
            </p:nvGrpSpPr>
            <p:grpSpPr bwMode="auto">
              <a:xfrm>
                <a:off x="3072" y="2047"/>
                <a:ext cx="128" cy="257"/>
                <a:chOff x="2886" y="914"/>
                <a:chExt cx="128" cy="369"/>
              </a:xfrm>
            </p:grpSpPr>
            <p:sp>
              <p:nvSpPr>
                <p:cNvPr id="1283157" name="Rectangle 85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58" name="Freeform 86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87"/>
              <p:cNvGrpSpPr>
                <a:grpSpLocks/>
              </p:cNvGrpSpPr>
              <p:nvPr/>
            </p:nvGrpSpPr>
            <p:grpSpPr bwMode="auto">
              <a:xfrm>
                <a:off x="3890" y="1546"/>
                <a:ext cx="128" cy="257"/>
                <a:chOff x="2886" y="914"/>
                <a:chExt cx="128" cy="369"/>
              </a:xfrm>
            </p:grpSpPr>
            <p:sp>
              <p:nvSpPr>
                <p:cNvPr id="1283160" name="Rectangle 88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61" name="Freeform 89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90"/>
              <p:cNvGrpSpPr>
                <a:grpSpLocks/>
              </p:cNvGrpSpPr>
              <p:nvPr/>
            </p:nvGrpSpPr>
            <p:grpSpPr bwMode="auto">
              <a:xfrm>
                <a:off x="3888" y="2064"/>
                <a:ext cx="128" cy="257"/>
                <a:chOff x="2886" y="914"/>
                <a:chExt cx="128" cy="369"/>
              </a:xfrm>
            </p:grpSpPr>
            <p:sp>
              <p:nvSpPr>
                <p:cNvPr id="1283163" name="Rectangle 91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64" name="Freeform 92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93"/>
              <p:cNvGrpSpPr>
                <a:grpSpLocks/>
              </p:cNvGrpSpPr>
              <p:nvPr/>
            </p:nvGrpSpPr>
            <p:grpSpPr bwMode="auto">
              <a:xfrm>
                <a:off x="5152" y="1855"/>
                <a:ext cx="128" cy="257"/>
                <a:chOff x="2886" y="914"/>
                <a:chExt cx="128" cy="369"/>
              </a:xfrm>
            </p:grpSpPr>
            <p:sp>
              <p:nvSpPr>
                <p:cNvPr id="1283166" name="Rectangle 94"/>
                <p:cNvSpPr>
                  <a:spLocks noChangeArrowheads="1"/>
                </p:cNvSpPr>
                <p:nvPr/>
              </p:nvSpPr>
              <p:spPr bwMode="auto">
                <a:xfrm>
                  <a:off x="2886" y="914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67" name="Freeform 95"/>
                <p:cNvSpPr>
                  <a:spLocks/>
                </p:cNvSpPr>
                <p:nvPr/>
              </p:nvSpPr>
              <p:spPr bwMode="auto">
                <a:xfrm>
                  <a:off x="2926" y="1234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96"/>
              <p:cNvGrpSpPr>
                <a:grpSpLocks/>
              </p:cNvGrpSpPr>
              <p:nvPr/>
            </p:nvGrpSpPr>
            <p:grpSpPr bwMode="auto">
              <a:xfrm>
                <a:off x="294" y="1399"/>
                <a:ext cx="257" cy="369"/>
                <a:chOff x="294" y="1399"/>
                <a:chExt cx="257" cy="369"/>
              </a:xfrm>
            </p:grpSpPr>
            <p:sp>
              <p:nvSpPr>
                <p:cNvPr id="1283169" name="Rectangle 97"/>
                <p:cNvSpPr>
                  <a:spLocks noChangeArrowheads="1"/>
                </p:cNvSpPr>
                <p:nvPr/>
              </p:nvSpPr>
              <p:spPr bwMode="auto">
                <a:xfrm>
                  <a:off x="343" y="1399"/>
                  <a:ext cx="128" cy="36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70" name="Freeform 98"/>
                <p:cNvSpPr>
                  <a:spLocks/>
                </p:cNvSpPr>
                <p:nvPr/>
              </p:nvSpPr>
              <p:spPr bwMode="auto">
                <a:xfrm>
                  <a:off x="383" y="1719"/>
                  <a:ext cx="49" cy="49"/>
                </a:xfrm>
                <a:custGeom>
                  <a:avLst/>
                  <a:gdLst/>
                  <a:ahLst/>
                  <a:cxnLst>
                    <a:cxn ang="0">
                      <a:pos x="0" y="48"/>
                    </a:cxn>
                    <a:cxn ang="0">
                      <a:pos x="24" y="0"/>
                    </a:cxn>
                    <a:cxn ang="0">
                      <a:pos x="48" y="48"/>
                    </a:cxn>
                  </a:cxnLst>
                  <a:rect l="0" t="0" r="r" b="b"/>
                  <a:pathLst>
                    <a:path w="49" h="49">
                      <a:moveTo>
                        <a:pt x="0" y="48"/>
                      </a:moveTo>
                      <a:lnTo>
                        <a:pt x="24" y="0"/>
                      </a:lnTo>
                      <a:lnTo>
                        <a:pt x="48" y="4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3171" name="Rectangle 99"/>
                <p:cNvSpPr>
                  <a:spLocks noChangeArrowheads="1"/>
                </p:cNvSpPr>
                <p:nvPr/>
              </p:nvSpPr>
              <p:spPr bwMode="auto">
                <a:xfrm>
                  <a:off x="294" y="1508"/>
                  <a:ext cx="257" cy="184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200">
                      <a:solidFill>
                        <a:schemeClr val="tx1"/>
                      </a:solidFill>
                      <a:latin typeface="Verdana" charset="0"/>
                    </a:rPr>
                    <a:t>PC</a:t>
                  </a:r>
                </a:p>
              </p:txBody>
            </p:sp>
          </p:grpSp>
        </p:grpSp>
      </p:grpSp>
      <p:sp>
        <p:nvSpPr>
          <p:cNvPr id="101" name="Rectangle 43"/>
          <p:cNvSpPr>
            <a:spLocks noChangeArrowheads="1"/>
          </p:cNvSpPr>
          <p:nvPr/>
        </p:nvSpPr>
        <p:spPr bwMode="auto">
          <a:xfrm>
            <a:off x="3171825" y="3033713"/>
            <a:ext cx="657225" cy="458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200" dirty="0" err="1">
                <a:solidFill>
                  <a:srgbClr val="56127A"/>
                </a:solidFill>
                <a:latin typeface="Verdana" charset="0"/>
              </a:rPr>
              <a:t>Imm</a:t>
            </a:r>
            <a:endParaRPr lang="en-US" sz="1200" dirty="0">
              <a:solidFill>
                <a:srgbClr val="56127A"/>
              </a:solidFill>
              <a:latin typeface="Verdana" charset="0"/>
            </a:endParaRPr>
          </a:p>
          <a:p>
            <a:pPr algn="ctr">
              <a:spcBef>
                <a:spcPct val="0"/>
              </a:spcBef>
            </a:pPr>
            <a:r>
              <a:rPr lang="en-US" sz="1200" dirty="0">
                <a:solidFill>
                  <a:srgbClr val="56127A"/>
                </a:solidFill>
                <a:latin typeface="Verdana" charset="0"/>
              </a:rPr>
              <a:t>Select</a:t>
            </a:r>
          </a:p>
        </p:txBody>
      </p:sp>
      <p:sp>
        <p:nvSpPr>
          <p:cNvPr id="103" name="Freeform 33"/>
          <p:cNvSpPr>
            <a:spLocks/>
          </p:cNvSpPr>
          <p:nvPr/>
        </p:nvSpPr>
        <p:spPr bwMode="auto">
          <a:xfrm>
            <a:off x="2311400" y="2536825"/>
            <a:ext cx="896938" cy="460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1" y="0"/>
              </a:cxn>
            </a:cxnLst>
            <a:rect l="0" t="0" r="r" b="b"/>
            <a:pathLst>
              <a:path w="282" h="1">
                <a:moveTo>
                  <a:pt x="0" y="0"/>
                </a:moveTo>
                <a:lnTo>
                  <a:pt x="281" y="0"/>
                </a:lnTo>
              </a:path>
            </a:pathLst>
          </a:custGeom>
          <a:noFill/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3075" grpId="0" animBg="1"/>
      <p:bldP spid="1283076" grpId="0" build="p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2FDE0-4540-5A4B-B7DC-3079767FADCF}" type="slidenum">
              <a:rPr lang="en-US"/>
              <a:pPr/>
              <a:t>56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8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06400"/>
            <a:ext cx="8801100" cy="7874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Pipelined Execution:</a:t>
            </a:r>
            <a:br>
              <a:rPr lang="en-US"/>
            </a:br>
            <a:r>
              <a:rPr lang="en-US" sz="2000"/>
              <a:t>ALU Instructions</a:t>
            </a:r>
          </a:p>
        </p:txBody>
      </p:sp>
      <p:sp>
        <p:nvSpPr>
          <p:cNvPr id="1285123" name="Freeform 3"/>
          <p:cNvSpPr>
            <a:spLocks/>
          </p:cNvSpPr>
          <p:nvPr/>
        </p:nvSpPr>
        <p:spPr bwMode="auto">
          <a:xfrm>
            <a:off x="2916238" y="2081213"/>
            <a:ext cx="6067425" cy="1428750"/>
          </a:xfrm>
          <a:custGeom>
            <a:avLst/>
            <a:gdLst/>
            <a:ahLst/>
            <a:cxnLst>
              <a:cxn ang="0">
                <a:pos x="3750" y="0"/>
              </a:cxn>
              <a:cxn ang="0">
                <a:pos x="3822" y="0"/>
              </a:cxn>
              <a:cxn ang="0">
                <a:pos x="3817" y="192"/>
              </a:cxn>
              <a:cxn ang="0">
                <a:pos x="0" y="192"/>
              </a:cxn>
              <a:cxn ang="0">
                <a:pos x="0" y="895"/>
              </a:cxn>
              <a:cxn ang="0">
                <a:pos x="429" y="900"/>
              </a:cxn>
            </a:cxnLst>
            <a:rect l="0" t="0" r="r" b="b"/>
            <a:pathLst>
              <a:path w="3822" h="900">
                <a:moveTo>
                  <a:pt x="3750" y="0"/>
                </a:moveTo>
                <a:lnTo>
                  <a:pt x="3822" y="0"/>
                </a:lnTo>
                <a:lnTo>
                  <a:pt x="3817" y="192"/>
                </a:lnTo>
                <a:lnTo>
                  <a:pt x="0" y="192"/>
                </a:lnTo>
                <a:lnTo>
                  <a:pt x="0" y="895"/>
                </a:lnTo>
                <a:lnTo>
                  <a:pt x="429" y="900"/>
                </a:lnTo>
              </a:path>
            </a:pathLst>
          </a:custGeom>
          <a:noFill/>
          <a:ln w="127000" cap="rnd" cmpd="sng">
            <a:solidFill>
              <a:srgbClr val="B69CA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2825" y="1816100"/>
            <a:ext cx="6686550" cy="2452688"/>
            <a:chOff x="1438" y="1144"/>
            <a:chExt cx="4212" cy="1545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909" y="1144"/>
              <a:ext cx="221" cy="304"/>
              <a:chOff x="3909" y="1144"/>
              <a:chExt cx="221" cy="304"/>
            </a:xfrm>
          </p:grpSpPr>
          <p:sp>
            <p:nvSpPr>
              <p:cNvPr id="1285126" name="Rectangle 6"/>
              <p:cNvSpPr>
                <a:spLocks noChangeArrowheads="1"/>
              </p:cNvSpPr>
              <p:nvPr/>
            </p:nvSpPr>
            <p:spPr bwMode="auto">
              <a:xfrm>
                <a:off x="3965" y="1144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27" name="Freeform 7"/>
              <p:cNvSpPr>
                <a:spLocks/>
              </p:cNvSpPr>
              <p:nvPr/>
            </p:nvSpPr>
            <p:spPr bwMode="auto">
              <a:xfrm>
                <a:off x="3998" y="1398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28" name="Rectangle 8"/>
              <p:cNvSpPr>
                <a:spLocks noChangeArrowheads="1"/>
              </p:cNvSpPr>
              <p:nvPr/>
            </p:nvSpPr>
            <p:spPr bwMode="auto">
              <a:xfrm>
                <a:off x="3909" y="1207"/>
                <a:ext cx="221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IR</a:t>
                </a:r>
              </a:p>
            </p:txBody>
          </p:sp>
        </p:grpSp>
        <p:sp>
          <p:nvSpPr>
            <p:cNvPr id="1285129" name="Freeform 9"/>
            <p:cNvSpPr>
              <a:spLocks/>
            </p:cNvSpPr>
            <p:nvPr/>
          </p:nvSpPr>
          <p:spPr bwMode="auto">
            <a:xfrm>
              <a:off x="1438" y="1312"/>
              <a:ext cx="1905" cy="1377"/>
            </a:xfrm>
            <a:custGeom>
              <a:avLst/>
              <a:gdLst/>
              <a:ahLst/>
              <a:cxnLst>
                <a:cxn ang="0">
                  <a:pos x="0" y="1376"/>
                </a:cxn>
                <a:cxn ang="0">
                  <a:pos x="0" y="0"/>
                </a:cxn>
                <a:cxn ang="0">
                  <a:pos x="520" y="0"/>
                </a:cxn>
                <a:cxn ang="0">
                  <a:pos x="1904" y="0"/>
                </a:cxn>
              </a:cxnLst>
              <a:rect l="0" t="0" r="r" b="b"/>
              <a:pathLst>
                <a:path w="1905" h="1377">
                  <a:moveTo>
                    <a:pt x="0" y="1376"/>
                  </a:moveTo>
                  <a:lnTo>
                    <a:pt x="0" y="0"/>
                  </a:lnTo>
                  <a:lnTo>
                    <a:pt x="520" y="0"/>
                  </a:lnTo>
                  <a:lnTo>
                    <a:pt x="1904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30" name="Line 10"/>
            <p:cNvSpPr>
              <a:spLocks noChangeShapeType="1"/>
            </p:cNvSpPr>
            <p:nvPr/>
          </p:nvSpPr>
          <p:spPr bwMode="auto">
            <a:xfrm>
              <a:off x="3470" y="1312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31" name="Line 11"/>
            <p:cNvSpPr>
              <a:spLocks noChangeShapeType="1"/>
            </p:cNvSpPr>
            <p:nvPr/>
          </p:nvSpPr>
          <p:spPr bwMode="auto">
            <a:xfrm>
              <a:off x="4094" y="1304"/>
              <a:ext cx="13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3293" y="1144"/>
              <a:ext cx="221" cy="304"/>
              <a:chOff x="3293" y="1144"/>
              <a:chExt cx="221" cy="304"/>
            </a:xfrm>
          </p:grpSpPr>
          <p:sp>
            <p:nvSpPr>
              <p:cNvPr id="1285133" name="Rectangle 13"/>
              <p:cNvSpPr>
                <a:spLocks noChangeArrowheads="1"/>
              </p:cNvSpPr>
              <p:nvPr/>
            </p:nvSpPr>
            <p:spPr bwMode="auto">
              <a:xfrm>
                <a:off x="3341" y="1144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34" name="Freeform 14"/>
              <p:cNvSpPr>
                <a:spLocks/>
              </p:cNvSpPr>
              <p:nvPr/>
            </p:nvSpPr>
            <p:spPr bwMode="auto">
              <a:xfrm>
                <a:off x="3374" y="1398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35" name="Rectangle 15"/>
              <p:cNvSpPr>
                <a:spLocks noChangeArrowheads="1"/>
              </p:cNvSpPr>
              <p:nvPr/>
            </p:nvSpPr>
            <p:spPr bwMode="auto">
              <a:xfrm>
                <a:off x="3293" y="1207"/>
                <a:ext cx="221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IR</a:t>
                </a:r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5429" y="1144"/>
              <a:ext cx="221" cy="304"/>
              <a:chOff x="5429" y="1144"/>
              <a:chExt cx="221" cy="304"/>
            </a:xfrm>
          </p:grpSpPr>
          <p:sp>
            <p:nvSpPr>
              <p:cNvPr id="1285137" name="Rectangle 17"/>
              <p:cNvSpPr>
                <a:spLocks noChangeArrowheads="1"/>
              </p:cNvSpPr>
              <p:nvPr/>
            </p:nvSpPr>
            <p:spPr bwMode="auto">
              <a:xfrm>
                <a:off x="5477" y="1144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38" name="Freeform 18"/>
              <p:cNvSpPr>
                <a:spLocks/>
              </p:cNvSpPr>
              <p:nvPr/>
            </p:nvSpPr>
            <p:spPr bwMode="auto">
              <a:xfrm>
                <a:off x="5510" y="1398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39" name="Rectangle 19"/>
              <p:cNvSpPr>
                <a:spLocks noChangeArrowheads="1"/>
              </p:cNvSpPr>
              <p:nvPr/>
            </p:nvSpPr>
            <p:spPr bwMode="auto">
              <a:xfrm>
                <a:off x="5429" y="1191"/>
                <a:ext cx="221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IR</a:t>
                </a:r>
              </a:p>
            </p:txBody>
          </p:sp>
        </p:grp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2917825" y="2070100"/>
            <a:ext cx="6073776" cy="1436688"/>
            <a:chOff x="1838" y="1304"/>
            <a:chExt cx="3826" cy="905"/>
          </a:xfrm>
        </p:grpSpPr>
        <p:sp>
          <p:nvSpPr>
            <p:cNvPr id="1285141" name="Freeform 21"/>
            <p:cNvSpPr>
              <a:spLocks/>
            </p:cNvSpPr>
            <p:nvPr/>
          </p:nvSpPr>
          <p:spPr bwMode="auto">
            <a:xfrm>
              <a:off x="1838" y="1496"/>
              <a:ext cx="2977" cy="713"/>
            </a:xfrm>
            <a:custGeom>
              <a:avLst/>
              <a:gdLst/>
              <a:ahLst/>
              <a:cxnLst>
                <a:cxn ang="0">
                  <a:pos x="2976" y="0"/>
                </a:cxn>
                <a:cxn ang="0">
                  <a:pos x="0" y="0"/>
                </a:cxn>
                <a:cxn ang="0">
                  <a:pos x="0" y="712"/>
                </a:cxn>
                <a:cxn ang="0">
                  <a:pos x="432" y="712"/>
                </a:cxn>
              </a:cxnLst>
              <a:rect l="0" t="0" r="r" b="b"/>
              <a:pathLst>
                <a:path w="2977" h="713">
                  <a:moveTo>
                    <a:pt x="2976" y="0"/>
                  </a:moveTo>
                  <a:lnTo>
                    <a:pt x="0" y="0"/>
                  </a:lnTo>
                  <a:lnTo>
                    <a:pt x="0" y="712"/>
                  </a:lnTo>
                  <a:lnTo>
                    <a:pt x="432" y="712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4812" y="1304"/>
              <a:ext cx="852" cy="436"/>
              <a:chOff x="4812" y="1304"/>
              <a:chExt cx="852" cy="436"/>
            </a:xfrm>
          </p:grpSpPr>
          <p:sp>
            <p:nvSpPr>
              <p:cNvPr id="1285143" name="Freeform 23"/>
              <p:cNvSpPr>
                <a:spLocks/>
              </p:cNvSpPr>
              <p:nvPr/>
            </p:nvSpPr>
            <p:spPr bwMode="auto">
              <a:xfrm>
                <a:off x="4958" y="1304"/>
                <a:ext cx="705" cy="184"/>
              </a:xfrm>
              <a:custGeom>
                <a:avLst/>
                <a:gdLst/>
                <a:ahLst/>
                <a:cxnLst>
                  <a:cxn ang="0">
                    <a:pos x="640" y="0"/>
                  </a:cxn>
                  <a:cxn ang="0">
                    <a:pos x="704" y="0"/>
                  </a:cxn>
                  <a:cxn ang="0">
                    <a:pos x="704" y="312"/>
                  </a:cxn>
                  <a:cxn ang="0">
                    <a:pos x="0" y="312"/>
                  </a:cxn>
                </a:cxnLst>
                <a:rect l="0" t="0" r="r" b="b"/>
                <a:pathLst>
                  <a:path w="705" h="313">
                    <a:moveTo>
                      <a:pt x="640" y="0"/>
                    </a:moveTo>
                    <a:lnTo>
                      <a:pt x="704" y="0"/>
                    </a:lnTo>
                    <a:lnTo>
                      <a:pt x="704" y="312"/>
                    </a:lnTo>
                    <a:lnTo>
                      <a:pt x="0" y="312"/>
                    </a:lnTo>
                  </a:path>
                </a:pathLst>
              </a:custGeom>
              <a:noFill/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44" name="Line 24"/>
              <p:cNvSpPr>
                <a:spLocks noChangeShapeType="1"/>
              </p:cNvSpPr>
              <p:nvPr/>
            </p:nvSpPr>
            <p:spPr bwMode="auto">
              <a:xfrm flipH="1">
                <a:off x="4952" y="1488"/>
                <a:ext cx="7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8" name="Group 25"/>
              <p:cNvGrpSpPr>
                <a:grpSpLocks/>
              </p:cNvGrpSpPr>
              <p:nvPr/>
            </p:nvGrpSpPr>
            <p:grpSpPr bwMode="auto">
              <a:xfrm>
                <a:off x="4812" y="1360"/>
                <a:ext cx="607" cy="380"/>
                <a:chOff x="4812" y="1360"/>
                <a:chExt cx="607" cy="380"/>
              </a:xfrm>
            </p:grpSpPr>
            <p:sp>
              <p:nvSpPr>
                <p:cNvPr id="1285146" name="Rectangle 26"/>
                <p:cNvSpPr>
                  <a:spLocks noChangeArrowheads="1"/>
                </p:cNvSpPr>
                <p:nvPr/>
              </p:nvSpPr>
              <p:spPr bwMode="auto">
                <a:xfrm>
                  <a:off x="5232" y="1528"/>
                  <a:ext cx="187" cy="192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lIns="90488" tIns="44450" rIns="90488" bIns="44450">
                  <a:prstTxWarp prst="textNoShape">
                    <a:avLst/>
                  </a:prstTxWarp>
                  <a:spAutoFit/>
                </a:bodyPr>
                <a:lstStyle/>
                <a:p>
                  <a:pPr>
                    <a:spcBef>
                      <a:spcPct val="0"/>
                    </a:spcBef>
                  </a:pPr>
                  <a:r>
                    <a:rPr lang="en-US" sz="1400" dirty="0">
                      <a:solidFill>
                        <a:schemeClr val="tx1"/>
                      </a:solidFill>
                      <a:latin typeface="Verdana" charset="0"/>
                    </a:rPr>
                    <a:t>1</a:t>
                  </a:r>
                </a:p>
              </p:txBody>
            </p:sp>
            <p:sp>
              <p:nvSpPr>
                <p:cNvPr id="1285147" name="Freeform 27"/>
                <p:cNvSpPr>
                  <a:spLocks/>
                </p:cNvSpPr>
                <p:nvPr/>
              </p:nvSpPr>
              <p:spPr bwMode="auto">
                <a:xfrm>
                  <a:off x="4812" y="1360"/>
                  <a:ext cx="145" cy="289"/>
                </a:xfrm>
                <a:custGeom>
                  <a:avLst/>
                  <a:gdLst/>
                  <a:ahLst/>
                  <a:cxnLst>
                    <a:cxn ang="0">
                      <a:pos x="0" y="240"/>
                    </a:cxn>
                    <a:cxn ang="0">
                      <a:pos x="0" y="48"/>
                    </a:cxn>
                    <a:cxn ang="0">
                      <a:pos x="144" y="0"/>
                    </a:cxn>
                    <a:cxn ang="0">
                      <a:pos x="144" y="288"/>
                    </a:cxn>
                    <a:cxn ang="0">
                      <a:pos x="0" y="240"/>
                    </a:cxn>
                  </a:cxnLst>
                  <a:rect l="0" t="0" r="r" b="b"/>
                  <a:pathLst>
                    <a:path w="145" h="289">
                      <a:moveTo>
                        <a:pt x="0" y="240"/>
                      </a:moveTo>
                      <a:lnTo>
                        <a:pt x="0" y="48"/>
                      </a:lnTo>
                      <a:lnTo>
                        <a:pt x="144" y="0"/>
                      </a:lnTo>
                      <a:lnTo>
                        <a:pt x="144" y="288"/>
                      </a:lnTo>
                      <a:lnTo>
                        <a:pt x="0" y="240"/>
                      </a:lnTo>
                    </a:path>
                  </a:pathLst>
                </a:custGeom>
                <a:solidFill>
                  <a:schemeClr val="bg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5148" name="Line 28"/>
                <p:cNvSpPr>
                  <a:spLocks noChangeShapeType="1"/>
                </p:cNvSpPr>
                <p:nvPr/>
              </p:nvSpPr>
              <p:spPr bwMode="auto">
                <a:xfrm>
                  <a:off x="4878" y="1636"/>
                  <a:ext cx="0" cy="104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381000" y="1460500"/>
            <a:ext cx="8561388" cy="3481388"/>
            <a:chOff x="240" y="912"/>
            <a:chExt cx="5393" cy="2193"/>
          </a:xfrm>
        </p:grpSpPr>
        <p:sp>
          <p:nvSpPr>
            <p:cNvPr id="1285150" name="Freeform 30"/>
            <p:cNvSpPr>
              <a:spLocks/>
            </p:cNvSpPr>
            <p:nvPr/>
          </p:nvSpPr>
          <p:spPr bwMode="auto">
            <a:xfrm>
              <a:off x="2916" y="2317"/>
              <a:ext cx="1520" cy="42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816" y="384"/>
                </a:cxn>
              </a:cxnLst>
              <a:rect l="0" t="0" r="r" b="b"/>
              <a:pathLst>
                <a:path w="817" h="385">
                  <a:moveTo>
                    <a:pt x="0" y="0"/>
                  </a:moveTo>
                  <a:lnTo>
                    <a:pt x="0" y="384"/>
                  </a:lnTo>
                  <a:lnTo>
                    <a:pt x="816" y="384"/>
                  </a:lnTo>
                </a:path>
              </a:pathLst>
            </a:custGeom>
            <a:noFill/>
            <a:ln w="28575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1" name="Line 31"/>
            <p:cNvSpPr>
              <a:spLocks noChangeShapeType="1"/>
            </p:cNvSpPr>
            <p:nvPr/>
          </p:nvSpPr>
          <p:spPr bwMode="auto">
            <a:xfrm>
              <a:off x="3280" y="2384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2" name="Line 32"/>
            <p:cNvSpPr>
              <a:spLocks noChangeShapeType="1"/>
            </p:cNvSpPr>
            <p:nvPr/>
          </p:nvSpPr>
          <p:spPr bwMode="auto">
            <a:xfrm>
              <a:off x="3808" y="2224"/>
              <a:ext cx="61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3" name="Freeform 33"/>
            <p:cNvSpPr>
              <a:spLocks/>
            </p:cNvSpPr>
            <p:nvPr/>
          </p:nvSpPr>
          <p:spPr bwMode="auto">
            <a:xfrm>
              <a:off x="240" y="912"/>
              <a:ext cx="481" cy="1201"/>
            </a:xfrm>
            <a:custGeom>
              <a:avLst/>
              <a:gdLst/>
              <a:ahLst/>
              <a:cxnLst>
                <a:cxn ang="0">
                  <a:pos x="480" y="0"/>
                </a:cxn>
                <a:cxn ang="0">
                  <a:pos x="0" y="0"/>
                </a:cxn>
                <a:cxn ang="0">
                  <a:pos x="0" y="1200"/>
                </a:cxn>
                <a:cxn ang="0">
                  <a:pos x="192" y="1200"/>
                </a:cxn>
              </a:cxnLst>
              <a:rect l="0" t="0" r="r" b="b"/>
              <a:pathLst>
                <a:path w="481" h="1201">
                  <a:moveTo>
                    <a:pt x="480" y="0"/>
                  </a:moveTo>
                  <a:lnTo>
                    <a:pt x="0" y="0"/>
                  </a:lnTo>
                  <a:lnTo>
                    <a:pt x="0" y="1200"/>
                  </a:lnTo>
                  <a:lnTo>
                    <a:pt x="192" y="120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4" name="Freeform 34"/>
            <p:cNvSpPr>
              <a:spLocks/>
            </p:cNvSpPr>
            <p:nvPr/>
          </p:nvSpPr>
          <p:spPr bwMode="auto">
            <a:xfrm>
              <a:off x="600" y="1480"/>
              <a:ext cx="217" cy="633"/>
            </a:xfrm>
            <a:custGeom>
              <a:avLst/>
              <a:gdLst/>
              <a:ahLst/>
              <a:cxnLst>
                <a:cxn ang="0">
                  <a:pos x="0" y="632"/>
                </a:cxn>
                <a:cxn ang="0">
                  <a:pos x="0" y="56"/>
                </a:cxn>
                <a:cxn ang="0">
                  <a:pos x="0" y="0"/>
                </a:cxn>
                <a:cxn ang="0">
                  <a:pos x="216" y="0"/>
                </a:cxn>
              </a:cxnLst>
              <a:rect l="0" t="0" r="r" b="b"/>
              <a:pathLst>
                <a:path w="217" h="633">
                  <a:moveTo>
                    <a:pt x="0" y="632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21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5" name="Freeform 35"/>
            <p:cNvSpPr>
              <a:spLocks/>
            </p:cNvSpPr>
            <p:nvPr/>
          </p:nvSpPr>
          <p:spPr bwMode="auto">
            <a:xfrm>
              <a:off x="576" y="2112"/>
              <a:ext cx="193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92" y="0"/>
                </a:cxn>
              </a:cxnLst>
              <a:rect l="0" t="0" r="r" b="b"/>
              <a:pathLst>
                <a:path w="193" h="1">
                  <a:moveTo>
                    <a:pt x="0" y="0"/>
                  </a:moveTo>
                  <a:lnTo>
                    <a:pt x="144" y="0"/>
                  </a:lnTo>
                  <a:lnTo>
                    <a:pt x="192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6" name="Freeform 36"/>
            <p:cNvSpPr>
              <a:spLocks/>
            </p:cNvSpPr>
            <p:nvPr/>
          </p:nvSpPr>
          <p:spPr bwMode="auto">
            <a:xfrm>
              <a:off x="704" y="912"/>
              <a:ext cx="433" cy="425"/>
            </a:xfrm>
            <a:custGeom>
              <a:avLst/>
              <a:gdLst/>
              <a:ahLst/>
              <a:cxnLst>
                <a:cxn ang="0">
                  <a:pos x="432" y="424"/>
                </a:cxn>
                <a:cxn ang="0">
                  <a:pos x="432" y="0"/>
                </a:cxn>
                <a:cxn ang="0">
                  <a:pos x="0" y="0"/>
                </a:cxn>
              </a:cxnLst>
              <a:rect l="0" t="0" r="r" b="b"/>
              <a:pathLst>
                <a:path w="433" h="425">
                  <a:moveTo>
                    <a:pt x="432" y="424"/>
                  </a:moveTo>
                  <a:lnTo>
                    <a:pt x="432" y="0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7" name="Freeform 37"/>
            <p:cNvSpPr>
              <a:spLocks/>
            </p:cNvSpPr>
            <p:nvPr/>
          </p:nvSpPr>
          <p:spPr bwMode="auto">
            <a:xfrm>
              <a:off x="1440" y="1920"/>
              <a:ext cx="817" cy="193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93">
                  <a:moveTo>
                    <a:pt x="0" y="192"/>
                  </a:moveTo>
                  <a:lnTo>
                    <a:pt x="0" y="0"/>
                  </a:ln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8" name="Freeform 38"/>
            <p:cNvSpPr>
              <a:spLocks/>
            </p:cNvSpPr>
            <p:nvPr/>
          </p:nvSpPr>
          <p:spPr bwMode="auto">
            <a:xfrm>
              <a:off x="1440" y="2016"/>
              <a:ext cx="817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16" y="0"/>
                </a:cxn>
              </a:cxnLst>
              <a:rect l="0" t="0" r="r" b="b"/>
              <a:pathLst>
                <a:path w="817" h="1">
                  <a:moveTo>
                    <a:pt x="0" y="0"/>
                  </a:moveTo>
                  <a:lnTo>
                    <a:pt x="81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59" name="Freeform 39"/>
            <p:cNvSpPr>
              <a:spLocks/>
            </p:cNvSpPr>
            <p:nvPr/>
          </p:nvSpPr>
          <p:spPr bwMode="auto">
            <a:xfrm>
              <a:off x="1440" y="2112"/>
              <a:ext cx="817" cy="5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84"/>
                </a:cxn>
                <a:cxn ang="0">
                  <a:pos x="816" y="384"/>
                </a:cxn>
              </a:cxnLst>
              <a:rect l="0" t="0" r="r" b="b"/>
              <a:pathLst>
                <a:path w="817" h="385">
                  <a:moveTo>
                    <a:pt x="0" y="0"/>
                  </a:moveTo>
                  <a:lnTo>
                    <a:pt x="0" y="384"/>
                  </a:lnTo>
                  <a:lnTo>
                    <a:pt x="816" y="384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0" name="Freeform 40"/>
            <p:cNvSpPr>
              <a:spLocks/>
            </p:cNvSpPr>
            <p:nvPr/>
          </p:nvSpPr>
          <p:spPr bwMode="auto">
            <a:xfrm>
              <a:off x="2646" y="2482"/>
              <a:ext cx="469" cy="247"/>
            </a:xfrm>
            <a:custGeom>
              <a:avLst/>
              <a:gdLst/>
              <a:ahLst/>
              <a:cxnLst>
                <a:cxn ang="0">
                  <a:pos x="0" y="246"/>
                </a:cxn>
                <a:cxn ang="0">
                  <a:pos x="123" y="246"/>
                </a:cxn>
                <a:cxn ang="0">
                  <a:pos x="123" y="0"/>
                </a:cxn>
                <a:cxn ang="0">
                  <a:pos x="468" y="0"/>
                </a:cxn>
              </a:cxnLst>
              <a:rect l="0" t="0" r="r" b="b"/>
              <a:pathLst>
                <a:path w="469" h="247">
                  <a:moveTo>
                    <a:pt x="0" y="246"/>
                  </a:moveTo>
                  <a:lnTo>
                    <a:pt x="123" y="246"/>
                  </a:lnTo>
                  <a:lnTo>
                    <a:pt x="123" y="0"/>
                  </a:lnTo>
                  <a:lnTo>
                    <a:pt x="468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1" name="Freeform 41"/>
            <p:cNvSpPr>
              <a:spLocks/>
            </p:cNvSpPr>
            <p:nvPr/>
          </p:nvSpPr>
          <p:spPr bwMode="auto">
            <a:xfrm>
              <a:off x="2642" y="2112"/>
              <a:ext cx="99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90" y="0"/>
                </a:cxn>
              </a:cxnLst>
              <a:rect l="0" t="0" r="r" b="b"/>
              <a:pathLst>
                <a:path w="991" h="1">
                  <a:moveTo>
                    <a:pt x="0" y="0"/>
                  </a:moveTo>
                  <a:lnTo>
                    <a:pt x="99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2" name="Freeform 42"/>
            <p:cNvSpPr>
              <a:spLocks/>
            </p:cNvSpPr>
            <p:nvPr/>
          </p:nvSpPr>
          <p:spPr bwMode="auto">
            <a:xfrm flipV="1">
              <a:off x="4929" y="2392"/>
              <a:ext cx="358" cy="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36" y="0"/>
                </a:cxn>
              </a:cxnLst>
              <a:rect l="0" t="0" r="r" b="b"/>
              <a:pathLst>
                <a:path w="337" h="1">
                  <a:moveTo>
                    <a:pt x="0" y="0"/>
                  </a:move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3" name="Freeform 43"/>
            <p:cNvSpPr>
              <a:spLocks/>
            </p:cNvSpPr>
            <p:nvPr/>
          </p:nvSpPr>
          <p:spPr bwMode="auto">
            <a:xfrm>
              <a:off x="4186" y="2233"/>
              <a:ext cx="1100" cy="7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28"/>
                </a:cxn>
                <a:cxn ang="0">
                  <a:pos x="843" y="728"/>
                </a:cxn>
                <a:cxn ang="0">
                  <a:pos x="841" y="399"/>
                </a:cxn>
                <a:cxn ang="0">
                  <a:pos x="1100" y="399"/>
                </a:cxn>
              </a:cxnLst>
              <a:rect l="0" t="0" r="r" b="b"/>
              <a:pathLst>
                <a:path w="1100" h="728">
                  <a:moveTo>
                    <a:pt x="0" y="0"/>
                  </a:moveTo>
                  <a:lnTo>
                    <a:pt x="0" y="728"/>
                  </a:lnTo>
                  <a:lnTo>
                    <a:pt x="843" y="728"/>
                  </a:lnTo>
                  <a:lnTo>
                    <a:pt x="841" y="399"/>
                  </a:lnTo>
                  <a:lnTo>
                    <a:pt x="1100" y="399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4" name="Freeform 44"/>
            <p:cNvSpPr>
              <a:spLocks/>
            </p:cNvSpPr>
            <p:nvPr/>
          </p:nvSpPr>
          <p:spPr bwMode="auto">
            <a:xfrm>
              <a:off x="2016" y="2304"/>
              <a:ext cx="3617" cy="801"/>
            </a:xfrm>
            <a:custGeom>
              <a:avLst/>
              <a:gdLst/>
              <a:ahLst/>
              <a:cxnLst>
                <a:cxn ang="0">
                  <a:pos x="3408" y="288"/>
                </a:cxn>
                <a:cxn ang="0">
                  <a:pos x="3616" y="288"/>
                </a:cxn>
                <a:cxn ang="0">
                  <a:pos x="3616" y="800"/>
                </a:cxn>
                <a:cxn ang="0">
                  <a:pos x="0" y="800"/>
                </a:cxn>
                <a:cxn ang="0">
                  <a:pos x="0" y="0"/>
                </a:cxn>
                <a:cxn ang="0">
                  <a:pos x="240" y="0"/>
                </a:cxn>
              </a:cxnLst>
              <a:rect l="0" t="0" r="r" b="b"/>
              <a:pathLst>
                <a:path w="3617" h="801">
                  <a:moveTo>
                    <a:pt x="3408" y="288"/>
                  </a:moveTo>
                  <a:lnTo>
                    <a:pt x="3616" y="288"/>
                  </a:lnTo>
                  <a:lnTo>
                    <a:pt x="3616" y="800"/>
                  </a:lnTo>
                  <a:lnTo>
                    <a:pt x="0" y="800"/>
                  </a:lnTo>
                  <a:lnTo>
                    <a:pt x="0" y="0"/>
                  </a:lnTo>
                  <a:lnTo>
                    <a:pt x="24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5" name="Oval 45"/>
            <p:cNvSpPr>
              <a:spLocks noChangeArrowheads="1"/>
            </p:cNvSpPr>
            <p:nvPr/>
          </p:nvSpPr>
          <p:spPr bwMode="auto">
            <a:xfrm>
              <a:off x="2900" y="2276"/>
              <a:ext cx="32" cy="3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6" name="Oval 46"/>
            <p:cNvSpPr>
              <a:spLocks noChangeArrowheads="1"/>
            </p:cNvSpPr>
            <p:nvPr/>
          </p:nvSpPr>
          <p:spPr bwMode="auto">
            <a:xfrm>
              <a:off x="4162" y="2208"/>
              <a:ext cx="32" cy="32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167" name="Freeform 47"/>
            <p:cNvSpPr>
              <a:spLocks/>
            </p:cNvSpPr>
            <p:nvPr/>
          </p:nvSpPr>
          <p:spPr bwMode="auto">
            <a:xfrm>
              <a:off x="3118" y="2240"/>
              <a:ext cx="145" cy="289"/>
            </a:xfrm>
            <a:custGeom>
              <a:avLst/>
              <a:gdLst/>
              <a:ahLst/>
              <a:cxnLst>
                <a:cxn ang="0">
                  <a:pos x="144" y="48"/>
                </a:cxn>
                <a:cxn ang="0">
                  <a:pos x="144" y="240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144" y="48"/>
                </a:cxn>
              </a:cxnLst>
              <a:rect l="0" t="0" r="r" b="b"/>
              <a:pathLst>
                <a:path w="145" h="289">
                  <a:moveTo>
                    <a:pt x="144" y="48"/>
                  </a:moveTo>
                  <a:lnTo>
                    <a:pt x="144" y="240"/>
                  </a:lnTo>
                  <a:lnTo>
                    <a:pt x="0" y="288"/>
                  </a:lnTo>
                  <a:lnTo>
                    <a:pt x="0" y="0"/>
                  </a:lnTo>
                  <a:lnTo>
                    <a:pt x="144" y="48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" name="Group 48"/>
            <p:cNvGrpSpPr>
              <a:grpSpLocks/>
            </p:cNvGrpSpPr>
            <p:nvPr/>
          </p:nvGrpSpPr>
          <p:grpSpPr bwMode="auto">
            <a:xfrm>
              <a:off x="391" y="1928"/>
              <a:ext cx="239" cy="369"/>
              <a:chOff x="391" y="2136"/>
              <a:chExt cx="239" cy="369"/>
            </a:xfrm>
          </p:grpSpPr>
          <p:sp>
            <p:nvSpPr>
              <p:cNvPr id="1285169" name="Rectangle 49"/>
              <p:cNvSpPr>
                <a:spLocks noChangeArrowheads="1"/>
              </p:cNvSpPr>
              <p:nvPr/>
            </p:nvSpPr>
            <p:spPr bwMode="auto">
              <a:xfrm>
                <a:off x="440" y="2136"/>
                <a:ext cx="128" cy="36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70" name="Line 50"/>
              <p:cNvSpPr>
                <a:spLocks noChangeShapeType="1"/>
              </p:cNvSpPr>
              <p:nvPr/>
            </p:nvSpPr>
            <p:spPr bwMode="auto">
              <a:xfrm>
                <a:off x="584" y="2320"/>
                <a:ext cx="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71" name="Rectangle 51"/>
              <p:cNvSpPr>
                <a:spLocks noChangeArrowheads="1"/>
              </p:cNvSpPr>
              <p:nvPr/>
            </p:nvSpPr>
            <p:spPr bwMode="auto">
              <a:xfrm>
                <a:off x="391" y="2260"/>
                <a:ext cx="239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PC</a:t>
                </a:r>
              </a:p>
            </p:txBody>
          </p:sp>
          <p:sp>
            <p:nvSpPr>
              <p:cNvPr id="1285172" name="Line 52"/>
              <p:cNvSpPr>
                <a:spLocks noChangeShapeType="1"/>
              </p:cNvSpPr>
              <p:nvPr/>
            </p:nvSpPr>
            <p:spPr bwMode="auto">
              <a:xfrm>
                <a:off x="392" y="2320"/>
                <a:ext cx="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73" name="Freeform 53"/>
              <p:cNvSpPr>
                <a:spLocks/>
              </p:cNvSpPr>
              <p:nvPr/>
            </p:nvSpPr>
            <p:spPr bwMode="auto">
              <a:xfrm>
                <a:off x="480" y="2456"/>
                <a:ext cx="49" cy="49"/>
              </a:xfrm>
              <a:custGeom>
                <a:avLst/>
                <a:gdLst/>
                <a:ahLst/>
                <a:cxnLst>
                  <a:cxn ang="0">
                    <a:pos x="0" y="48"/>
                  </a:cxn>
                  <a:cxn ang="0">
                    <a:pos x="24" y="0"/>
                  </a:cxn>
                  <a:cxn ang="0">
                    <a:pos x="48" y="48"/>
                  </a:cxn>
                </a:cxnLst>
                <a:rect l="0" t="0" r="r" b="b"/>
                <a:pathLst>
                  <a:path w="49" h="49">
                    <a:moveTo>
                      <a:pt x="0" y="48"/>
                    </a:moveTo>
                    <a:lnTo>
                      <a:pt x="24" y="0"/>
                    </a:lnTo>
                    <a:lnTo>
                      <a:pt x="48" y="48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85174" name="Line 54"/>
            <p:cNvSpPr>
              <a:spLocks noChangeShapeType="1"/>
            </p:cNvSpPr>
            <p:nvPr/>
          </p:nvSpPr>
          <p:spPr bwMode="auto">
            <a:xfrm>
              <a:off x="2640" y="2296"/>
              <a:ext cx="4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" name="Group 55"/>
            <p:cNvGrpSpPr>
              <a:grpSpLocks/>
            </p:cNvGrpSpPr>
            <p:nvPr/>
          </p:nvGrpSpPr>
          <p:grpSpPr bwMode="auto">
            <a:xfrm>
              <a:off x="3311" y="1912"/>
              <a:ext cx="180" cy="306"/>
              <a:chOff x="3311" y="2120"/>
              <a:chExt cx="180" cy="306"/>
            </a:xfrm>
          </p:grpSpPr>
          <p:sp>
            <p:nvSpPr>
              <p:cNvPr id="1285176" name="Rectangle 56"/>
              <p:cNvSpPr>
                <a:spLocks noChangeArrowheads="1"/>
              </p:cNvSpPr>
              <p:nvPr/>
            </p:nvSpPr>
            <p:spPr bwMode="auto">
              <a:xfrm>
                <a:off x="3335" y="2120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77" name="Freeform 57"/>
              <p:cNvSpPr>
                <a:spLocks/>
              </p:cNvSpPr>
              <p:nvPr/>
            </p:nvSpPr>
            <p:spPr bwMode="auto">
              <a:xfrm>
                <a:off x="3368" y="2382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78" name="Rectangle 58"/>
              <p:cNvSpPr>
                <a:spLocks noChangeArrowheads="1"/>
              </p:cNvSpPr>
              <p:nvPr/>
            </p:nvSpPr>
            <p:spPr bwMode="auto">
              <a:xfrm>
                <a:off x="3311" y="2195"/>
                <a:ext cx="1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A</a:t>
                </a:r>
              </a:p>
            </p:txBody>
          </p:sp>
        </p:grpSp>
        <p:grpSp>
          <p:nvGrpSpPr>
            <p:cNvPr id="12" name="Group 59"/>
            <p:cNvGrpSpPr>
              <a:grpSpLocks/>
            </p:cNvGrpSpPr>
            <p:nvPr/>
          </p:nvGrpSpPr>
          <p:grpSpPr bwMode="auto">
            <a:xfrm>
              <a:off x="3311" y="2248"/>
              <a:ext cx="180" cy="306"/>
              <a:chOff x="3311" y="2456"/>
              <a:chExt cx="180" cy="306"/>
            </a:xfrm>
          </p:grpSpPr>
          <p:sp>
            <p:nvSpPr>
              <p:cNvPr id="1285180" name="Rectangle 60"/>
              <p:cNvSpPr>
                <a:spLocks noChangeArrowheads="1"/>
              </p:cNvSpPr>
              <p:nvPr/>
            </p:nvSpPr>
            <p:spPr bwMode="auto">
              <a:xfrm>
                <a:off x="3335" y="2456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81" name="Freeform 61"/>
              <p:cNvSpPr>
                <a:spLocks/>
              </p:cNvSpPr>
              <p:nvPr/>
            </p:nvSpPr>
            <p:spPr bwMode="auto">
              <a:xfrm>
                <a:off x="3368" y="2718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82" name="Rectangle 62"/>
              <p:cNvSpPr>
                <a:spLocks noChangeArrowheads="1"/>
              </p:cNvSpPr>
              <p:nvPr/>
            </p:nvSpPr>
            <p:spPr bwMode="auto">
              <a:xfrm>
                <a:off x="3311" y="2539"/>
                <a:ext cx="180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B</a:t>
                </a:r>
              </a:p>
            </p:txBody>
          </p:sp>
        </p:grpSp>
        <p:grpSp>
          <p:nvGrpSpPr>
            <p:cNvPr id="13" name="Group 63"/>
            <p:cNvGrpSpPr>
              <a:grpSpLocks/>
            </p:cNvGrpSpPr>
            <p:nvPr/>
          </p:nvGrpSpPr>
          <p:grpSpPr bwMode="auto">
            <a:xfrm>
              <a:off x="3335" y="2584"/>
              <a:ext cx="109" cy="304"/>
              <a:chOff x="3335" y="2792"/>
              <a:chExt cx="109" cy="304"/>
            </a:xfrm>
          </p:grpSpPr>
          <p:sp>
            <p:nvSpPr>
              <p:cNvPr id="1285184" name="Rectangle 64"/>
              <p:cNvSpPr>
                <a:spLocks noChangeArrowheads="1"/>
              </p:cNvSpPr>
              <p:nvPr/>
            </p:nvSpPr>
            <p:spPr bwMode="auto">
              <a:xfrm>
                <a:off x="3335" y="2792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85" name="Freeform 65"/>
              <p:cNvSpPr>
                <a:spLocks/>
              </p:cNvSpPr>
              <p:nvPr/>
            </p:nvSpPr>
            <p:spPr bwMode="auto">
              <a:xfrm>
                <a:off x="3368" y="3046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66"/>
            <p:cNvGrpSpPr>
              <a:grpSpLocks/>
            </p:cNvGrpSpPr>
            <p:nvPr/>
          </p:nvGrpSpPr>
          <p:grpSpPr bwMode="auto">
            <a:xfrm>
              <a:off x="3935" y="2080"/>
              <a:ext cx="173" cy="306"/>
              <a:chOff x="3935" y="2288"/>
              <a:chExt cx="173" cy="306"/>
            </a:xfrm>
          </p:grpSpPr>
          <p:sp>
            <p:nvSpPr>
              <p:cNvPr id="1285187" name="Rectangle 67"/>
              <p:cNvSpPr>
                <a:spLocks noChangeArrowheads="1"/>
              </p:cNvSpPr>
              <p:nvPr/>
            </p:nvSpPr>
            <p:spPr bwMode="auto">
              <a:xfrm>
                <a:off x="3959" y="2288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88" name="Freeform 68"/>
              <p:cNvSpPr>
                <a:spLocks/>
              </p:cNvSpPr>
              <p:nvPr/>
            </p:nvSpPr>
            <p:spPr bwMode="auto">
              <a:xfrm>
                <a:off x="3992" y="2550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89" name="Rectangle 69"/>
              <p:cNvSpPr>
                <a:spLocks noChangeArrowheads="1"/>
              </p:cNvSpPr>
              <p:nvPr/>
            </p:nvSpPr>
            <p:spPr bwMode="auto">
              <a:xfrm>
                <a:off x="3935" y="2363"/>
                <a:ext cx="173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Y</a:t>
                </a:r>
              </a:p>
            </p:txBody>
          </p:sp>
        </p:grpSp>
        <p:grpSp>
          <p:nvGrpSpPr>
            <p:cNvPr id="15" name="Group 70"/>
            <p:cNvGrpSpPr>
              <a:grpSpLocks/>
            </p:cNvGrpSpPr>
            <p:nvPr/>
          </p:nvGrpSpPr>
          <p:grpSpPr bwMode="auto">
            <a:xfrm>
              <a:off x="3951" y="2584"/>
              <a:ext cx="109" cy="304"/>
              <a:chOff x="3951" y="2792"/>
              <a:chExt cx="109" cy="304"/>
            </a:xfrm>
          </p:grpSpPr>
          <p:sp>
            <p:nvSpPr>
              <p:cNvPr id="1285191" name="Rectangle 71"/>
              <p:cNvSpPr>
                <a:spLocks noChangeArrowheads="1"/>
              </p:cNvSpPr>
              <p:nvPr/>
            </p:nvSpPr>
            <p:spPr bwMode="auto">
              <a:xfrm>
                <a:off x="3951" y="2792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92" name="Freeform 72"/>
              <p:cNvSpPr>
                <a:spLocks/>
              </p:cNvSpPr>
              <p:nvPr/>
            </p:nvSpPr>
            <p:spPr bwMode="auto">
              <a:xfrm>
                <a:off x="3984" y="3046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6" name="Group 73"/>
            <p:cNvGrpSpPr>
              <a:grpSpLocks/>
            </p:cNvGrpSpPr>
            <p:nvPr/>
          </p:nvGrpSpPr>
          <p:grpSpPr bwMode="auto">
            <a:xfrm>
              <a:off x="5420" y="2448"/>
              <a:ext cx="192" cy="306"/>
              <a:chOff x="5420" y="2656"/>
              <a:chExt cx="192" cy="306"/>
            </a:xfrm>
          </p:grpSpPr>
          <p:sp>
            <p:nvSpPr>
              <p:cNvPr id="1285194" name="Line 74"/>
              <p:cNvSpPr>
                <a:spLocks noChangeShapeType="1"/>
              </p:cNvSpPr>
              <p:nvPr/>
            </p:nvSpPr>
            <p:spPr bwMode="auto">
              <a:xfrm flipH="1">
                <a:off x="5420" y="2800"/>
                <a:ext cx="5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95" name="Rectangle 75"/>
              <p:cNvSpPr>
                <a:spLocks noChangeArrowheads="1"/>
              </p:cNvSpPr>
              <p:nvPr/>
            </p:nvSpPr>
            <p:spPr bwMode="auto">
              <a:xfrm>
                <a:off x="5471" y="2656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96" name="Freeform 76"/>
              <p:cNvSpPr>
                <a:spLocks/>
              </p:cNvSpPr>
              <p:nvPr/>
            </p:nvSpPr>
            <p:spPr bwMode="auto">
              <a:xfrm>
                <a:off x="5504" y="2918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solidFill>
                <a:schemeClr val="accent1"/>
              </a:solidFill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197" name="Rectangle 77"/>
              <p:cNvSpPr>
                <a:spLocks noChangeArrowheads="1"/>
              </p:cNvSpPr>
              <p:nvPr/>
            </p:nvSpPr>
            <p:spPr bwMode="auto">
              <a:xfrm>
                <a:off x="5431" y="2723"/>
                <a:ext cx="181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</a:t>
                </a:r>
              </a:p>
            </p:txBody>
          </p:sp>
        </p:grpSp>
        <p:sp>
          <p:nvSpPr>
            <p:cNvPr id="1285198" name="Rectangle 78"/>
            <p:cNvSpPr>
              <a:spLocks noChangeArrowheads="1"/>
            </p:cNvSpPr>
            <p:nvPr/>
          </p:nvSpPr>
          <p:spPr bwMode="auto">
            <a:xfrm>
              <a:off x="3247" y="2867"/>
              <a:ext cx="33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MD1</a:t>
              </a:r>
            </a:p>
          </p:txBody>
        </p:sp>
        <p:sp>
          <p:nvSpPr>
            <p:cNvPr id="1285199" name="Rectangle 79"/>
            <p:cNvSpPr>
              <a:spLocks noChangeArrowheads="1"/>
            </p:cNvSpPr>
            <p:nvPr/>
          </p:nvSpPr>
          <p:spPr bwMode="auto">
            <a:xfrm>
              <a:off x="3863" y="2875"/>
              <a:ext cx="33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200">
                  <a:solidFill>
                    <a:schemeClr val="tx1"/>
                  </a:solidFill>
                  <a:latin typeface="Verdana" charset="0"/>
                </a:rPr>
                <a:t>MD2</a:t>
              </a:r>
            </a:p>
          </p:txBody>
        </p:sp>
        <p:sp>
          <p:nvSpPr>
            <p:cNvPr id="1285200" name="Line 80"/>
            <p:cNvSpPr>
              <a:spLocks noChangeShapeType="1"/>
            </p:cNvSpPr>
            <p:nvPr/>
          </p:nvSpPr>
          <p:spPr bwMode="auto">
            <a:xfrm>
              <a:off x="3192" y="2508"/>
              <a:ext cx="0" cy="9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201" name="Line 81"/>
            <p:cNvSpPr>
              <a:spLocks noChangeShapeType="1"/>
            </p:cNvSpPr>
            <p:nvPr/>
          </p:nvSpPr>
          <p:spPr bwMode="auto">
            <a:xfrm>
              <a:off x="3768" y="2399"/>
              <a:ext cx="0" cy="10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7" name="Group 82"/>
            <p:cNvGrpSpPr>
              <a:grpSpLocks/>
            </p:cNvGrpSpPr>
            <p:nvPr/>
          </p:nvGrpSpPr>
          <p:grpSpPr bwMode="auto">
            <a:xfrm>
              <a:off x="733" y="2013"/>
              <a:ext cx="566" cy="596"/>
              <a:chOff x="733" y="2221"/>
              <a:chExt cx="566" cy="596"/>
            </a:xfrm>
          </p:grpSpPr>
          <p:sp>
            <p:nvSpPr>
              <p:cNvPr id="1285203" name="Rectangle 83"/>
              <p:cNvSpPr>
                <a:spLocks noChangeArrowheads="1"/>
              </p:cNvSpPr>
              <p:nvPr/>
            </p:nvSpPr>
            <p:spPr bwMode="auto">
              <a:xfrm>
                <a:off x="775" y="2223"/>
                <a:ext cx="472" cy="584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04" name="Rectangle 84"/>
              <p:cNvSpPr>
                <a:spLocks noChangeArrowheads="1"/>
              </p:cNvSpPr>
              <p:nvPr/>
            </p:nvSpPr>
            <p:spPr bwMode="auto">
              <a:xfrm>
                <a:off x="734" y="2221"/>
                <a:ext cx="332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addr</a:t>
                </a:r>
              </a:p>
            </p:txBody>
          </p:sp>
          <p:sp>
            <p:nvSpPr>
              <p:cNvPr id="1285205" name="Rectangle 85"/>
              <p:cNvSpPr>
                <a:spLocks noChangeArrowheads="1"/>
              </p:cNvSpPr>
              <p:nvPr/>
            </p:nvSpPr>
            <p:spPr bwMode="auto">
              <a:xfrm>
                <a:off x="992" y="2335"/>
                <a:ext cx="289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inst</a:t>
                </a:r>
              </a:p>
            </p:txBody>
          </p:sp>
          <p:sp>
            <p:nvSpPr>
              <p:cNvPr id="1285206" name="Rectangle 86"/>
              <p:cNvSpPr>
                <a:spLocks noChangeArrowheads="1"/>
              </p:cNvSpPr>
              <p:nvPr/>
            </p:nvSpPr>
            <p:spPr bwMode="auto">
              <a:xfrm>
                <a:off x="733" y="2493"/>
                <a:ext cx="566" cy="32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chemeClr val="tx1"/>
                    </a:solidFill>
                    <a:latin typeface="Verdana" charset="0"/>
                  </a:rPr>
                  <a:t>Inst</a:t>
                </a:r>
              </a:p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chemeClr val="tx1"/>
                    </a:solidFill>
                    <a:latin typeface="Verdana" charset="0"/>
                  </a:rPr>
                  <a:t>Memory</a:t>
                </a:r>
              </a:p>
            </p:txBody>
          </p:sp>
        </p:grpSp>
        <p:grpSp>
          <p:nvGrpSpPr>
            <p:cNvPr id="18" name="Group 87"/>
            <p:cNvGrpSpPr>
              <a:grpSpLocks/>
            </p:cNvGrpSpPr>
            <p:nvPr/>
          </p:nvGrpSpPr>
          <p:grpSpPr bwMode="auto">
            <a:xfrm>
              <a:off x="526" y="1117"/>
              <a:ext cx="601" cy="411"/>
              <a:chOff x="526" y="1325"/>
              <a:chExt cx="601" cy="411"/>
            </a:xfrm>
          </p:grpSpPr>
          <p:sp>
            <p:nvSpPr>
              <p:cNvPr id="1285208" name="Rectangle 88"/>
              <p:cNvSpPr>
                <a:spLocks noChangeArrowheads="1"/>
              </p:cNvSpPr>
              <p:nvPr/>
            </p:nvSpPr>
            <p:spPr bwMode="auto">
              <a:xfrm>
                <a:off x="526" y="1325"/>
                <a:ext cx="293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0x4</a:t>
                </a:r>
              </a:p>
            </p:txBody>
          </p:sp>
          <p:sp>
            <p:nvSpPr>
              <p:cNvPr id="1285209" name="Freeform 89"/>
              <p:cNvSpPr>
                <a:spLocks/>
              </p:cNvSpPr>
              <p:nvPr/>
            </p:nvSpPr>
            <p:spPr bwMode="auto">
              <a:xfrm>
                <a:off x="823" y="1351"/>
                <a:ext cx="241" cy="38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60"/>
                  </a:cxn>
                  <a:cxn ang="0">
                    <a:pos x="48" y="192"/>
                  </a:cxn>
                  <a:cxn ang="0">
                    <a:pos x="0" y="224"/>
                  </a:cxn>
                  <a:cxn ang="0">
                    <a:pos x="0" y="384"/>
                  </a:cxn>
                  <a:cxn ang="0">
                    <a:pos x="240" y="288"/>
                  </a:cxn>
                  <a:cxn ang="0">
                    <a:pos x="240" y="96"/>
                  </a:cxn>
                  <a:cxn ang="0">
                    <a:pos x="0" y="0"/>
                  </a:cxn>
                </a:cxnLst>
                <a:rect l="0" t="0" r="r" b="b"/>
                <a:pathLst>
                  <a:path w="241" h="385">
                    <a:moveTo>
                      <a:pt x="0" y="0"/>
                    </a:moveTo>
                    <a:lnTo>
                      <a:pt x="0" y="160"/>
                    </a:lnTo>
                    <a:lnTo>
                      <a:pt x="48" y="192"/>
                    </a:lnTo>
                    <a:lnTo>
                      <a:pt x="0" y="224"/>
                    </a:lnTo>
                    <a:lnTo>
                      <a:pt x="0" y="384"/>
                    </a:lnTo>
                    <a:lnTo>
                      <a:pt x="240" y="288"/>
                    </a:lnTo>
                    <a:lnTo>
                      <a:pt x="240" y="96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10" name="Line 90"/>
              <p:cNvSpPr>
                <a:spLocks noChangeShapeType="1"/>
              </p:cNvSpPr>
              <p:nvPr/>
            </p:nvSpPr>
            <p:spPr bwMode="auto">
              <a:xfrm>
                <a:off x="779" y="1399"/>
                <a:ext cx="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11" name="Rectangle 91"/>
              <p:cNvSpPr>
                <a:spLocks noChangeArrowheads="1"/>
              </p:cNvSpPr>
              <p:nvPr/>
            </p:nvSpPr>
            <p:spPr bwMode="auto">
              <a:xfrm>
                <a:off x="829" y="1469"/>
                <a:ext cx="268" cy="15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000">
                    <a:solidFill>
                      <a:schemeClr val="tx1"/>
                    </a:solidFill>
                    <a:latin typeface="Verdana" charset="0"/>
                  </a:rPr>
                  <a:t>Add</a:t>
                </a:r>
              </a:p>
            </p:txBody>
          </p:sp>
          <p:sp>
            <p:nvSpPr>
              <p:cNvPr id="1285212" name="Line 92"/>
              <p:cNvSpPr>
                <a:spLocks noChangeShapeType="1"/>
              </p:cNvSpPr>
              <p:nvPr/>
            </p:nvSpPr>
            <p:spPr bwMode="auto">
              <a:xfrm>
                <a:off x="1071" y="1551"/>
                <a:ext cx="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9" name="Group 93"/>
            <p:cNvGrpSpPr>
              <a:grpSpLocks/>
            </p:cNvGrpSpPr>
            <p:nvPr/>
          </p:nvGrpSpPr>
          <p:grpSpPr bwMode="auto">
            <a:xfrm>
              <a:off x="1238" y="2055"/>
              <a:ext cx="221" cy="304"/>
              <a:chOff x="1238" y="2263"/>
              <a:chExt cx="221" cy="304"/>
            </a:xfrm>
          </p:grpSpPr>
          <p:sp>
            <p:nvSpPr>
              <p:cNvPr id="1285214" name="Line 94"/>
              <p:cNvSpPr>
                <a:spLocks noChangeShapeType="1"/>
              </p:cNvSpPr>
              <p:nvPr/>
            </p:nvSpPr>
            <p:spPr bwMode="auto">
              <a:xfrm>
                <a:off x="1256" y="2424"/>
                <a:ext cx="182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15" name="Rectangle 95"/>
              <p:cNvSpPr>
                <a:spLocks noChangeArrowheads="1"/>
              </p:cNvSpPr>
              <p:nvPr/>
            </p:nvSpPr>
            <p:spPr bwMode="auto">
              <a:xfrm>
                <a:off x="1293" y="2263"/>
                <a:ext cx="109" cy="3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16" name="Freeform 96"/>
              <p:cNvSpPr>
                <a:spLocks/>
              </p:cNvSpPr>
              <p:nvPr/>
            </p:nvSpPr>
            <p:spPr bwMode="auto">
              <a:xfrm>
                <a:off x="1326" y="2517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17" name="Rectangle 97"/>
              <p:cNvSpPr>
                <a:spLocks noChangeArrowheads="1"/>
              </p:cNvSpPr>
              <p:nvPr/>
            </p:nvSpPr>
            <p:spPr bwMode="auto">
              <a:xfrm>
                <a:off x="1238" y="2330"/>
                <a:ext cx="221" cy="17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IR</a:t>
                </a:r>
              </a:p>
            </p:txBody>
          </p:sp>
        </p:grpSp>
        <p:sp>
          <p:nvSpPr>
            <p:cNvPr id="1285218" name="Rectangle 98"/>
            <p:cNvSpPr>
              <a:spLocks noChangeArrowheads="1"/>
            </p:cNvSpPr>
            <p:nvPr/>
          </p:nvSpPr>
          <p:spPr bwMode="auto">
            <a:xfrm>
              <a:off x="2265" y="2595"/>
              <a:ext cx="369" cy="21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219" name="Rectangle 99"/>
            <p:cNvSpPr>
              <a:spLocks noChangeArrowheads="1"/>
            </p:cNvSpPr>
            <p:nvPr/>
          </p:nvSpPr>
          <p:spPr bwMode="auto">
            <a:xfrm>
              <a:off x="2253" y="2561"/>
              <a:ext cx="387" cy="27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100" dirty="0" err="1">
                  <a:solidFill>
                    <a:schemeClr val="tx1"/>
                  </a:solidFill>
                  <a:latin typeface="Verdana" charset="0"/>
                </a:rPr>
                <a:t>Imm</a:t>
              </a:r>
              <a:endParaRPr lang="en-US" sz="1100" dirty="0">
                <a:solidFill>
                  <a:schemeClr val="tx1"/>
                </a:solidFill>
                <a:latin typeface="Verdana" charset="0"/>
              </a:endParaRPr>
            </a:p>
            <a:p>
              <a:pPr algn="ctr">
                <a:spcBef>
                  <a:spcPct val="0"/>
                </a:spcBef>
              </a:pPr>
              <a:r>
                <a:rPr lang="en-US" sz="1100" dirty="0">
                  <a:solidFill>
                    <a:schemeClr val="tx1"/>
                  </a:solidFill>
                  <a:latin typeface="Verdana" charset="0"/>
                </a:rPr>
                <a:t>Select</a:t>
              </a:r>
            </a:p>
          </p:txBody>
        </p:sp>
        <p:sp>
          <p:nvSpPr>
            <p:cNvPr id="1285220" name="Freeform 100"/>
            <p:cNvSpPr>
              <a:spLocks/>
            </p:cNvSpPr>
            <p:nvPr/>
          </p:nvSpPr>
          <p:spPr bwMode="auto">
            <a:xfrm>
              <a:off x="3619" y="2055"/>
              <a:ext cx="250" cy="3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50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49" y="288"/>
                </a:cxn>
                <a:cxn ang="0">
                  <a:pos x="249" y="96"/>
                </a:cxn>
                <a:cxn ang="0">
                  <a:pos x="0" y="0"/>
                </a:cxn>
              </a:cxnLst>
              <a:rect l="0" t="0" r="r" b="b"/>
              <a:pathLst>
                <a:path w="250" h="385">
                  <a:moveTo>
                    <a:pt x="0" y="0"/>
                  </a:moveTo>
                  <a:lnTo>
                    <a:pt x="0" y="160"/>
                  </a:lnTo>
                  <a:lnTo>
                    <a:pt x="50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9" y="288"/>
                  </a:lnTo>
                  <a:lnTo>
                    <a:pt x="249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221" name="Rectangle 101"/>
            <p:cNvSpPr>
              <a:spLocks noChangeArrowheads="1"/>
            </p:cNvSpPr>
            <p:nvPr/>
          </p:nvSpPr>
          <p:spPr bwMode="auto">
            <a:xfrm>
              <a:off x="3627" y="2165"/>
              <a:ext cx="27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000">
                  <a:solidFill>
                    <a:schemeClr val="tx1"/>
                  </a:solidFill>
                  <a:latin typeface="Verdana" charset="0"/>
                </a:rPr>
                <a:t>ALU</a:t>
              </a:r>
            </a:p>
          </p:txBody>
        </p:sp>
        <p:sp>
          <p:nvSpPr>
            <p:cNvPr id="1285222" name="Freeform 102"/>
            <p:cNvSpPr>
              <a:spLocks/>
            </p:cNvSpPr>
            <p:nvPr/>
          </p:nvSpPr>
          <p:spPr bwMode="auto">
            <a:xfrm>
              <a:off x="5280" y="2385"/>
              <a:ext cx="145" cy="326"/>
            </a:xfrm>
            <a:custGeom>
              <a:avLst/>
              <a:gdLst/>
              <a:ahLst/>
              <a:cxnLst>
                <a:cxn ang="0">
                  <a:pos x="144" y="41"/>
                </a:cxn>
                <a:cxn ang="0">
                  <a:pos x="144" y="284"/>
                </a:cxn>
                <a:cxn ang="0">
                  <a:pos x="0" y="325"/>
                </a:cxn>
                <a:cxn ang="0">
                  <a:pos x="0" y="0"/>
                </a:cxn>
                <a:cxn ang="0">
                  <a:pos x="144" y="41"/>
                </a:cxn>
              </a:cxnLst>
              <a:rect l="0" t="0" r="r" b="b"/>
              <a:pathLst>
                <a:path w="145" h="326">
                  <a:moveTo>
                    <a:pt x="144" y="41"/>
                  </a:moveTo>
                  <a:lnTo>
                    <a:pt x="144" y="284"/>
                  </a:lnTo>
                  <a:lnTo>
                    <a:pt x="0" y="325"/>
                  </a:lnTo>
                  <a:lnTo>
                    <a:pt x="0" y="0"/>
                  </a:lnTo>
                  <a:lnTo>
                    <a:pt x="144" y="41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223" name="Line 103"/>
            <p:cNvSpPr>
              <a:spLocks noChangeShapeType="1"/>
            </p:cNvSpPr>
            <p:nvPr/>
          </p:nvSpPr>
          <p:spPr bwMode="auto">
            <a:xfrm>
              <a:off x="5347" y="2703"/>
              <a:ext cx="0" cy="10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0" name="Group 104"/>
            <p:cNvGrpSpPr>
              <a:grpSpLocks/>
            </p:cNvGrpSpPr>
            <p:nvPr/>
          </p:nvGrpSpPr>
          <p:grpSpPr bwMode="auto">
            <a:xfrm>
              <a:off x="2224" y="1660"/>
              <a:ext cx="444" cy="817"/>
              <a:chOff x="2224" y="1868"/>
              <a:chExt cx="444" cy="817"/>
            </a:xfrm>
          </p:grpSpPr>
          <p:sp>
            <p:nvSpPr>
              <p:cNvPr id="1285225" name="Line 105"/>
              <p:cNvSpPr>
                <a:spLocks noChangeShapeType="1"/>
              </p:cNvSpPr>
              <p:nvPr/>
            </p:nvSpPr>
            <p:spPr bwMode="auto">
              <a:xfrm>
                <a:off x="2456" y="1868"/>
                <a:ext cx="0" cy="10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26" name="Rectangle 106"/>
              <p:cNvSpPr>
                <a:spLocks noChangeArrowheads="1"/>
              </p:cNvSpPr>
              <p:nvPr/>
            </p:nvSpPr>
            <p:spPr bwMode="auto">
              <a:xfrm>
                <a:off x="2265" y="1987"/>
                <a:ext cx="368" cy="68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27" name="Rectangle 107"/>
              <p:cNvSpPr>
                <a:spLocks noChangeArrowheads="1"/>
              </p:cNvSpPr>
              <p:nvPr/>
            </p:nvSpPr>
            <p:spPr bwMode="auto">
              <a:xfrm>
                <a:off x="2392" y="2237"/>
                <a:ext cx="27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rd1</a:t>
                </a:r>
              </a:p>
            </p:txBody>
          </p:sp>
          <p:sp>
            <p:nvSpPr>
              <p:cNvPr id="1285228" name="Rectangle 108"/>
              <p:cNvSpPr>
                <a:spLocks noChangeArrowheads="1"/>
              </p:cNvSpPr>
              <p:nvPr/>
            </p:nvSpPr>
            <p:spPr bwMode="auto">
              <a:xfrm>
                <a:off x="2249" y="2495"/>
                <a:ext cx="405" cy="19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400">
                    <a:solidFill>
                      <a:schemeClr val="tx1"/>
                    </a:solidFill>
                    <a:latin typeface="Verdana" charset="0"/>
                  </a:rPr>
                  <a:t>GPRs</a:t>
                </a:r>
              </a:p>
            </p:txBody>
          </p:sp>
          <p:sp>
            <p:nvSpPr>
              <p:cNvPr id="1285229" name="Rectangle 109"/>
              <p:cNvSpPr>
                <a:spLocks noChangeArrowheads="1"/>
              </p:cNvSpPr>
              <p:nvPr/>
            </p:nvSpPr>
            <p:spPr bwMode="auto">
              <a:xfrm>
                <a:off x="2224" y="2041"/>
                <a:ext cx="26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rs1</a:t>
                </a:r>
              </a:p>
            </p:txBody>
          </p:sp>
          <p:sp>
            <p:nvSpPr>
              <p:cNvPr id="1285230" name="Rectangle 110"/>
              <p:cNvSpPr>
                <a:spLocks noChangeArrowheads="1"/>
              </p:cNvSpPr>
              <p:nvPr/>
            </p:nvSpPr>
            <p:spPr bwMode="auto">
              <a:xfrm>
                <a:off x="2224" y="2137"/>
                <a:ext cx="26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rs2</a:t>
                </a:r>
              </a:p>
            </p:txBody>
          </p:sp>
          <p:sp>
            <p:nvSpPr>
              <p:cNvPr id="1285231" name="Rectangle 111"/>
              <p:cNvSpPr>
                <a:spLocks noChangeArrowheads="1"/>
              </p:cNvSpPr>
              <p:nvPr/>
            </p:nvSpPr>
            <p:spPr bwMode="auto">
              <a:xfrm>
                <a:off x="2224" y="2321"/>
                <a:ext cx="252" cy="173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 dirty="0" err="1">
                    <a:solidFill>
                      <a:schemeClr val="tx1"/>
                    </a:solidFill>
                    <a:latin typeface="Verdana" charset="0"/>
                  </a:rPr>
                  <a:t>wa</a:t>
                </a:r>
                <a:endParaRPr lang="en-US" sz="1200" dirty="0">
                  <a:solidFill>
                    <a:schemeClr val="tx1"/>
                  </a:solidFill>
                  <a:latin typeface="Verdana" charset="0"/>
                </a:endParaRPr>
              </a:p>
            </p:txBody>
          </p:sp>
          <p:sp>
            <p:nvSpPr>
              <p:cNvPr id="1285232" name="Rectangle 112"/>
              <p:cNvSpPr>
                <a:spLocks noChangeArrowheads="1"/>
              </p:cNvSpPr>
              <p:nvPr/>
            </p:nvSpPr>
            <p:spPr bwMode="auto">
              <a:xfrm>
                <a:off x="2224" y="2415"/>
                <a:ext cx="252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wd</a:t>
                </a:r>
              </a:p>
            </p:txBody>
          </p:sp>
          <p:sp>
            <p:nvSpPr>
              <p:cNvPr id="1285233" name="Rectangle 113"/>
              <p:cNvSpPr>
                <a:spLocks noChangeArrowheads="1"/>
              </p:cNvSpPr>
              <p:nvPr/>
            </p:nvSpPr>
            <p:spPr bwMode="auto">
              <a:xfrm>
                <a:off x="2387" y="2416"/>
                <a:ext cx="27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rd2</a:t>
                </a:r>
              </a:p>
            </p:txBody>
          </p:sp>
          <p:sp>
            <p:nvSpPr>
              <p:cNvPr id="1285234" name="Rectangle 114"/>
              <p:cNvSpPr>
                <a:spLocks noChangeArrowheads="1"/>
              </p:cNvSpPr>
              <p:nvPr/>
            </p:nvSpPr>
            <p:spPr bwMode="auto">
              <a:xfrm>
                <a:off x="2360" y="1937"/>
                <a:ext cx="250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we</a:t>
                </a:r>
              </a:p>
            </p:txBody>
          </p:sp>
          <p:sp>
            <p:nvSpPr>
              <p:cNvPr id="1285235" name="Freeform 115"/>
              <p:cNvSpPr>
                <a:spLocks/>
              </p:cNvSpPr>
              <p:nvPr/>
            </p:nvSpPr>
            <p:spPr bwMode="auto">
              <a:xfrm flipV="1">
                <a:off x="2295" y="1989"/>
                <a:ext cx="54" cy="47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116"/>
            <p:cNvGrpSpPr>
              <a:grpSpLocks/>
            </p:cNvGrpSpPr>
            <p:nvPr/>
          </p:nvGrpSpPr>
          <p:grpSpPr bwMode="auto">
            <a:xfrm>
              <a:off x="4391" y="1980"/>
              <a:ext cx="586" cy="868"/>
              <a:chOff x="4391" y="2188"/>
              <a:chExt cx="586" cy="868"/>
            </a:xfrm>
          </p:grpSpPr>
          <p:sp>
            <p:nvSpPr>
              <p:cNvPr id="1285237" name="Rectangle 117"/>
              <p:cNvSpPr>
                <a:spLocks noChangeArrowheads="1"/>
              </p:cNvSpPr>
              <p:nvPr/>
            </p:nvSpPr>
            <p:spPr bwMode="auto">
              <a:xfrm>
                <a:off x="4391" y="2865"/>
                <a:ext cx="333" cy="14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900">
                    <a:solidFill>
                      <a:schemeClr val="tx1"/>
                    </a:solidFill>
                    <a:latin typeface="Verdana" charset="0"/>
                  </a:rPr>
                  <a:t>wdata</a:t>
                </a:r>
              </a:p>
            </p:txBody>
          </p:sp>
          <p:sp>
            <p:nvSpPr>
              <p:cNvPr id="1285238" name="Line 118"/>
              <p:cNvSpPr>
                <a:spLocks noChangeShapeType="1"/>
              </p:cNvSpPr>
              <p:nvPr/>
            </p:nvSpPr>
            <p:spPr bwMode="auto">
              <a:xfrm>
                <a:off x="4608" y="2188"/>
                <a:ext cx="0" cy="10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39" name="Rectangle 119"/>
              <p:cNvSpPr>
                <a:spLocks noChangeArrowheads="1"/>
              </p:cNvSpPr>
              <p:nvPr/>
            </p:nvSpPr>
            <p:spPr bwMode="auto">
              <a:xfrm>
                <a:off x="4432" y="2304"/>
                <a:ext cx="488" cy="752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5240" name="Rectangle 120"/>
              <p:cNvSpPr>
                <a:spLocks noChangeArrowheads="1"/>
              </p:cNvSpPr>
              <p:nvPr/>
            </p:nvSpPr>
            <p:spPr bwMode="auto">
              <a:xfrm>
                <a:off x="4399" y="2350"/>
                <a:ext cx="332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addr</a:t>
                </a:r>
              </a:p>
            </p:txBody>
          </p:sp>
          <p:sp>
            <p:nvSpPr>
              <p:cNvPr id="1285241" name="Rectangle 121"/>
              <p:cNvSpPr>
                <a:spLocks noChangeArrowheads="1"/>
              </p:cNvSpPr>
              <p:nvPr/>
            </p:nvSpPr>
            <p:spPr bwMode="auto">
              <a:xfrm>
                <a:off x="4391" y="2879"/>
                <a:ext cx="406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wdata</a:t>
                </a:r>
              </a:p>
            </p:txBody>
          </p:sp>
          <p:sp>
            <p:nvSpPr>
              <p:cNvPr id="1285242" name="Rectangle 122"/>
              <p:cNvSpPr>
                <a:spLocks noChangeArrowheads="1"/>
              </p:cNvSpPr>
              <p:nvPr/>
            </p:nvSpPr>
            <p:spPr bwMode="auto">
              <a:xfrm>
                <a:off x="4586" y="2548"/>
                <a:ext cx="368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rdata</a:t>
                </a:r>
              </a:p>
            </p:txBody>
          </p:sp>
          <p:sp>
            <p:nvSpPr>
              <p:cNvPr id="1285243" name="Rectangle 123"/>
              <p:cNvSpPr>
                <a:spLocks noChangeArrowheads="1"/>
              </p:cNvSpPr>
              <p:nvPr/>
            </p:nvSpPr>
            <p:spPr bwMode="auto">
              <a:xfrm>
                <a:off x="4411" y="2648"/>
                <a:ext cx="566" cy="284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sz="1400">
                    <a:solidFill>
                      <a:schemeClr val="tx1"/>
                    </a:solidFill>
                    <a:latin typeface="Verdana" charset="0"/>
                  </a:rPr>
                  <a:t>Data </a:t>
                </a:r>
              </a:p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sz="1400">
                    <a:solidFill>
                      <a:schemeClr val="tx1"/>
                    </a:solidFill>
                    <a:latin typeface="Verdana" charset="0"/>
                  </a:rPr>
                  <a:t>Memory</a:t>
                </a:r>
              </a:p>
            </p:txBody>
          </p:sp>
          <p:sp>
            <p:nvSpPr>
              <p:cNvPr id="1285244" name="Rectangle 124"/>
              <p:cNvSpPr>
                <a:spLocks noChangeArrowheads="1"/>
              </p:cNvSpPr>
              <p:nvPr/>
            </p:nvSpPr>
            <p:spPr bwMode="auto">
              <a:xfrm>
                <a:off x="4527" y="2254"/>
                <a:ext cx="250" cy="17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>
                  <a:spcBef>
                    <a:spcPct val="0"/>
                  </a:spcBef>
                </a:pPr>
                <a:r>
                  <a:rPr lang="en-US" sz="1200">
                    <a:solidFill>
                      <a:schemeClr val="tx1"/>
                    </a:solidFill>
                    <a:latin typeface="Verdana" charset="0"/>
                  </a:rPr>
                  <a:t>we</a:t>
                </a:r>
              </a:p>
            </p:txBody>
          </p:sp>
          <p:sp>
            <p:nvSpPr>
              <p:cNvPr id="1285245" name="Freeform 125"/>
              <p:cNvSpPr>
                <a:spLocks/>
              </p:cNvSpPr>
              <p:nvPr/>
            </p:nvSpPr>
            <p:spPr bwMode="auto">
              <a:xfrm flipV="1">
                <a:off x="4468" y="2313"/>
                <a:ext cx="43" cy="44"/>
              </a:xfrm>
              <a:custGeom>
                <a:avLst/>
                <a:gdLst/>
                <a:ahLst/>
                <a:cxnLst>
                  <a:cxn ang="0">
                    <a:pos x="0" y="43"/>
                  </a:cxn>
                  <a:cxn ang="0">
                    <a:pos x="21" y="0"/>
                  </a:cxn>
                  <a:cxn ang="0">
                    <a:pos x="42" y="43"/>
                  </a:cxn>
                </a:cxnLst>
                <a:rect l="0" t="0" r="r" b="b"/>
                <a:pathLst>
                  <a:path w="43" h="44">
                    <a:moveTo>
                      <a:pt x="0" y="43"/>
                    </a:moveTo>
                    <a:lnTo>
                      <a:pt x="21" y="0"/>
                    </a:lnTo>
                    <a:lnTo>
                      <a:pt x="42" y="43"/>
                    </a:lnTo>
                  </a:path>
                </a:pathLst>
              </a:custGeom>
              <a:noFill/>
              <a:ln w="9525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285246" name="Rectangle 126"/>
          <p:cNvSpPr>
            <a:spLocks noChangeArrowheads="1"/>
          </p:cNvSpPr>
          <p:nvPr/>
        </p:nvSpPr>
        <p:spPr bwMode="auto">
          <a:xfrm>
            <a:off x="887413" y="5175250"/>
            <a:ext cx="6262687" cy="1003300"/>
          </a:xfrm>
          <a:prstGeom prst="rect">
            <a:avLst/>
          </a:prstGeom>
          <a:noFill/>
          <a:ln w="1270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>
                <a:solidFill>
                  <a:srgbClr val="56127A"/>
                </a:solidFill>
                <a:latin typeface="Verdana" charset="0"/>
              </a:rPr>
              <a:t>Not quite correct!</a:t>
            </a:r>
          </a:p>
          <a:p>
            <a:pPr>
              <a:spcBef>
                <a:spcPct val="0"/>
              </a:spcBef>
            </a:pPr>
            <a:endParaRPr lang="en-US" sz="2000" i="1">
              <a:solidFill>
                <a:srgbClr val="56127A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000" i="1">
                <a:solidFill>
                  <a:srgbClr val="56127A"/>
                </a:solidFill>
                <a:latin typeface="Verdana" charset="0"/>
              </a:rPr>
              <a:t>We need an Instruction Reg (IR) for each stage</a:t>
            </a:r>
          </a:p>
        </p:txBody>
      </p:sp>
      <p:sp>
        <p:nvSpPr>
          <p:cNvPr id="128" name="Line 31"/>
          <p:cNvSpPr>
            <a:spLocks noChangeShapeType="1"/>
          </p:cNvSpPr>
          <p:nvPr/>
        </p:nvSpPr>
        <p:spPr bwMode="auto">
          <a:xfrm flipH="1">
            <a:off x="7874520" y="2536200"/>
            <a:ext cx="457200" cy="0"/>
          </a:xfrm>
          <a:prstGeom prst="line">
            <a:avLst/>
          </a:prstGeom>
          <a:noFill/>
          <a:ln w="12700" cmpd="sng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5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5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FBDC8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5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852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FBDC8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128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5123" grpId="0" animBg="1"/>
      <p:bldP spid="1285246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846D9DE-7898-5446-96F2-6EBBDBECB871}" type="slidenum">
              <a:rPr lang="en-US"/>
              <a:pPr/>
              <a:t>57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34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These slides contain material developed and copyright by:</a:t>
            </a:r>
          </a:p>
          <a:p>
            <a:pPr lvl="1"/>
            <a:r>
              <a:rPr lang="en-US"/>
              <a:t>Arvind (MIT)</a:t>
            </a:r>
          </a:p>
          <a:p>
            <a:pPr lvl="1"/>
            <a:r>
              <a:rPr lang="en-US"/>
              <a:t>Krste Asanovic (MIT/UCB)</a:t>
            </a:r>
          </a:p>
          <a:p>
            <a:pPr lvl="1"/>
            <a:r>
              <a:rPr lang="en-US"/>
              <a:t>Joel Emer (Intel/MIT)</a:t>
            </a:r>
          </a:p>
          <a:p>
            <a:pPr lvl="1"/>
            <a:r>
              <a:rPr lang="en-US"/>
              <a:t>James Hoe (CMU)</a:t>
            </a:r>
          </a:p>
          <a:p>
            <a:pPr lvl="1"/>
            <a:r>
              <a:rPr lang="en-US"/>
              <a:t>John Kubiatowicz (UCB)</a:t>
            </a:r>
          </a:p>
          <a:p>
            <a:pPr lvl="1"/>
            <a:r>
              <a:rPr lang="en-US"/>
              <a:t>David Patterson (UCB)</a:t>
            </a:r>
          </a:p>
          <a:p>
            <a:pPr lvl="1"/>
            <a:endParaRPr lang="en-US"/>
          </a:p>
          <a:p>
            <a:r>
              <a:rPr lang="en-US"/>
              <a:t>MIT material derived from course 6.823</a:t>
            </a:r>
          </a:p>
          <a:p>
            <a:r>
              <a:rPr lang="en-US"/>
              <a:t>UCB material derived from course CS252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252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CS252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3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hlink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rgbClr val="000000"/>
            </a:solidFill>
          </a:defRPr>
        </a:defPPr>
      </a:lstStyle>
    </a:txDef>
  </a:objectDefaults>
  <a:extraClrSchemeLst>
    <a:extraClrScheme>
      <a:clrScheme name="CS252-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52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252-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52-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52-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52-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252-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CS252-template</Template>
  <TotalTime>3503</TotalTime>
  <Pages>12</Pages>
  <Words>3680</Words>
  <Application>Microsoft Office PowerPoint</Application>
  <PresentationFormat>Letter Paper (8.5x11 in)</PresentationFormat>
  <Paragraphs>1242</Paragraphs>
  <Slides>57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70" baseType="lpstr">
      <vt:lpstr>Arial</vt:lpstr>
      <vt:lpstr>Calibri</vt:lpstr>
      <vt:lpstr>Courier</vt:lpstr>
      <vt:lpstr>Courier New</vt:lpstr>
      <vt:lpstr>Symbol</vt:lpstr>
      <vt:lpstr>Times</vt:lpstr>
      <vt:lpstr>Times New Roman</vt:lpstr>
      <vt:lpstr>Verdana</vt:lpstr>
      <vt:lpstr>Wingdings</vt:lpstr>
      <vt:lpstr>CS252-template</vt:lpstr>
      <vt:lpstr>Office Theme</vt:lpstr>
      <vt:lpstr>Bitmap Image</vt:lpstr>
      <vt:lpstr>Chart</vt:lpstr>
      <vt:lpstr>Advanced Computer Architecture   Lecture 1 – Introduction,  A simple RISC processor </vt:lpstr>
      <vt:lpstr>What is Computer Architecture?</vt:lpstr>
      <vt:lpstr>Abstraction Layers in Modern Systems</vt:lpstr>
      <vt:lpstr>Architecture continually changing</vt:lpstr>
      <vt:lpstr>Computing Devices Then…</vt:lpstr>
      <vt:lpstr>Computing Devices Now</vt:lpstr>
      <vt:lpstr>Moore’s Law</vt:lpstr>
      <vt:lpstr>Uniprocessor Performance</vt:lpstr>
      <vt:lpstr>Limiting Force: Power Density</vt:lpstr>
      <vt:lpstr>PowerPoint Presentation</vt:lpstr>
      <vt:lpstr>Single-Thread Processor Performance</vt:lpstr>
      <vt:lpstr>Upheaval in Computer Design</vt:lpstr>
      <vt:lpstr>Today’s Dominant Target Systems</vt:lpstr>
      <vt:lpstr>A Simple RISC Processor Basic Building Blocks  </vt:lpstr>
      <vt:lpstr>Hardware Elements</vt:lpstr>
      <vt:lpstr>Register Files</vt:lpstr>
      <vt:lpstr>Register File Implementation</vt:lpstr>
      <vt:lpstr>A Simple Memory Model</vt:lpstr>
      <vt:lpstr>Administrivia</vt:lpstr>
      <vt:lpstr>CS152 Structure and Syllabus</vt:lpstr>
      <vt:lpstr>Instruction Set Architecture (ISA) </vt:lpstr>
      <vt:lpstr>RISC-V ISA</vt:lpstr>
      <vt:lpstr>RV32 Processor State</vt:lpstr>
      <vt:lpstr>RISC-V Instruction Formats</vt:lpstr>
      <vt:lpstr>R-Type/I-Type/R4-Type Formats</vt:lpstr>
      <vt:lpstr>B-Type</vt:lpstr>
      <vt:lpstr>L-Type</vt:lpstr>
      <vt:lpstr>J-Type</vt:lpstr>
      <vt:lpstr>Implementing RISC-V:  Single-cycle per instruction datapath &amp; control logic </vt:lpstr>
      <vt:lpstr>Instruction Execution</vt:lpstr>
      <vt:lpstr>Datapath: Reg-Reg ALU Instructions</vt:lpstr>
      <vt:lpstr>Datapath: Reg-Imm ALU Instructions</vt:lpstr>
      <vt:lpstr>Conflicts in Merging Datapath</vt:lpstr>
      <vt:lpstr>Datapath for ALU Instructions</vt:lpstr>
      <vt:lpstr>Load/Store Instructions</vt:lpstr>
      <vt:lpstr>RISC-V Conditional Branches</vt:lpstr>
      <vt:lpstr>Conditional Branches (BEQ/BNE/BLT/BGE/BLTU/BGEU)</vt:lpstr>
      <vt:lpstr>RISC-V Unconditional Jumps</vt:lpstr>
      <vt:lpstr>RISC-V Register Indirect Jumps</vt:lpstr>
      <vt:lpstr>Full RISCV1Stage Datapath (Lab1)</vt:lpstr>
      <vt:lpstr>Hardwired Control is pure Combinational Logic </vt:lpstr>
      <vt:lpstr>ALU Control &amp; Immediate Extension</vt:lpstr>
      <vt:lpstr>Hardwired Control Table</vt:lpstr>
      <vt:lpstr>Single-Cycle Hardwired Control: Harvard architecture</vt:lpstr>
      <vt:lpstr>Increasing Processor Clock Speed  Pipeling RISC-V</vt:lpstr>
      <vt:lpstr>An Ideal Pipeline </vt:lpstr>
      <vt:lpstr>Pipelined RISC-V</vt:lpstr>
      <vt:lpstr>Unpipelined Datapath for RISC-V</vt:lpstr>
      <vt:lpstr>Hardwired Control Table</vt:lpstr>
      <vt:lpstr>Pipelined Datapath</vt:lpstr>
      <vt:lpstr>“Iron Law” of Processor Performance</vt:lpstr>
      <vt:lpstr>CPI Examples</vt:lpstr>
      <vt:lpstr>Technology Assumptions</vt:lpstr>
      <vt:lpstr>5-Stage Pipelined Execution</vt:lpstr>
      <vt:lpstr>5-Stage Pipelined Execution Resource Usage Diagram</vt:lpstr>
      <vt:lpstr>Pipelined Execution: ALU Instructions</vt:lpstr>
      <vt:lpstr>Acknowledgements</vt:lpstr>
    </vt:vector>
  </TitlesOfParts>
  <Company>UC Berkeley-EECS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EECS 152  Computer Architecture  and Engineering  Lec 01 - Introduction</dc:title>
  <dc:creator>Krste Asanovic</dc:creator>
  <cp:lastModifiedBy>Yasir Javed</cp:lastModifiedBy>
  <cp:revision>332</cp:revision>
  <cp:lastPrinted>2011-01-19T02:02:47Z</cp:lastPrinted>
  <dcterms:created xsi:type="dcterms:W3CDTF">2012-01-23T14:09:05Z</dcterms:created>
  <dcterms:modified xsi:type="dcterms:W3CDTF">2020-07-03T12:00:44Z</dcterms:modified>
</cp:coreProperties>
</file>